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6" r:id="rId2"/>
    <p:sldId id="282" r:id="rId3"/>
    <p:sldId id="283" r:id="rId4"/>
    <p:sldId id="285" r:id="rId5"/>
    <p:sldId id="287" r:id="rId6"/>
    <p:sldId id="28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E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62"/>
    <p:restoredTop sz="87598"/>
  </p:normalViewPr>
  <p:slideViewPr>
    <p:cSldViewPr snapToGrid="0">
      <p:cViewPr>
        <p:scale>
          <a:sx n="146" d="100"/>
          <a:sy n="146" d="100"/>
        </p:scale>
        <p:origin x="296" y="-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55A31-692D-BB4D-BD29-064E07ABF048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7FF02-2E3D-6B49-89A4-562E5C3A3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80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7FF02-2E3D-6B49-89A4-562E5C3A31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11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E4B5C-9746-66D0-3840-E8766482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BE9E6-66B8-6051-509C-2ADC9E465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87C16-E5ED-CD28-6EBA-C13D14B0E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1001A-0877-7FEC-FFB5-30DC4A2C0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7FF02-2E3D-6B49-89A4-562E5C3A31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86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Landwirt </a:t>
            </a:r>
            <a:r>
              <a:rPr lang="en-US" dirty="0" err="1"/>
              <a:t>bekommt</a:t>
            </a:r>
            <a:r>
              <a:rPr lang="en-US" dirty="0"/>
              <a:t> </a:t>
            </a:r>
            <a:r>
              <a:rPr lang="en-US" dirty="0" err="1"/>
              <a:t>höheren</a:t>
            </a:r>
            <a:r>
              <a:rPr lang="en-US" dirty="0"/>
              <a:t> </a:t>
            </a:r>
            <a:r>
              <a:rPr lang="en-US" dirty="0" err="1"/>
              <a:t>Absatz</a:t>
            </a:r>
            <a:endParaRPr lang="en-US" dirty="0"/>
          </a:p>
          <a:p>
            <a:r>
              <a:rPr lang="en-US" dirty="0"/>
              <a:t>Kunde </a:t>
            </a:r>
            <a:r>
              <a:rPr lang="en-US" dirty="0" err="1"/>
              <a:t>bekommt</a:t>
            </a:r>
            <a:r>
              <a:rPr lang="en-US" dirty="0"/>
              <a:t> seine </a:t>
            </a:r>
            <a:r>
              <a:rPr lang="en-US" dirty="0" err="1"/>
              <a:t>Frischen</a:t>
            </a:r>
            <a:r>
              <a:rPr lang="en-US" dirty="0"/>
              <a:t> </a:t>
            </a:r>
            <a:r>
              <a:rPr lang="en-US" dirty="0" err="1"/>
              <a:t>Produkte</a:t>
            </a:r>
            <a:endParaRPr lang="en-US" dirty="0"/>
          </a:p>
          <a:p>
            <a:r>
              <a:rPr lang="en-US" dirty="0"/>
              <a:t>Wir </a:t>
            </a:r>
            <a:r>
              <a:rPr lang="en-US" dirty="0" err="1"/>
              <a:t>schauen</a:t>
            </a:r>
            <a:r>
              <a:rPr lang="en-US" dirty="0"/>
              <a:t> auf die Umwelt – </a:t>
            </a:r>
            <a:r>
              <a:rPr lang="en-US" dirty="0" err="1"/>
              <a:t>wir</a:t>
            </a:r>
            <a:r>
              <a:rPr lang="en-US" dirty="0"/>
              <a:t> Fahren nicht </a:t>
            </a:r>
            <a:r>
              <a:rPr lang="en-US" dirty="0" err="1"/>
              <a:t>jeder</a:t>
            </a:r>
            <a:r>
              <a:rPr lang="en-US" dirty="0"/>
              <a:t> Kunde Selbst + Weniger Essen </a:t>
            </a:r>
            <a:r>
              <a:rPr lang="en-US" dirty="0" err="1"/>
              <a:t>wegschmeißen</a:t>
            </a:r>
            <a:endParaRPr lang="en-US" dirty="0"/>
          </a:p>
          <a:p>
            <a:r>
              <a:rPr lang="en-US" dirty="0"/>
              <a:t>Regionale </a:t>
            </a:r>
            <a:r>
              <a:rPr lang="en-US" dirty="0" err="1"/>
              <a:t>Stärke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aufgebaut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7FF02-2E3D-6B49-89A4-562E5C3A31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6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7356-B277-9837-1391-AAAFD89CA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B87CC-8AD9-E8BC-B26F-3494872BE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0105-0332-B6FD-54BF-7BC90E3C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39B62-8AAC-FF06-E8F0-7F40A77E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74DAD-089E-0205-A9BC-12EB7235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638AE-87E5-01DD-F93E-F2AA2708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C1D0A-AC44-6FBC-6DA7-E4DA18BF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E140D-B058-1239-DE10-DC709FD5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BDD54-3A87-B884-6909-02D91CFA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EE009-1BC7-681C-D9B3-D8229E6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0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9D0D-C81A-6698-6F96-70DEB009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D34EB-7144-F85E-7416-C5536EC68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61DE6-1A47-8AF0-31D2-CB7AAD9E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43DC5-EE7C-3BFF-A7FD-95F76CE4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63296-702F-590A-2E57-9C0740C6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6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93BC-21FB-8D66-BFD9-862CCCCB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F99C5-72AE-CA82-7E88-06CDD0220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4A06A-C0F0-D448-7435-F8E3C287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605AE-D397-F015-1870-333262E6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46864-60DD-DA3D-AB04-F0F4C6E8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55091-7379-417F-ED04-60976C3F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395A-5E17-6EDF-C318-810007C8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75CF7-FEBF-31E4-3985-DE1ABBEA8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4891C-B7A2-DC13-F98E-0027D06A9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1CB18-E86F-F49F-C52F-CE9961420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7AF6DA-E11D-9449-4A3B-E71B55A6D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32D8D-2A31-8572-9EAB-ADC2B8E4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3D82B-E775-01FD-D33D-595C71B2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A50AC-D34D-EE95-768E-517B9C37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6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BBFB-E95D-5DF1-F652-59A5CBE8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E6A57E-97CA-A083-E045-D6985F63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367DD-C665-4070-DEB9-84C9E1B5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6DB9A-9D94-B77B-DC67-5A2BF9EB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4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494FC-CBC3-300A-DC82-E02F1F63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9C757C-3680-4E35-19A0-02AAB33F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25343-E6EF-5880-1395-EF3B334F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6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0C10-F7B3-31F3-D143-A3BB32D3C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FB31-0019-CAA1-B3BD-6B2E297AF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33DA6-1B7F-8FA1-02BD-9A10F4B0F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A0DF6-4FA5-EF2B-89FA-15C8136E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07C1B-336C-26A4-3CED-23C14EA4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19B97-652A-DFAA-3613-800C5467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CD89-F7E5-870C-CD00-EC4BE9FAC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19322-D041-CC8B-B5E5-5F3F09812D4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6D0F4-7DCC-3506-E326-0F0AF9C9A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F8B8E-C794-E385-0A86-B67FBE87F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0C758-99AB-0F91-28FE-6C7FAEFE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7DCD3-F893-CE5D-12E5-02C0A66B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3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A1FD-0E46-8958-796B-AF0403C3A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E42C9-CD22-6DE8-B0F1-9110BE6A5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46531-F7A5-DA60-FA94-CA7EB6EF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04B3F-C396-E8C4-BBDA-172770A4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5E4B1-EB9F-14F7-EF2B-8E4D8A6C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8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27E44-9C74-2496-F738-8C5C1DF79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42D5D-0DE6-B49C-270A-F77F9F158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13C03-848C-D1FC-1C5F-5700B370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1CF34-CA93-804A-0B22-C61E0FBE0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D38BB-CB78-FFDF-4DE7-515BC7EF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6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67148-A280-4E0A-FDEC-82BB51EC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CAF55-C71D-2BD7-53A2-2508D163B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B4E89-5692-EC5B-F849-37147DC59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FF5EA-9209-A849-9B39-A89B108ABD9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9DB5-BE98-9289-4121-7FA625B3E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BFCA8-7E88-2161-A0C9-2A840C187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98EBC-3DBB-A346-AAB0-F1BA6E224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8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5157D9-9ABD-F52F-4354-A3EAAFBF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74B26-F09A-BC9D-C557-FD525741A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998" y="1619515"/>
            <a:ext cx="1748013" cy="1311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7DAC03-1ECE-382C-16C2-E3253C983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543" y="2398452"/>
            <a:ext cx="1748013" cy="1311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4BD132-C666-978B-97B9-85FE3B2F4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351195"/>
            <a:ext cx="2105772" cy="15793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290748-6B0C-FF5A-B545-F975219C8E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0054" y="1375497"/>
            <a:ext cx="1520015" cy="11400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D2A69B-0251-0B3F-B236-EFCFF5782E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14" t="47526" r="67415" b="39030"/>
          <a:stretch>
            <a:fillRect/>
          </a:stretch>
        </p:blipFill>
        <p:spPr>
          <a:xfrm>
            <a:off x="6103027" y="5538889"/>
            <a:ext cx="1108609" cy="592431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E09E05-320E-EF7A-9AF4-0E4431788C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14" t="47526" r="67415" b="39030"/>
          <a:stretch>
            <a:fillRect/>
          </a:stretch>
        </p:blipFill>
        <p:spPr>
          <a:xfrm>
            <a:off x="6202436" y="5397221"/>
            <a:ext cx="1108609" cy="592431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BF606E-592A-9525-BC0D-B5345B95727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357773" y="2672105"/>
            <a:ext cx="1024295" cy="83003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76B9E02-D474-02EA-2BB8-E8ED12C6BD06}"/>
              </a:ext>
            </a:extLst>
          </p:cNvPr>
          <p:cNvGrpSpPr/>
          <p:nvPr/>
        </p:nvGrpSpPr>
        <p:grpSpPr>
          <a:xfrm>
            <a:off x="10742764" y="3345540"/>
            <a:ext cx="1108609" cy="1054883"/>
            <a:chOff x="10734812" y="2795962"/>
            <a:chExt cx="1108609" cy="105488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EED2DB1-3269-A159-3FEB-FE1E56918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>
              <a:off x="10734812" y="3258414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8CD38AB-6118-2944-D880-89C9FC6A0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77182" y="2795962"/>
              <a:ext cx="796464" cy="796464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7DC93F-FBC3-0FE6-ADAA-58D2B6E85103}"/>
              </a:ext>
            </a:extLst>
          </p:cNvPr>
          <p:cNvGrpSpPr/>
          <p:nvPr/>
        </p:nvGrpSpPr>
        <p:grpSpPr>
          <a:xfrm>
            <a:off x="9542571" y="1875641"/>
            <a:ext cx="1108609" cy="1054883"/>
            <a:chOff x="10734812" y="2795962"/>
            <a:chExt cx="1108609" cy="105488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429A283-4E25-120C-0DC5-8912AC4CB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>
              <a:off x="10734812" y="3258414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4486571-E749-8AF0-5BF3-48A7FFDB2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77182" y="2795962"/>
              <a:ext cx="796464" cy="79646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A9733F-8A7D-2EB2-A6AA-BD6D69577829}"/>
              </a:ext>
            </a:extLst>
          </p:cNvPr>
          <p:cNvGrpSpPr/>
          <p:nvPr/>
        </p:nvGrpSpPr>
        <p:grpSpPr>
          <a:xfrm>
            <a:off x="2092937" y="483262"/>
            <a:ext cx="1108609" cy="1024879"/>
            <a:chOff x="2092937" y="563254"/>
            <a:chExt cx="1108609" cy="102487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769AAF4-57CB-EA24-5A5F-08C1517FA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>
              <a:off x="2092937" y="995702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456C161-4FEB-C88A-83DD-1E62672DA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04837" y="563254"/>
              <a:ext cx="789302" cy="789302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36CFE8-2E52-C8E9-3081-A1917AA831A6}"/>
              </a:ext>
            </a:extLst>
          </p:cNvPr>
          <p:cNvGrpSpPr/>
          <p:nvPr/>
        </p:nvGrpSpPr>
        <p:grpSpPr>
          <a:xfrm>
            <a:off x="5909829" y="1244926"/>
            <a:ext cx="1108609" cy="1113119"/>
            <a:chOff x="6002770" y="362067"/>
            <a:chExt cx="1108609" cy="1113119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49C5D91-D714-841E-197E-92D8AAB22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 flipH="1">
              <a:off x="6002770" y="882755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79FE8ED-259B-6399-DA9A-A9BAB6983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49835" y="362067"/>
              <a:ext cx="789302" cy="78930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69E3404-6FB3-4015-353F-4FFE1C329980}"/>
              </a:ext>
            </a:extLst>
          </p:cNvPr>
          <p:cNvGrpSpPr/>
          <p:nvPr/>
        </p:nvGrpSpPr>
        <p:grpSpPr>
          <a:xfrm>
            <a:off x="6689746" y="1192536"/>
            <a:ext cx="1108609" cy="1146156"/>
            <a:chOff x="7756197" y="126408"/>
            <a:chExt cx="1108609" cy="114615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7405FB7-4E4B-3EC5-A219-8E1BEA4E0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>
              <a:off x="7756197" y="680133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EB91FD4-438E-A210-8E06-AE1D3A237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828439" y="126408"/>
              <a:ext cx="789302" cy="789302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FA873C-BAEA-D5A6-7DC1-DDE61B50D366}"/>
              </a:ext>
            </a:extLst>
          </p:cNvPr>
          <p:cNvGrpSpPr/>
          <p:nvPr/>
        </p:nvGrpSpPr>
        <p:grpSpPr>
          <a:xfrm>
            <a:off x="4715756" y="2063565"/>
            <a:ext cx="1108609" cy="903885"/>
            <a:chOff x="3675698" y="2525115"/>
            <a:chExt cx="1108609" cy="903885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2D40E6A-B501-022C-0C94-7CB99F88A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 flipH="1">
              <a:off x="3675698" y="2836569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5152E23-8412-32FC-D5BE-A4B87D8BD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26084" y="2525115"/>
              <a:ext cx="737099" cy="552824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8E1F2CB-E277-563D-98EE-576415E0544E}"/>
              </a:ext>
            </a:extLst>
          </p:cNvPr>
          <p:cNvGrpSpPr/>
          <p:nvPr/>
        </p:nvGrpSpPr>
        <p:grpSpPr>
          <a:xfrm>
            <a:off x="2216186" y="2637609"/>
            <a:ext cx="1108609" cy="1078530"/>
            <a:chOff x="3343918" y="3025677"/>
            <a:chExt cx="1108609" cy="1078530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F5A8F1A-E139-672D-69F0-D176833CC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814" t="47526" r="67415" b="39030"/>
            <a:stretch>
              <a:fillRect/>
            </a:stretch>
          </p:blipFill>
          <p:spPr>
            <a:xfrm flipH="1">
              <a:off x="3343918" y="3511776"/>
              <a:ext cx="1108609" cy="59243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7084649D-C794-630C-F083-5AB7EF15C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57428"/>
            <a:stretch>
              <a:fillRect/>
            </a:stretch>
          </p:blipFill>
          <p:spPr>
            <a:xfrm>
              <a:off x="3673926" y="3025677"/>
              <a:ext cx="631037" cy="787671"/>
            </a:xfrm>
            <a:prstGeom prst="rect">
              <a:avLst/>
            </a:prstGeom>
          </p:spPr>
        </p:pic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11CD6FAE-DF7F-AC0A-58D4-0F39830D58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14" t="47526" r="67415" b="39030"/>
          <a:stretch>
            <a:fillRect/>
          </a:stretch>
        </p:blipFill>
        <p:spPr>
          <a:xfrm>
            <a:off x="128473" y="2790905"/>
            <a:ext cx="1108609" cy="592431"/>
          </a:xfrm>
          <a:prstGeom prst="rect">
            <a:avLst/>
          </a:prstGeom>
          <a:ln>
            <a:noFill/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A165D23-F999-9022-17A4-450F86DF8AD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14" t="47526" r="67415" b="39030"/>
          <a:stretch>
            <a:fillRect/>
          </a:stretch>
        </p:blipFill>
        <p:spPr>
          <a:xfrm flipH="1">
            <a:off x="7357773" y="3447556"/>
            <a:ext cx="1108609" cy="592431"/>
          </a:xfrm>
          <a:prstGeom prst="rect">
            <a:avLst/>
          </a:prstGeom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EAD7DE2-F182-38A9-22F6-F47AC9276732}"/>
              </a:ext>
            </a:extLst>
          </p:cNvPr>
          <p:cNvSpPr/>
          <p:nvPr/>
        </p:nvSpPr>
        <p:spPr>
          <a:xfrm>
            <a:off x="8101584" y="100585"/>
            <a:ext cx="4005072" cy="11443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57FD0-5C0F-EC30-5152-AA6481C50600}"/>
              </a:ext>
            </a:extLst>
          </p:cNvPr>
          <p:cNvSpPr txBox="1"/>
          <p:nvPr/>
        </p:nvSpPr>
        <p:spPr>
          <a:xfrm>
            <a:off x="8196401" y="219064"/>
            <a:ext cx="3910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Intelligente</a:t>
            </a:r>
            <a:r>
              <a:rPr lang="en-US" dirty="0"/>
              <a:t> </a:t>
            </a:r>
            <a:r>
              <a:rPr lang="en-US" dirty="0" err="1"/>
              <a:t>Routenplanung</a:t>
            </a:r>
            <a:endParaRPr lang="en-US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Weniger Strecke </a:t>
            </a:r>
            <a:r>
              <a:rPr lang="en-US" dirty="0" err="1"/>
              <a:t>zurücklegen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Gebrauchtwagen</a:t>
            </a:r>
            <a:r>
              <a:rPr lang="en-US" dirty="0"/>
              <a:t> </a:t>
            </a:r>
            <a:r>
              <a:rPr lang="en-US" dirty="0" err="1"/>
              <a:t>statt</a:t>
            </a:r>
            <a:r>
              <a:rPr lang="en-US" dirty="0"/>
              <a:t> </a:t>
            </a:r>
            <a:r>
              <a:rPr lang="en-US" dirty="0" err="1"/>
              <a:t>Neuwagen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26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0787 C 0.00339 0.02107 0.00834 0.0345 0.02097 0.03982 C 0.0336 0.04514 0.05808 0.04399 0.07422 0.03982 C 0.09037 0.03565 0.10769 0.02477 0.11771 0.01459 C 0.12774 0.00417 0.13516 -0.00949 0.13425 -0.02152 C 0.13308 -0.03356 0.12214 -0.04513 0.11094 -0.05763 C 0.09987 -0.0699 0.06745 -0.09629 0.06745 -0.09606 C 0.03607 -0.12268 -0.0444 -0.19189 -0.07669 -0.2162 C -0.10885 -0.2405 -0.10794 -0.23263 -0.1263 -0.24143 C -0.14427 -0.25046 -0.18541 -0.26944 -0.18541 -0.26921 C -0.20755 -0.27963 -0.23268 -0.28194 -0.25872 -0.30162 C -0.28489 -0.32106 -0.34192 -0.3868 -0.34192 -0.38657 L -0.41015 -0.45879 C -0.42461 -0.475 -0.42669 -0.47453 -0.42825 -0.48287 C -0.42968 -0.49143 -0.44075 -0.49675 -0.41927 -0.50949 C -0.39765 -0.52245 -0.32578 -0.54791 -0.29922 -0.56018 C -0.27278 -0.57245 -0.26679 -0.57569 -0.26015 -0.58287 C -0.25351 -0.59004 -0.24687 -0.58935 -0.25872 -0.603 C -0.27057 -0.61643 -0.30104 -0.64027 -0.33151 -0.66412 " pathEditMode="relative" rAng="0" ptsTypes="AAAAAAAAAAAAAAAAAAA">
                                      <p:cBhvr>
                                        <p:cTn id="1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53" y="-3182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08 C -0.00261 0.01991 -0.00157 0.04213 0.00755 0.05255 C 0.01666 0.06273 0.03151 0.06621 0.05104 0.05903 C 0.07057 0.05209 0.1125 0.02385 0.12448 0.00972 C 0.13659 -0.00416 0.11849 -0.01458 0.12304 -0.02477 C 0.1276 -0.03518 0.14179 -0.04352 0.15156 -0.05162 C 0.16132 -0.05949 0.17721 -0.06018 0.18151 -0.07291 C 0.18593 -0.08541 0.17747 -0.11365 0.17773 -0.12754 C 0.17812 -0.1412 0.17135 -0.14537 0.18385 -0.15555 C 0.19622 -0.16574 0.23385 -0.17384 0.25208 -0.18889 C 0.27018 -0.2037 0.28255 -0.22893 0.29257 -0.2449 C 0.3026 -0.26088 0.30169 -0.27986 0.31198 -0.28472 C 0.32239 -0.28981 0.34544 -0.28449 0.35481 -0.27407 C 0.36419 -0.26365 0.36627 -0.24305 0.36836 -0.22222 " pathEditMode="relative" rAng="0" ptsTypes="AAAAAAAAAAAA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94" y="-1099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0013 0.00579 C -0.00586 -0.0081 -0.01172 -0.02176 -0.02409 -0.03148 C -0.03633 -0.0412 -0.05898 -0.04421 -0.07357 -0.05231 C -0.08828 -0.06041 -0.10586 -0.06412 -0.11211 -0.08009 C -0.11823 -0.09629 -0.11211 -0.13541 -0.1108 -0.14861 C -0.10937 -0.1618 -0.10651 -0.16041 -0.10351 -0.15902 " pathEditMode="relative" rAng="0" ptsTypes="AAAAAA">
                                      <p:cBhvr>
                                        <p:cTn id="2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55" y="-828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00442 0.04954 C -0.01145 0.0632 -0.01848 0.07709 -0.0332 0.07848 C -0.04792 0.07986 -0.07044 0.06922 -0.09257 0.05764 C -0.11459 0.04607 -0.13803 0.03334 -0.1655 0.0088 C -0.1931 -0.01551 -0.24362 -0.07777 -0.25743 -0.08842 " pathEditMode="relative" rAng="0" ptsTypes="AAAAA"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56" y="-546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2.70833E-6 1.11111E-6 C 0.01692 0.01342 0.03385 0.02731 0.05169 0.03449 C 0.06953 0.0419 0.08984 0.04491 0.10664 0.04398 C 0.1233 0.04305 0.13346 0.03194 0.15156 0.02917 C 0.16953 0.02616 0.19062 0.02384 0.21458 0.02708 C 0.23854 0.03009 0.27109 0.04097 0.29583 0.04815 C 0.32031 0.05532 0.3414 0.06273 0.36263 0.07014 " pathEditMode="relative" rAng="0" ptsTypes="AAAAAAA">
                                      <p:cBhvr>
                                        <p:cTn id="3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25" y="349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59259E-6 L 0.06302 0.0537 C 0.08216 0.0699 0.09974 0.08264 0.11432 0.09699 C 0.12904 0.11111 0.14219 0.12546 0.15091 0.13912 C 0.15977 0.15301 0.16797 0.16597 0.16693 0.18009 C 0.16563 0.19444 0.15664 0.21203 0.14401 0.22477 C 0.13151 0.23773 0.10729 0.25208 0.09167 0.25764 C 0.07578 0.26296 0.05586 0.25671 0.04987 0.25764 " pathEditMode="relative" rAng="0" ptsTypes="AAAAAAAA">
                                      <p:cBhvr>
                                        <p:cTn id="5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46" y="1298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9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78 -0.02037 C -0.01094 0.00139 -0.02123 0.02315 -0.02136 0.04306 C -0.02149 0.06273 -0.01498 0.08264 -0.00169 0.09861 C 0.01159 0.11436 0.0431 0.12199 0.0582 0.1382 C 0.07318 0.1544 0.08737 0.17917 0.08854 0.19537 C 0.08971 0.21135 0.07578 0.22315 0.06536 0.23496 C 0.05495 0.24676 0.03255 0.25348 0.02604 0.26667 C 0.0194 0.27986 0.02982 0.30556 0.02604 0.31436 C 0.02213 0.32292 0.01341 0.31412 0.00273 0.31898 C -0.00781 0.32408 -0.02448 0.33773 -0.03737 0.34445 C -0.05039 0.35116 -0.06341 0.36135 -0.07487 0.3588 C -0.08633 0.35602 -0.10248 0.33195 -0.10612 0.32848 " pathEditMode="relative" ptsTypes="AAAAAAAAAAAA">
                                      <p:cBhvr>
                                        <p:cTn id="6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9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1 0.04236 C -0.01511 0.05764 -0.02761 0.07292 -0.0444 0.08287 C -0.0612 0.09306 -0.08242 0.09792 -0.10365 0.10278 " pathEditMode="relative" ptsTypes="AAA">
                                      <p:cBhvr>
                                        <p:cTn id="8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9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0742 0.02523 C -0.01237 0.04097 -0.03216 0.05694 -0.05104 0.06875 C -0.06992 0.08078 -0.10599 0.09629 -0.10599 0.09652 C -0.12383 0.10509 -0.14049 0.11157 -0.15755 0.12176 C -0.17461 0.13194 -0.19153 0.14467 -0.20846 0.1574 " pathEditMode="relative" rAng="0" ptsTypes="AAAAA">
                                      <p:cBhvr>
                                        <p:cTn id="9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94" y="6597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.00365 0.02894 C -0.00989 0.00093 -0.02356 -0.02708 -0.04414 -0.03611 C -0.06458 -0.04513 -0.09935 -0.02546 -0.11914 -0.02546 C -0.13893 -0.02546 -0.15091 -0.03078 -0.16289 -0.03611 " pathEditMode="relative" rAng="0" ptsTypes="AAAA">
                                      <p:cBhvr>
                                        <p:cTn id="93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3" y="-3380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0" presetClass="path" presetSubtype="0" accel="50000" decel="5000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Motion origin="layout" path="M -0.00417 0.01019 C 0.0082 0.03218 0.0207 0.0544 0.03359 0.06782 C 0.04648 0.08148 0.0582 0.09583 0.07344 0.09144 C 0.08867 0.08704 0.10807 0.05185 0.12513 0.0419 C 0.14232 0.03194 0.16328 0.02523 0.1763 0.03125 C 0.18919 0.0375 0.18542 0.06181 0.20286 0.07847 C 0.22018 0.09514 0.25143 0.11551 0.28047 0.13148 C 0.3095 0.14769 0.35273 0.16227 0.37734 0.17523 C 0.40208 0.18819 0.42852 0.20949 0.42852 0.20949 C 0.45469 0.22801 0.50547 0.26181 0.53464 0.28611 C 0.5638 0.31042 0.59206 0.33657 0.60365 0.35579 C 0.61523 0.375 0.61419 0.38634 0.6043 0.40185 C 0.59453 0.41713 0.56094 0.44213 0.54466 0.44769 C 0.52825 0.45324 0.52253 0.44421 0.50612 0.43472 C 0.48971 0.42523 0.4681 0.40833 0.44635 0.3912 " pathEditMode="relative" ptsTypes="AAAAAAAAAAAAAAA">
                                      <p:cBhvr>
                                        <p:cTn id="97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8B116B-C863-FD2C-8246-F0901F3F041A}"/>
              </a:ext>
            </a:extLst>
          </p:cNvPr>
          <p:cNvSpPr/>
          <p:nvPr/>
        </p:nvSpPr>
        <p:spPr>
          <a:xfrm>
            <a:off x="-363680" y="-394853"/>
            <a:ext cx="4655126" cy="1174172"/>
          </a:xfrm>
          <a:custGeom>
            <a:avLst/>
            <a:gdLst>
              <a:gd name="csX0" fmla="*/ 0 w 6141027"/>
              <a:gd name="csY0" fmla="*/ 124690 h 1174172"/>
              <a:gd name="csX1" fmla="*/ 6141027 w 6141027"/>
              <a:gd name="csY1" fmla="*/ 0 h 1174172"/>
              <a:gd name="csX2" fmla="*/ 4831773 w 6141027"/>
              <a:gd name="csY2" fmla="*/ 1174172 h 1174172"/>
              <a:gd name="csX3" fmla="*/ 0 w 6141027"/>
              <a:gd name="csY3" fmla="*/ 1174172 h 1174172"/>
              <a:gd name="csX4" fmla="*/ 0 w 6141027"/>
              <a:gd name="csY4" fmla="*/ 124690 h 117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41027" h="1174172">
                <a:moveTo>
                  <a:pt x="0" y="124690"/>
                </a:moveTo>
                <a:lnTo>
                  <a:pt x="6141027" y="0"/>
                </a:lnTo>
                <a:lnTo>
                  <a:pt x="4831773" y="1174172"/>
                </a:lnTo>
                <a:lnTo>
                  <a:pt x="0" y="1174172"/>
                </a:lnTo>
                <a:lnTo>
                  <a:pt x="0" y="12469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33E54-BCB5-A2BE-6865-0ACDDC35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5" y="126135"/>
            <a:ext cx="4544291" cy="65318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Skalierbarkeit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03D578-574E-0FB8-6598-408E95D723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79009" y="1243583"/>
            <a:ext cx="4909359" cy="49093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BED6AB-0DDC-31C2-68AF-EFCCBB0D398E}"/>
              </a:ext>
            </a:extLst>
          </p:cNvPr>
          <p:cNvSpPr txBox="1"/>
          <p:nvPr/>
        </p:nvSpPr>
        <p:spPr>
          <a:xfrm>
            <a:off x="185567" y="779319"/>
            <a:ext cx="4861497" cy="7115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Schrittweise</a:t>
            </a:r>
            <a:r>
              <a:rPr lang="en-US" dirty="0"/>
              <a:t> pro Dorf </a:t>
            </a:r>
            <a:r>
              <a:rPr lang="en-US" dirty="0" err="1"/>
              <a:t>erweitern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Keine </a:t>
            </a:r>
            <a:r>
              <a:rPr lang="en-US" dirty="0" err="1"/>
              <a:t>Massenversorgung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Städte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Fokus</a:t>
            </a:r>
            <a:r>
              <a:rPr lang="en-US" dirty="0"/>
              <a:t> auf </a:t>
            </a:r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Dörfer</a:t>
            </a:r>
            <a:r>
              <a:rPr lang="en-US" dirty="0"/>
              <a:t> &amp; </a:t>
            </a:r>
            <a:r>
              <a:rPr lang="en-US" dirty="0" err="1"/>
              <a:t>Landwirte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Kurze Wege → </a:t>
            </a:r>
            <a:r>
              <a:rPr lang="en-US" dirty="0" err="1"/>
              <a:t>frisch</a:t>
            </a:r>
            <a:r>
              <a:rPr lang="en-US" dirty="0"/>
              <a:t> &amp; </a:t>
            </a:r>
            <a:r>
              <a:rPr lang="en-US" dirty="0" err="1"/>
              <a:t>lokal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Kleiner </a:t>
            </a:r>
            <a:r>
              <a:rPr lang="en-US" dirty="0" err="1"/>
              <a:t>LocalBite</a:t>
            </a:r>
            <a:r>
              <a:rPr lang="en-US" dirty="0"/>
              <a:t>-Hub </a:t>
            </a:r>
            <a:r>
              <a:rPr lang="en-US" dirty="0" err="1"/>
              <a:t>vor</a:t>
            </a:r>
            <a:r>
              <a:rPr lang="en-US" dirty="0"/>
              <a:t> Ort</a:t>
            </a:r>
          </a:p>
          <a:p>
            <a:pPr lvl="1"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Bei </a:t>
            </a:r>
            <a:r>
              <a:rPr lang="en-US" dirty="0" err="1">
                <a:solidFill>
                  <a:schemeClr val="bg1"/>
                </a:solidFill>
              </a:rPr>
              <a:t>niedrigem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Bestand</a:t>
            </a:r>
            <a:r>
              <a:rPr lang="en-US" dirty="0">
                <a:solidFill>
                  <a:schemeClr val="bg1"/>
                </a:solidFill>
              </a:rPr>
              <a:t> / </a:t>
            </a:r>
            <a:r>
              <a:rPr lang="en-US" dirty="0" err="1">
                <a:solidFill>
                  <a:schemeClr val="bg1"/>
                </a:solidFill>
              </a:rPr>
              <a:t>Ausfall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Automatische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Erkennung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Nachbardorf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kann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aushelfen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solidFill>
                  <a:schemeClr val="bg1"/>
                </a:solidFill>
              </a:rPr>
              <a:t>Saisonale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Produkte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Nicht </a:t>
            </a:r>
            <a:r>
              <a:rPr lang="en-US" dirty="0" err="1">
                <a:solidFill>
                  <a:schemeClr val="bg1"/>
                </a:solidFill>
              </a:rPr>
              <a:t>künstlich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verfügbar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halten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Anzeige, </a:t>
            </a:r>
            <a:r>
              <a:rPr lang="en-US" dirty="0" err="1">
                <a:solidFill>
                  <a:schemeClr val="bg1"/>
                </a:solidFill>
              </a:rPr>
              <a:t>wann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wieder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verfügbar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Jeweils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kleine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Lernseiten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Mehr für </a:t>
            </a:r>
            <a:r>
              <a:rPr lang="en-US" dirty="0" err="1">
                <a:solidFill>
                  <a:schemeClr val="bg1"/>
                </a:solidFill>
              </a:rPr>
              <a:t>Landwirte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intressiert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Äpfel </a:t>
            </a:r>
            <a:r>
              <a:rPr lang="en-US" dirty="0" err="1">
                <a:solidFill>
                  <a:schemeClr val="bg1"/>
                </a:solidFill>
              </a:rPr>
              <a:t>beispiel</a:t>
            </a:r>
            <a:r>
              <a:rPr lang="en-US" dirty="0">
                <a:solidFill>
                  <a:schemeClr val="bg1"/>
                </a:solidFill>
              </a:rPr>
              <a:t> Problem</a:t>
            </a:r>
          </a:p>
        </p:txBody>
      </p:sp>
    </p:spTree>
    <p:extLst>
      <p:ext uri="{BB962C8B-B14F-4D97-AF65-F5344CB8AC3E}">
        <p14:creationId xmlns:p14="http://schemas.microsoft.com/office/powerpoint/2010/main" val="4001468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681C-5976-DFE8-BA0C-8DF6FD8F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B5734627-4CBD-AF9D-9F72-BEEB265182B8}"/>
              </a:ext>
            </a:extLst>
          </p:cNvPr>
          <p:cNvSpPr txBox="1"/>
          <p:nvPr/>
        </p:nvSpPr>
        <p:spPr>
          <a:xfrm>
            <a:off x="184870" y="782632"/>
            <a:ext cx="6587495" cy="7115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Schrittweise</a:t>
            </a:r>
            <a:r>
              <a:rPr lang="en-US" dirty="0"/>
              <a:t> pro Dorf </a:t>
            </a:r>
            <a:r>
              <a:rPr lang="en-US" dirty="0" err="1"/>
              <a:t>erweitern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Keine </a:t>
            </a:r>
            <a:r>
              <a:rPr lang="en-US" dirty="0" err="1"/>
              <a:t>Massenversorgung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Städte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Fokus</a:t>
            </a:r>
            <a:r>
              <a:rPr lang="en-US" dirty="0"/>
              <a:t> auf </a:t>
            </a:r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Dörfer</a:t>
            </a:r>
            <a:r>
              <a:rPr lang="en-US" dirty="0"/>
              <a:t> &amp; </a:t>
            </a:r>
            <a:r>
              <a:rPr lang="en-US" dirty="0" err="1"/>
              <a:t>Landwirte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Kurze Wege → </a:t>
            </a:r>
            <a:r>
              <a:rPr lang="en-US" dirty="0" err="1"/>
              <a:t>frisch</a:t>
            </a:r>
            <a:r>
              <a:rPr lang="en-US" dirty="0"/>
              <a:t> &amp; </a:t>
            </a:r>
            <a:r>
              <a:rPr lang="en-US" dirty="0" err="1"/>
              <a:t>lokal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Kleiner </a:t>
            </a:r>
            <a:r>
              <a:rPr lang="en-US" dirty="0" err="1"/>
              <a:t>LocalBite</a:t>
            </a:r>
            <a:r>
              <a:rPr lang="en-US" dirty="0"/>
              <a:t>-Hub </a:t>
            </a:r>
            <a:r>
              <a:rPr lang="en-US" dirty="0" err="1"/>
              <a:t>vor</a:t>
            </a:r>
            <a:r>
              <a:rPr lang="en-US" dirty="0"/>
              <a:t> Ort</a:t>
            </a:r>
          </a:p>
          <a:p>
            <a:pPr lvl="1"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Bei </a:t>
            </a:r>
            <a:r>
              <a:rPr lang="en-US" dirty="0" err="1">
                <a:solidFill>
                  <a:schemeClr val="bg1"/>
                </a:solidFill>
              </a:rPr>
              <a:t>niedrigem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Bestand</a:t>
            </a:r>
            <a:r>
              <a:rPr lang="en-US" dirty="0">
                <a:solidFill>
                  <a:schemeClr val="bg1"/>
                </a:solidFill>
              </a:rPr>
              <a:t> / </a:t>
            </a:r>
            <a:r>
              <a:rPr lang="en-US" dirty="0" err="1">
                <a:solidFill>
                  <a:schemeClr val="bg1"/>
                </a:solidFill>
              </a:rPr>
              <a:t>Ausfall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Automatische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Erkennung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Nachbardorf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kann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aushelfen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solidFill>
                  <a:schemeClr val="bg1"/>
                </a:solidFill>
              </a:rPr>
              <a:t>Saisonale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Produkte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Nicht </a:t>
            </a:r>
            <a:r>
              <a:rPr lang="en-US" dirty="0" err="1">
                <a:solidFill>
                  <a:schemeClr val="bg1"/>
                </a:solidFill>
              </a:rPr>
              <a:t>künstlich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verfügbar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halten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Anzeige, </a:t>
            </a:r>
            <a:r>
              <a:rPr lang="en-US" dirty="0" err="1">
                <a:solidFill>
                  <a:schemeClr val="bg1"/>
                </a:solidFill>
              </a:rPr>
              <a:t>wann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wieder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verfügbar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ist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Jeweils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kleine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Lernseiten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Mehr für </a:t>
            </a:r>
            <a:r>
              <a:rPr lang="en-US" dirty="0" err="1">
                <a:solidFill>
                  <a:schemeClr val="bg1"/>
                </a:solidFill>
              </a:rPr>
              <a:t>Landwirte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intressiert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Äpfel </a:t>
            </a:r>
            <a:r>
              <a:rPr lang="en-US" dirty="0" err="1">
                <a:solidFill>
                  <a:schemeClr val="bg1"/>
                </a:solidFill>
              </a:rPr>
              <a:t>beispiel</a:t>
            </a:r>
            <a:r>
              <a:rPr lang="en-US" dirty="0">
                <a:solidFill>
                  <a:schemeClr val="bg1"/>
                </a:solidFill>
              </a:rPr>
              <a:t> Problem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161C79-BA0B-75B9-B039-417CBD964D8C}"/>
              </a:ext>
            </a:extLst>
          </p:cNvPr>
          <p:cNvSpPr/>
          <p:nvPr/>
        </p:nvSpPr>
        <p:spPr>
          <a:xfrm>
            <a:off x="-2848727" y="595125"/>
            <a:ext cx="8133272" cy="2509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FB4AD-D58D-4E25-B423-9EF9D42705BF}"/>
              </a:ext>
            </a:extLst>
          </p:cNvPr>
          <p:cNvSpPr txBox="1"/>
          <p:nvPr/>
        </p:nvSpPr>
        <p:spPr>
          <a:xfrm>
            <a:off x="185568" y="779319"/>
            <a:ext cx="6586798" cy="794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Schrittweise</a:t>
            </a:r>
            <a:r>
              <a:rPr lang="en-US" dirty="0"/>
              <a:t> pro Dorf </a:t>
            </a:r>
            <a:r>
              <a:rPr lang="en-US" dirty="0" err="1"/>
              <a:t>erweitern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Keine </a:t>
            </a:r>
            <a:r>
              <a:rPr lang="en-US" dirty="0" err="1"/>
              <a:t>Massenversorgung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Städte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Fokus</a:t>
            </a:r>
            <a:r>
              <a:rPr lang="en-US" dirty="0"/>
              <a:t> auf </a:t>
            </a:r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Dörfer</a:t>
            </a:r>
            <a:r>
              <a:rPr lang="en-US" dirty="0"/>
              <a:t> &amp; </a:t>
            </a:r>
            <a:r>
              <a:rPr lang="en-US" dirty="0" err="1"/>
              <a:t>Landwirte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Kurze Wege → </a:t>
            </a:r>
            <a:r>
              <a:rPr lang="en-US" dirty="0" err="1"/>
              <a:t>frisch</a:t>
            </a:r>
            <a:r>
              <a:rPr lang="en-US" dirty="0"/>
              <a:t> &amp; </a:t>
            </a:r>
            <a:r>
              <a:rPr lang="en-US" dirty="0" err="1"/>
              <a:t>lokal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Kleiner </a:t>
            </a:r>
            <a:r>
              <a:rPr lang="en-US" dirty="0" err="1"/>
              <a:t>LocalBite</a:t>
            </a:r>
            <a:r>
              <a:rPr lang="en-US" dirty="0"/>
              <a:t>-Hub </a:t>
            </a:r>
            <a:r>
              <a:rPr lang="en-US" dirty="0" err="1"/>
              <a:t>vor</a:t>
            </a:r>
            <a:r>
              <a:rPr lang="en-US" dirty="0"/>
              <a:t> Ort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Bei </a:t>
            </a:r>
            <a:r>
              <a:rPr lang="en-US" dirty="0" err="1"/>
              <a:t>niedrigem</a:t>
            </a:r>
            <a:r>
              <a:rPr lang="en-US" dirty="0"/>
              <a:t> </a:t>
            </a:r>
            <a:r>
              <a:rPr lang="en-US" dirty="0" err="1"/>
              <a:t>Bestand</a:t>
            </a:r>
            <a:r>
              <a:rPr lang="en-US" dirty="0"/>
              <a:t> / </a:t>
            </a:r>
            <a:r>
              <a:rPr lang="en-US" dirty="0" err="1"/>
              <a:t>Ausfall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Automatische</a:t>
            </a:r>
            <a:r>
              <a:rPr lang="en-US" dirty="0"/>
              <a:t> </a:t>
            </a:r>
            <a:r>
              <a:rPr lang="en-US" dirty="0" err="1"/>
              <a:t>Erkennung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Nachbardorf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aushelfen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Saisonale</a:t>
            </a:r>
            <a:r>
              <a:rPr lang="en-US" dirty="0"/>
              <a:t> </a:t>
            </a:r>
            <a:r>
              <a:rPr lang="en-US" dirty="0" err="1"/>
              <a:t>Produkte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Nicht </a:t>
            </a:r>
            <a:r>
              <a:rPr lang="en-US" dirty="0" err="1"/>
              <a:t>künstlich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halten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Anzeige, </a:t>
            </a: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ist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Jeweils</a:t>
            </a:r>
            <a:r>
              <a:rPr lang="en-US" dirty="0"/>
              <a:t> </a:t>
            </a:r>
            <a:r>
              <a:rPr lang="en-US" dirty="0" err="1"/>
              <a:t>kleine</a:t>
            </a:r>
            <a:r>
              <a:rPr lang="en-US" dirty="0"/>
              <a:t> </a:t>
            </a:r>
            <a:r>
              <a:rPr lang="en-US" dirty="0" err="1"/>
              <a:t>Lernseiten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Mehr für </a:t>
            </a:r>
            <a:r>
              <a:rPr lang="en-US" dirty="0" err="1"/>
              <a:t>Landwirte</a:t>
            </a:r>
            <a:r>
              <a:rPr lang="en-US" dirty="0"/>
              <a:t> </a:t>
            </a:r>
            <a:r>
              <a:rPr lang="en-US" dirty="0" err="1"/>
              <a:t>intressiert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Vermarktungsregeln</a:t>
            </a:r>
            <a:r>
              <a:rPr lang="en-US" dirty="0"/>
              <a:t> </a:t>
            </a:r>
            <a:r>
              <a:rPr lang="en-US" dirty="0" err="1"/>
              <a:t>erschweren</a:t>
            </a:r>
            <a:r>
              <a:rPr lang="en-US" dirty="0"/>
              <a:t> den </a:t>
            </a:r>
            <a:r>
              <a:rPr lang="en-US" dirty="0" err="1"/>
              <a:t>Verkauf</a:t>
            </a:r>
            <a:r>
              <a:rPr lang="en-US" dirty="0"/>
              <a:t> </a:t>
            </a:r>
            <a:r>
              <a:rPr lang="en-US" dirty="0" err="1"/>
              <a:t>einwandfreier</a:t>
            </a:r>
            <a:r>
              <a:rPr lang="en-US" dirty="0"/>
              <a:t> Ware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LocalBite</a:t>
            </a:r>
            <a:r>
              <a:rPr lang="en-US" dirty="0"/>
              <a:t> </a:t>
            </a:r>
            <a:r>
              <a:rPr lang="en-US" dirty="0" err="1"/>
              <a:t>schafft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zusätzlichen</a:t>
            </a:r>
            <a:r>
              <a:rPr lang="en-US" dirty="0"/>
              <a:t> </a:t>
            </a:r>
            <a:r>
              <a:rPr lang="en-US" dirty="0" err="1"/>
              <a:t>Absatzweg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5DCB20-252B-D458-687E-421E335C2B5A}"/>
              </a:ext>
            </a:extLst>
          </p:cNvPr>
          <p:cNvSpPr/>
          <p:nvPr/>
        </p:nvSpPr>
        <p:spPr>
          <a:xfrm>
            <a:off x="-1013254" y="-617838"/>
            <a:ext cx="7447005" cy="1397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94CE669-733C-F537-6529-F061BC5C98A8}"/>
              </a:ext>
            </a:extLst>
          </p:cNvPr>
          <p:cNvSpPr/>
          <p:nvPr/>
        </p:nvSpPr>
        <p:spPr>
          <a:xfrm>
            <a:off x="7713532" y="4008675"/>
            <a:ext cx="2138516" cy="663677"/>
          </a:xfrm>
          <a:custGeom>
            <a:avLst/>
            <a:gdLst>
              <a:gd name="csX0" fmla="*/ 2138516 w 2138516"/>
              <a:gd name="csY0" fmla="*/ 0 h 663677"/>
              <a:gd name="csX1" fmla="*/ 1732935 w 2138516"/>
              <a:gd name="csY1" fmla="*/ 317090 h 663677"/>
              <a:gd name="csX2" fmla="*/ 1253613 w 2138516"/>
              <a:gd name="csY2" fmla="*/ 302342 h 663677"/>
              <a:gd name="csX3" fmla="*/ 803787 w 2138516"/>
              <a:gd name="csY3" fmla="*/ 390832 h 663677"/>
              <a:gd name="csX4" fmla="*/ 390832 w 2138516"/>
              <a:gd name="csY4" fmla="*/ 501445 h 663677"/>
              <a:gd name="csX5" fmla="*/ 0 w 2138516"/>
              <a:gd name="csY5" fmla="*/ 663677 h 663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138516" h="663677">
                <a:moveTo>
                  <a:pt x="2138516" y="0"/>
                </a:moveTo>
                <a:cubicBezTo>
                  <a:pt x="2009467" y="133350"/>
                  <a:pt x="1880419" y="266700"/>
                  <a:pt x="1732935" y="317090"/>
                </a:cubicBezTo>
                <a:cubicBezTo>
                  <a:pt x="1585451" y="367480"/>
                  <a:pt x="1408471" y="290052"/>
                  <a:pt x="1253613" y="302342"/>
                </a:cubicBezTo>
                <a:cubicBezTo>
                  <a:pt x="1098755" y="314632"/>
                  <a:pt x="947584" y="357648"/>
                  <a:pt x="803787" y="390832"/>
                </a:cubicBezTo>
                <a:cubicBezTo>
                  <a:pt x="659990" y="424016"/>
                  <a:pt x="524796" y="455971"/>
                  <a:pt x="390832" y="501445"/>
                </a:cubicBezTo>
                <a:cubicBezTo>
                  <a:pt x="256867" y="546919"/>
                  <a:pt x="39329" y="615745"/>
                  <a:pt x="0" y="663677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D12738-8B2C-B6B3-4186-00E8948617F0}"/>
              </a:ext>
            </a:extLst>
          </p:cNvPr>
          <p:cNvSpPr/>
          <p:nvPr/>
        </p:nvSpPr>
        <p:spPr>
          <a:xfrm>
            <a:off x="-363680" y="-394853"/>
            <a:ext cx="4655126" cy="1174172"/>
          </a:xfrm>
          <a:custGeom>
            <a:avLst/>
            <a:gdLst>
              <a:gd name="csX0" fmla="*/ 0 w 6141027"/>
              <a:gd name="csY0" fmla="*/ 124690 h 1174172"/>
              <a:gd name="csX1" fmla="*/ 6141027 w 6141027"/>
              <a:gd name="csY1" fmla="*/ 0 h 1174172"/>
              <a:gd name="csX2" fmla="*/ 4831773 w 6141027"/>
              <a:gd name="csY2" fmla="*/ 1174172 h 1174172"/>
              <a:gd name="csX3" fmla="*/ 0 w 6141027"/>
              <a:gd name="csY3" fmla="*/ 1174172 h 1174172"/>
              <a:gd name="csX4" fmla="*/ 0 w 6141027"/>
              <a:gd name="csY4" fmla="*/ 124690 h 117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41027" h="1174172">
                <a:moveTo>
                  <a:pt x="0" y="124690"/>
                </a:moveTo>
                <a:lnTo>
                  <a:pt x="6141027" y="0"/>
                </a:lnTo>
                <a:lnTo>
                  <a:pt x="4831773" y="1174172"/>
                </a:lnTo>
                <a:lnTo>
                  <a:pt x="0" y="1174172"/>
                </a:lnTo>
                <a:lnTo>
                  <a:pt x="0" y="12469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57F39BD-22BB-EF24-770A-46CD855A3F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83062" y="1459977"/>
            <a:ext cx="1940917" cy="19409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048D51-009E-A458-7DBC-D68D83EE9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5" y="126135"/>
            <a:ext cx="4544291" cy="65318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Skalierbarkeit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5D00AE-4BB5-50B4-DB11-3456AADAF5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16228" y="1553978"/>
            <a:ext cx="1846916" cy="1846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2CA516-C263-9AF0-BC18-6D9CCB5793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89977" y="1849735"/>
            <a:ext cx="2632363" cy="26323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7C1215-AADA-4D84-5076-4B064B19CF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85678" y="3457106"/>
            <a:ext cx="2632363" cy="26323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1EB3B5-A2E8-8C95-DF49-A2FAD73302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38356" y="244157"/>
            <a:ext cx="1845370" cy="18453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0C60A-F867-6851-B655-95DC81053A4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063" t="47050" r="51202" b="38618"/>
          <a:stretch>
            <a:fillRect/>
          </a:stretch>
        </p:blipFill>
        <p:spPr>
          <a:xfrm flipH="1">
            <a:off x="9525916" y="3688885"/>
            <a:ext cx="773888" cy="4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00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2.22222E-6 C -0.00573 0.00139 -0.01159 0.00278 -0.01614 0.00903 C -0.02057 0.01528 -0.02226 0.02963 -0.02682 0.03704 C -0.03138 0.04468 -0.03633 0.05116 -0.04362 0.05347 C -0.05104 0.05579 -0.0612 0.05023 -0.0707 0.0507 C -0.08021 0.05116 -0.09062 0.05301 -0.10078 0.05625 C -0.11094 0.05949 -0.12174 0.06644 -0.13138 0.06991 C -0.14114 0.07338 -0.15 0.07222 -0.15898 0.07709 C -0.16797 0.08195 -0.17864 0.09213 -0.18542 0.09908 " pathEditMode="relative" ptsTypes="AAAAAAAAA">
                                      <p:cBhvr>
                                        <p:cTn id="4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" grpId="0" uiExpand="1" build="p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FC564-8D52-9361-DC33-26385848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A2E46E-5460-5DD5-A9C4-1C218A197994}"/>
              </a:ext>
            </a:extLst>
          </p:cNvPr>
          <p:cNvSpPr/>
          <p:nvPr/>
        </p:nvSpPr>
        <p:spPr>
          <a:xfrm>
            <a:off x="-2848727" y="595125"/>
            <a:ext cx="8133272" cy="2509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97F17-9464-7984-44EA-9B7DA8D520C9}"/>
              </a:ext>
            </a:extLst>
          </p:cNvPr>
          <p:cNvSpPr txBox="1"/>
          <p:nvPr/>
        </p:nvSpPr>
        <p:spPr>
          <a:xfrm>
            <a:off x="185567" y="-1222789"/>
            <a:ext cx="6335270" cy="794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Schrittweise</a:t>
            </a:r>
            <a:r>
              <a:rPr lang="en-US" dirty="0"/>
              <a:t> pro Dorf </a:t>
            </a:r>
            <a:r>
              <a:rPr lang="en-US" dirty="0" err="1"/>
              <a:t>erweitern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Keine </a:t>
            </a:r>
            <a:r>
              <a:rPr lang="en-US" dirty="0" err="1"/>
              <a:t>Massenversorgung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Städte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Fokus</a:t>
            </a:r>
            <a:r>
              <a:rPr lang="en-US" dirty="0"/>
              <a:t> auf </a:t>
            </a:r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Dörfer</a:t>
            </a:r>
            <a:r>
              <a:rPr lang="en-US" dirty="0"/>
              <a:t> &amp; </a:t>
            </a:r>
            <a:r>
              <a:rPr lang="en-US" dirty="0" err="1"/>
              <a:t>Landwirte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Kurze Wege → </a:t>
            </a:r>
            <a:r>
              <a:rPr lang="en-US" dirty="0" err="1"/>
              <a:t>frisch</a:t>
            </a:r>
            <a:r>
              <a:rPr lang="en-US" dirty="0"/>
              <a:t> &amp; </a:t>
            </a:r>
            <a:r>
              <a:rPr lang="en-US" dirty="0" err="1"/>
              <a:t>lokal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Kleiner </a:t>
            </a:r>
            <a:r>
              <a:rPr lang="en-US" dirty="0" err="1"/>
              <a:t>LocalBite</a:t>
            </a:r>
            <a:r>
              <a:rPr lang="en-US" dirty="0"/>
              <a:t>-Hub </a:t>
            </a:r>
            <a:r>
              <a:rPr lang="en-US" dirty="0" err="1"/>
              <a:t>vor</a:t>
            </a:r>
            <a:r>
              <a:rPr lang="en-US" dirty="0"/>
              <a:t> Ort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Bei </a:t>
            </a:r>
            <a:r>
              <a:rPr lang="en-US" dirty="0" err="1"/>
              <a:t>niedrigem</a:t>
            </a:r>
            <a:r>
              <a:rPr lang="en-US" dirty="0"/>
              <a:t> </a:t>
            </a:r>
            <a:r>
              <a:rPr lang="en-US" dirty="0" err="1"/>
              <a:t>Bestand</a:t>
            </a:r>
            <a:r>
              <a:rPr lang="en-US" dirty="0"/>
              <a:t> / </a:t>
            </a:r>
            <a:r>
              <a:rPr lang="en-US" dirty="0" err="1"/>
              <a:t>Ausfall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Automatische</a:t>
            </a:r>
            <a:r>
              <a:rPr lang="en-US" dirty="0"/>
              <a:t> </a:t>
            </a:r>
            <a:r>
              <a:rPr lang="en-US" dirty="0" err="1"/>
              <a:t>Erkennung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Nachbardorf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aushelfen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Saisonale</a:t>
            </a:r>
            <a:r>
              <a:rPr lang="en-US" dirty="0"/>
              <a:t> </a:t>
            </a:r>
            <a:r>
              <a:rPr lang="en-US" dirty="0" err="1"/>
              <a:t>Produkte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Nicht </a:t>
            </a:r>
            <a:r>
              <a:rPr lang="en-US" dirty="0" err="1"/>
              <a:t>künstlich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halten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Anzeige, </a:t>
            </a: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verfügbar</a:t>
            </a:r>
            <a:r>
              <a:rPr lang="en-US" dirty="0"/>
              <a:t> </a:t>
            </a:r>
            <a:r>
              <a:rPr lang="en-US" dirty="0" err="1"/>
              <a:t>ist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Jeweils</a:t>
            </a:r>
            <a:r>
              <a:rPr lang="en-US" dirty="0"/>
              <a:t> </a:t>
            </a:r>
            <a:r>
              <a:rPr lang="en-US" dirty="0" err="1"/>
              <a:t>kleine</a:t>
            </a:r>
            <a:r>
              <a:rPr lang="en-US" dirty="0"/>
              <a:t> </a:t>
            </a:r>
            <a:r>
              <a:rPr lang="en-US" dirty="0" err="1"/>
              <a:t>Lernseiten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Mehr für </a:t>
            </a:r>
            <a:r>
              <a:rPr lang="en-US" dirty="0" err="1"/>
              <a:t>Landwirte</a:t>
            </a:r>
            <a:r>
              <a:rPr lang="en-US" dirty="0"/>
              <a:t> </a:t>
            </a:r>
            <a:r>
              <a:rPr lang="en-US" dirty="0" err="1"/>
              <a:t>intressiert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Vermarktungsregeln</a:t>
            </a:r>
            <a:r>
              <a:rPr lang="en-US" dirty="0"/>
              <a:t> </a:t>
            </a:r>
            <a:r>
              <a:rPr lang="en-US" dirty="0" err="1"/>
              <a:t>erschweren</a:t>
            </a:r>
            <a:r>
              <a:rPr lang="en-US" dirty="0"/>
              <a:t> den </a:t>
            </a:r>
            <a:r>
              <a:rPr lang="en-US" dirty="0" err="1"/>
              <a:t>Verkauf</a:t>
            </a:r>
            <a:r>
              <a:rPr lang="en-US" dirty="0"/>
              <a:t> </a:t>
            </a:r>
            <a:r>
              <a:rPr lang="en-US" dirty="0" err="1"/>
              <a:t>einwandfreier</a:t>
            </a:r>
            <a:r>
              <a:rPr lang="en-US" dirty="0"/>
              <a:t> Ware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LocalBite</a:t>
            </a:r>
            <a:r>
              <a:rPr lang="en-US" dirty="0"/>
              <a:t> </a:t>
            </a:r>
            <a:r>
              <a:rPr lang="en-US" dirty="0" err="1"/>
              <a:t>schafft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zusätzlichen</a:t>
            </a:r>
            <a:r>
              <a:rPr lang="en-US" dirty="0"/>
              <a:t> </a:t>
            </a:r>
            <a:r>
              <a:rPr lang="en-US" dirty="0" err="1"/>
              <a:t>Absatzweg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119D6-997A-C6AA-5BF4-4D4A982DC684}"/>
              </a:ext>
            </a:extLst>
          </p:cNvPr>
          <p:cNvSpPr/>
          <p:nvPr/>
        </p:nvSpPr>
        <p:spPr>
          <a:xfrm>
            <a:off x="-926168" y="-617838"/>
            <a:ext cx="7447005" cy="1397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F6798B-9CA9-663C-F627-8703D527F437}"/>
              </a:ext>
            </a:extLst>
          </p:cNvPr>
          <p:cNvSpPr/>
          <p:nvPr/>
        </p:nvSpPr>
        <p:spPr>
          <a:xfrm>
            <a:off x="-363680" y="-394853"/>
            <a:ext cx="4655126" cy="1174172"/>
          </a:xfrm>
          <a:custGeom>
            <a:avLst/>
            <a:gdLst>
              <a:gd name="csX0" fmla="*/ 0 w 6141027"/>
              <a:gd name="csY0" fmla="*/ 124690 h 1174172"/>
              <a:gd name="csX1" fmla="*/ 6141027 w 6141027"/>
              <a:gd name="csY1" fmla="*/ 0 h 1174172"/>
              <a:gd name="csX2" fmla="*/ 4831773 w 6141027"/>
              <a:gd name="csY2" fmla="*/ 1174172 h 1174172"/>
              <a:gd name="csX3" fmla="*/ 0 w 6141027"/>
              <a:gd name="csY3" fmla="*/ 1174172 h 1174172"/>
              <a:gd name="csX4" fmla="*/ 0 w 6141027"/>
              <a:gd name="csY4" fmla="*/ 124690 h 117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41027" h="1174172">
                <a:moveTo>
                  <a:pt x="0" y="124690"/>
                </a:moveTo>
                <a:lnTo>
                  <a:pt x="6141027" y="0"/>
                </a:lnTo>
                <a:lnTo>
                  <a:pt x="4831773" y="1174172"/>
                </a:lnTo>
                <a:lnTo>
                  <a:pt x="0" y="1174172"/>
                </a:lnTo>
                <a:lnTo>
                  <a:pt x="0" y="12469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A1C41-83C7-C10A-6DD6-0F890711E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5" y="126135"/>
            <a:ext cx="4544291" cy="65318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Skalierbarkeit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713BD6-28CA-F869-4700-4AF90F5D7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265" y="916076"/>
            <a:ext cx="6869168" cy="457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3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E6A9-B487-CC07-3DF9-EC2B7255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E53DF1-1F15-2050-EDF1-756BED60D6CF}"/>
              </a:ext>
            </a:extLst>
          </p:cNvPr>
          <p:cNvSpPr/>
          <p:nvPr/>
        </p:nvSpPr>
        <p:spPr>
          <a:xfrm>
            <a:off x="-926168" y="-617838"/>
            <a:ext cx="7447005" cy="13971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8463E-D247-0326-6EB7-7CE3DFED1F71}"/>
              </a:ext>
            </a:extLst>
          </p:cNvPr>
          <p:cNvSpPr/>
          <p:nvPr/>
        </p:nvSpPr>
        <p:spPr>
          <a:xfrm>
            <a:off x="-362997" y="-394853"/>
            <a:ext cx="8415952" cy="1174172"/>
          </a:xfrm>
          <a:custGeom>
            <a:avLst/>
            <a:gdLst>
              <a:gd name="csX0" fmla="*/ 0 w 6141027"/>
              <a:gd name="csY0" fmla="*/ 124690 h 1174172"/>
              <a:gd name="csX1" fmla="*/ 6141027 w 6141027"/>
              <a:gd name="csY1" fmla="*/ 0 h 1174172"/>
              <a:gd name="csX2" fmla="*/ 4831773 w 6141027"/>
              <a:gd name="csY2" fmla="*/ 1174172 h 1174172"/>
              <a:gd name="csX3" fmla="*/ 0 w 6141027"/>
              <a:gd name="csY3" fmla="*/ 1174172 h 1174172"/>
              <a:gd name="csX4" fmla="*/ 0 w 6141027"/>
              <a:gd name="csY4" fmla="*/ 124690 h 117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41027" h="1174172">
                <a:moveTo>
                  <a:pt x="0" y="124690"/>
                </a:moveTo>
                <a:lnTo>
                  <a:pt x="6141027" y="0"/>
                </a:lnTo>
                <a:lnTo>
                  <a:pt x="4831773" y="1174172"/>
                </a:lnTo>
                <a:lnTo>
                  <a:pt x="0" y="1174172"/>
                </a:lnTo>
                <a:lnTo>
                  <a:pt x="0" y="12469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634DE-3E74-9090-6AF2-7E0A833FD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5" y="126135"/>
            <a:ext cx="8336973" cy="65318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Zukunftsrelevanz</a:t>
            </a:r>
            <a:r>
              <a:rPr lang="en-US" dirty="0"/>
              <a:t> / Sicherheit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ECDFA5-688C-E997-70FA-1E6ED50E4333}"/>
              </a:ext>
            </a:extLst>
          </p:cNvPr>
          <p:cNvSpPr/>
          <p:nvPr/>
        </p:nvSpPr>
        <p:spPr>
          <a:xfrm>
            <a:off x="436417" y="1402768"/>
            <a:ext cx="4769426" cy="1880755"/>
          </a:xfrm>
          <a:prstGeom prst="roundRect">
            <a:avLst/>
          </a:prstGeom>
          <a:solidFill>
            <a:srgbClr val="FF0000">
              <a:alpha val="3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Notched Right Arrow 6">
            <a:extLst>
              <a:ext uri="{FF2B5EF4-FFF2-40B4-BE49-F238E27FC236}">
                <a16:creationId xmlns:a16="http://schemas.microsoft.com/office/drawing/2014/main" id="{4C55677C-B123-023D-AB17-573B8D7AA03C}"/>
              </a:ext>
            </a:extLst>
          </p:cNvPr>
          <p:cNvSpPr/>
          <p:nvPr/>
        </p:nvSpPr>
        <p:spPr>
          <a:xfrm>
            <a:off x="5342659" y="2015833"/>
            <a:ext cx="1506681" cy="654627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597CF2-1DE1-6E47-27EF-A28A55FF9C57}"/>
              </a:ext>
            </a:extLst>
          </p:cNvPr>
          <p:cNvSpPr/>
          <p:nvPr/>
        </p:nvSpPr>
        <p:spPr>
          <a:xfrm>
            <a:off x="6986157" y="1402767"/>
            <a:ext cx="4769426" cy="1880755"/>
          </a:xfrm>
          <a:prstGeom prst="roundRect">
            <a:avLst/>
          </a:prstGeom>
          <a:solidFill>
            <a:srgbClr val="00EE00">
              <a:alpha val="3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7B8316-AACE-F491-9AFE-BC28E706D7CA}"/>
              </a:ext>
            </a:extLst>
          </p:cNvPr>
          <p:cNvSpPr txBox="1"/>
          <p:nvPr/>
        </p:nvSpPr>
        <p:spPr>
          <a:xfrm>
            <a:off x="585458" y="1465113"/>
            <a:ext cx="4381395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Lebensmittel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zunehmend</a:t>
            </a:r>
            <a:r>
              <a:rPr lang="en-US" dirty="0"/>
              <a:t> </a:t>
            </a:r>
            <a:r>
              <a:rPr lang="en-US" dirty="0" err="1"/>
              <a:t>stärker</a:t>
            </a:r>
            <a:r>
              <a:rPr lang="en-US" dirty="0"/>
              <a:t> </a:t>
            </a:r>
            <a:r>
              <a:rPr lang="en-US" dirty="0" err="1"/>
              <a:t>verarbeitet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Herkunft</a:t>
            </a:r>
            <a:r>
              <a:rPr lang="en-US" dirty="0"/>
              <a:t> von </a:t>
            </a:r>
            <a:r>
              <a:rPr lang="en-US" dirty="0" err="1"/>
              <a:t>Lebensmitteln</a:t>
            </a:r>
            <a:r>
              <a:rPr lang="en-US" dirty="0"/>
              <a:t> oft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schwer</a:t>
            </a:r>
            <a:r>
              <a:rPr lang="en-US" dirty="0"/>
              <a:t> </a:t>
            </a:r>
            <a:r>
              <a:rPr lang="en-US" dirty="0" err="1"/>
              <a:t>nachvollziehbar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57FAAD-B6AE-AB6A-7B2D-350E08D346B5}"/>
              </a:ext>
            </a:extLst>
          </p:cNvPr>
          <p:cNvSpPr txBox="1"/>
          <p:nvPr/>
        </p:nvSpPr>
        <p:spPr>
          <a:xfrm>
            <a:off x="7180172" y="1672862"/>
            <a:ext cx="4381395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Regionalität</a:t>
            </a:r>
            <a:r>
              <a:rPr lang="en-US" dirty="0"/>
              <a:t> </a:t>
            </a:r>
            <a:r>
              <a:rPr lang="en-US" dirty="0" err="1"/>
              <a:t>bleibt</a:t>
            </a:r>
            <a:r>
              <a:rPr lang="en-US" dirty="0"/>
              <a:t> </a:t>
            </a:r>
            <a:r>
              <a:rPr lang="en-US" dirty="0" err="1"/>
              <a:t>erhalten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Einfacherer</a:t>
            </a:r>
            <a:r>
              <a:rPr lang="en-US" dirty="0"/>
              <a:t> </a:t>
            </a:r>
            <a:r>
              <a:rPr lang="en-US" dirty="0" err="1"/>
              <a:t>direkter</a:t>
            </a:r>
            <a:r>
              <a:rPr lang="en-US" dirty="0"/>
              <a:t> </a:t>
            </a:r>
            <a:r>
              <a:rPr lang="en-US" dirty="0" err="1"/>
              <a:t>Zugang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regionalen</a:t>
            </a:r>
            <a:r>
              <a:rPr lang="en-US" dirty="0"/>
              <a:t> </a:t>
            </a:r>
            <a:r>
              <a:rPr lang="en-US" dirty="0" err="1"/>
              <a:t>Landwirten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69C5A5-1BFC-347A-5040-0B626C7BD4FB}"/>
              </a:ext>
            </a:extLst>
          </p:cNvPr>
          <p:cNvSpPr/>
          <p:nvPr/>
        </p:nvSpPr>
        <p:spPr>
          <a:xfrm>
            <a:off x="521277" y="3906970"/>
            <a:ext cx="11234306" cy="2223655"/>
          </a:xfrm>
          <a:prstGeom prst="roundRect">
            <a:avLst/>
          </a:prstGeom>
          <a:solidFill>
            <a:schemeClr val="tx2">
              <a:lumMod val="10000"/>
              <a:lumOff val="90000"/>
              <a:alpha val="3686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42F633-EAA2-A2DB-76C7-C915FD17DFAE}"/>
              </a:ext>
            </a:extLst>
          </p:cNvPr>
          <p:cNvSpPr txBox="1"/>
          <p:nvPr/>
        </p:nvSpPr>
        <p:spPr>
          <a:xfrm>
            <a:off x="1065959" y="4211804"/>
            <a:ext cx="10144941" cy="157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Schrittweises</a:t>
            </a:r>
            <a:r>
              <a:rPr lang="en-US" dirty="0"/>
              <a:t> </a:t>
            </a:r>
            <a:r>
              <a:rPr lang="en-US" dirty="0" err="1"/>
              <a:t>Wachstum</a:t>
            </a:r>
            <a:r>
              <a:rPr lang="en-US" dirty="0"/>
              <a:t> → </a:t>
            </a:r>
            <a:r>
              <a:rPr lang="en-US" dirty="0" err="1"/>
              <a:t>geringeres</a:t>
            </a:r>
            <a:r>
              <a:rPr lang="en-US" dirty="0"/>
              <a:t> </a:t>
            </a:r>
            <a:r>
              <a:rPr lang="en-US" dirty="0" err="1"/>
              <a:t>Investitionsrisiko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Mehrere</a:t>
            </a:r>
            <a:r>
              <a:rPr lang="en-US" dirty="0"/>
              <a:t> </a:t>
            </a:r>
            <a:r>
              <a:rPr lang="en-US" dirty="0" err="1"/>
              <a:t>Standorte</a:t>
            </a:r>
            <a:r>
              <a:rPr lang="en-US" dirty="0"/>
              <a:t> → Risiko </a:t>
            </a:r>
            <a:r>
              <a:rPr lang="en-US" dirty="0" err="1"/>
              <a:t>verteilt</a:t>
            </a:r>
            <a:r>
              <a:rPr lang="en-US" dirty="0"/>
              <a:t> → nicht von </a:t>
            </a:r>
            <a:r>
              <a:rPr lang="en-US" dirty="0" err="1"/>
              <a:t>einem</a:t>
            </a:r>
            <a:r>
              <a:rPr lang="en-US" dirty="0"/>
              <a:t> Ort </a:t>
            </a:r>
            <a:r>
              <a:rPr lang="en-US" dirty="0" err="1"/>
              <a:t>abhängig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Bei </a:t>
            </a:r>
            <a:r>
              <a:rPr lang="en-US" dirty="0" err="1"/>
              <a:t>schwachem</a:t>
            </a:r>
            <a:r>
              <a:rPr lang="en-US" dirty="0"/>
              <a:t> </a:t>
            </a:r>
            <a:r>
              <a:rPr lang="en-US" dirty="0" err="1"/>
              <a:t>Standort</a:t>
            </a:r>
            <a:r>
              <a:rPr lang="en-US" dirty="0"/>
              <a:t> </a:t>
            </a:r>
            <a:r>
              <a:rPr lang="en-US" dirty="0" err="1"/>
              <a:t>flexibel</a:t>
            </a:r>
            <a:r>
              <a:rPr lang="en-US" dirty="0"/>
              <a:t> </a:t>
            </a:r>
            <a:r>
              <a:rPr lang="en-US" dirty="0" err="1"/>
              <a:t>reagieren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/>
              <a:t>Fahrzeuge</a:t>
            </a:r>
            <a:r>
              <a:rPr lang="en-US" dirty="0"/>
              <a:t> &amp; </a:t>
            </a:r>
            <a:r>
              <a:rPr lang="en-US" dirty="0" err="1"/>
              <a:t>Kapazitäten</a:t>
            </a:r>
            <a:r>
              <a:rPr lang="en-US" dirty="0"/>
              <a:t> an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Standorte</a:t>
            </a:r>
            <a:r>
              <a:rPr lang="en-US" dirty="0"/>
              <a:t> </a:t>
            </a:r>
            <a:r>
              <a:rPr lang="en-US" dirty="0" err="1"/>
              <a:t>verlagern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457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6326B-A552-3A17-6174-6980840C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313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2135</TotalTime>
  <Words>344</Words>
  <Application>Microsoft Macintosh PowerPoint</Application>
  <PresentationFormat>Widescreen</PresentationFormat>
  <Paragraphs>92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PowerPoint Presentation</vt:lpstr>
      <vt:lpstr>Skalierbarkeit</vt:lpstr>
      <vt:lpstr>Skalierbarkeit</vt:lpstr>
      <vt:lpstr>Skalierbarkeit</vt:lpstr>
      <vt:lpstr>Zukunftsrelevanz / Sicherheit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9000</dc:creator>
  <cp:lastModifiedBy>LEON 9000</cp:lastModifiedBy>
  <cp:revision>39</cp:revision>
  <dcterms:created xsi:type="dcterms:W3CDTF">2026-10-22T08:02:03Z</dcterms:created>
  <dcterms:modified xsi:type="dcterms:W3CDTF">2026-10-25T19:39:00Z</dcterms:modified>
</cp:coreProperties>
</file>