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Inter"/>
      <p:regular r:id="rId11"/>
      <p:bold r:id="rId12"/>
      <p:italic r:id="rId13"/>
      <p:boldItalic r:id="rId14"/>
    </p:embeddedFont>
    <p:embeddedFont>
      <p:font typeface="Outfit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5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utfit-regular.fntdata"/><Relationship Id="rId14" Type="http://schemas.openxmlformats.org/officeDocument/2006/relationships/font" Target="fonts/Inter-boldItalic.fntdata"/><Relationship Id="rId16" Type="http://schemas.openxmlformats.org/officeDocument/2006/relationships/font" Target="fonts/Outfi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Gemini_Generated_Image_njz1hjnjz1hjnjz1.jpg"/>
          <p:cNvPicPr preferRelativeResize="0"/>
          <p:nvPr/>
        </p:nvPicPr>
        <p:blipFill rotWithShape="1">
          <a:blip r:embed="rId3">
            <a:alphaModFix/>
          </a:blip>
          <a:srcRect b="0" l="4347" r="4338" t="0"/>
          <a:stretch/>
        </p:blipFill>
        <p:spPr>
          <a:xfrm>
            <a:off x="5929758" y="0"/>
            <a:ext cx="6262241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072729"/>
            <a:ext cx="2356991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09600" y="3063329"/>
            <a:ext cx="504609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Personas &amp; Zielgruppen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4465290"/>
            <a:ext cx="588819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Zwischen Tradition und digitalem Lifestyle.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Gemini_Generated_Image_pme2vdpme2vdpme2.jpg"/>
          <p:cNvPicPr preferRelativeResize="0"/>
          <p:nvPr/>
        </p:nvPicPr>
        <p:blipFill rotWithShape="1">
          <a:blip r:embed="rId3">
            <a:alphaModFix/>
          </a:blip>
          <a:srcRect b="15118" l="0" r="0" t="15118"/>
          <a:stretch/>
        </p:blipFill>
        <p:spPr>
          <a:xfrm>
            <a:off x="0" y="0"/>
            <a:ext cx="54864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6985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419382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4575" y="4836877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096000" y="1930747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PERSONA 01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096000" y="2273647"/>
            <a:ext cx="6096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Manfred Müller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096000" y="2936527"/>
            <a:ext cx="6096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Der traditionsbewusste Genießer. 55 Jahre.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15100" y="3669952"/>
            <a:ext cx="567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Beruf: Abteilungsleiter, familiär etabliert.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15100" y="4165252"/>
            <a:ext cx="5676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Hobbys: E-Bike Touren und eigener </a:t>
            </a: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Gemüsegarten.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15100" y="4836877"/>
            <a:ext cx="5676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Technik: Pragmatisch, schätzt einfache </a:t>
            </a: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Bedienung.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609600" y="1543050"/>
            <a:ext cx="3454449" cy="4705350"/>
          </a:xfrm>
          <a:prstGeom prst="roundRect">
            <a:avLst>
              <a:gd fmla="val 44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368849" y="1543050"/>
            <a:ext cx="3454449" cy="4705350"/>
          </a:xfrm>
          <a:prstGeom prst="roundRect">
            <a:avLst>
              <a:gd fmla="val 44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8128099" y="1543050"/>
            <a:ext cx="3454449" cy="4705350"/>
          </a:xfrm>
          <a:prstGeom prst="roundRect">
            <a:avLst>
              <a:gd fmla="val 44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74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2424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19907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6524" y="19907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85299" y="199072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09600" y="609600"/>
            <a:ext cx="115824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Manfreds Treiber &amp; Barrieren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23925" y="2543175"/>
            <a:ext cx="37088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Bedürfnisse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83174" y="2543175"/>
            <a:ext cx="37088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Pain Points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42424" y="2543175"/>
            <a:ext cx="37088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LocalBite Use Cases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57275" y="29813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52525" y="2981325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Fokus auf Herkunft.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57275" y="33528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52525" y="3352800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Unterstützung lokaler Bauern.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57275" y="37242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52525" y="3724275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Wenig Verpackungsmüll.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816524" y="29813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911774" y="2981325"/>
            <a:ext cx="2692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Wässriges Supermarkt-Gemüse.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816524" y="36099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911774" y="3609975"/>
            <a:ext cx="2692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Zeitaufwendiges Hofläden-Abklappern.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816524" y="42386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911774" y="4238625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Intransparente Fleisch-Siegel.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575774" y="29813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671024" y="2981325"/>
            <a:ext cx="2692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Animal-Sharing: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Transparente Tier-Partnerschaften.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575774" y="36099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671024" y="3609975"/>
            <a:ext cx="2692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Hof-Gastronomie: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Kulinarische Fahrrad-Ziele.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title="Gemini_Generated_Image_gjotngjotngjotng.jpg"/>
          <p:cNvPicPr preferRelativeResize="0"/>
          <p:nvPr/>
        </p:nvPicPr>
        <p:blipFill rotWithShape="1">
          <a:blip r:embed="rId3">
            <a:alphaModFix/>
          </a:blip>
          <a:srcRect b="15118" l="0" r="0" t="15118"/>
          <a:stretch/>
        </p:blipFill>
        <p:spPr>
          <a:xfrm>
            <a:off x="6705600" y="0"/>
            <a:ext cx="54864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69852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19382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68912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09600" y="1930747"/>
            <a:ext cx="685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PERSONA 02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09600" y="2273647"/>
            <a:ext cx="7200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Jonas Klein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09600" y="2936527"/>
            <a:ext cx="6858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Der technikaffine Foodie. 20 Jahre.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28700" y="3669952"/>
            <a:ext cx="643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Status: Dualer Student in eigener Wohnung.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28700" y="4165252"/>
            <a:ext cx="643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Hobbys: Gaming, Community und Kochen.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28700" y="4660552"/>
            <a:ext cx="643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Technik: Digital Native, erwartet nahtlose UX.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609600" y="1543050"/>
            <a:ext cx="3454449" cy="4705350"/>
          </a:xfrm>
          <a:prstGeom prst="roundRect">
            <a:avLst>
              <a:gd fmla="val 44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4368849" y="1543050"/>
            <a:ext cx="3454449" cy="4705350"/>
          </a:xfrm>
          <a:prstGeom prst="roundRect">
            <a:avLst>
              <a:gd fmla="val 44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8128099" y="1543050"/>
            <a:ext cx="3454449" cy="4705350"/>
          </a:xfrm>
          <a:prstGeom prst="roundRect">
            <a:avLst>
              <a:gd fmla="val 44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74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2424" y="18573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19907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6524" y="19907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9586" y="1990725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09600" y="609600"/>
            <a:ext cx="115824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Jonas' Treiber &amp; Barrieren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23925" y="2543175"/>
            <a:ext cx="37088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Bedürfnisse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683174" y="2543175"/>
            <a:ext cx="37088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Pain Points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442424" y="2543175"/>
            <a:ext cx="37088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29"/>
                </a:solidFill>
                <a:latin typeface="Outfit"/>
                <a:ea typeface="Outfit"/>
                <a:cs typeface="Outfit"/>
                <a:sym typeface="Outfit"/>
              </a:rPr>
              <a:t>LocalBite Use Cases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57275" y="29813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152525" y="2981325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Bequeme Lieferung.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57275" y="33528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152525" y="3352800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Soziales Koch-Erlebnis.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57275" y="37242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52525" y="3724275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Maximale Flexibilität.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816524" y="29813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911774" y="2981325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Einkäufe schleppen ohne Auto.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816524" y="33528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911774" y="3352800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Starre Abo-Fallen.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816524" y="37242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4911774" y="3724275"/>
            <a:ext cx="32464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Fehlende Spezialzutaten.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575774" y="29813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671024" y="2981325"/>
            <a:ext cx="2692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Smarte App: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1-Click Abo-Pausierung.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8575774" y="36099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8671024" y="3609975"/>
            <a:ext cx="2692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Logistik: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Autonome Echtzeit-Lieferung.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575774" y="42386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8671024" y="4238625"/>
            <a:ext cx="26924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Social: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Community-Events buchen.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