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5" r:id="rId3"/>
    <p:sldId id="276" r:id="rId4"/>
    <p:sldId id="261" r:id="rId5"/>
    <p:sldId id="266" r:id="rId6"/>
    <p:sldId id="269" r:id="rId7"/>
    <p:sldId id="271" r:id="rId8"/>
    <p:sldId id="257" r:id="rId9"/>
    <p:sldId id="273" r:id="rId10"/>
    <p:sldId id="262" r:id="rId11"/>
    <p:sldId id="272" r:id="rId12"/>
    <p:sldId id="258" r:id="rId13"/>
    <p:sldId id="25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7"/>
    <p:restoredTop sz="94658"/>
  </p:normalViewPr>
  <p:slideViewPr>
    <p:cSldViewPr snapToGrid="0">
      <p:cViewPr>
        <p:scale>
          <a:sx n="224" d="100"/>
          <a:sy n="224" d="100"/>
        </p:scale>
        <p:origin x="-2632" y="-42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555A31-692D-BB4D-BD29-064E07ABF048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F7FF02-2E3D-6B49-89A4-562E5C3A3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880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1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088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A7356-B277-9837-1391-AAAFD89CA1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CB87CC-8AD9-E8BC-B26F-3494872BEF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60105-0332-B6FD-54BF-7BC90E3C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39B62-8AAC-FF06-E8F0-7F40A77E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74DAD-089E-0205-A9BC-12EB7235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7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638AE-87E5-01DD-F93E-F2AA2708B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C1D0A-AC44-6FBC-6DA7-E4DA18BF4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E140D-B058-1239-DE10-DC709FD57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BDD54-3A87-B884-6909-02D91CFA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EE009-1BC7-681C-D9B3-D8229E6E1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0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89D0D-C81A-6698-6F96-70DEB0096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D34EB-7144-F85E-7416-C5536EC68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61DE6-1A47-8AF0-31D2-CB7AAD9E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43DC5-EE7C-3BFF-A7FD-95F76CE4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63296-702F-590A-2E57-9C0740C6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96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793BC-21FB-8D66-BFD9-862CCCCB8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F99C5-72AE-CA82-7E88-06CDD0220B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94A06A-C0F0-D448-7435-F8E3C2871F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605AE-D397-F015-1870-333262E66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46864-60DD-DA3D-AB04-F0F4C6E8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55091-7379-417F-ED04-60976C3F1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95A-5E17-6EDF-C318-810007C8B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75CF7-FEBF-31E4-3985-DE1ABBEA8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4891C-B7A2-DC13-F98E-0027D06A9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31CB18-E86F-F49F-C52F-CE9961420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AF6DA-E11D-9449-4A3B-E71B55A6D4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32D8D-2A31-8572-9EAB-ADC2B8E44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03D82B-E775-01FD-D33D-595C71B2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0A50AC-D34D-EE95-768E-517B9C37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76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4BBFB-E95D-5DF1-F652-59A5CBE8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6A57E-97CA-A083-E045-D6985F632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9367DD-C665-4070-DEB9-84C9E1B52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6DB9A-9D94-B77B-DC67-5A2BF9EB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342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6494FC-CBC3-300A-DC82-E02F1F63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9C757C-3680-4E35-19A0-02AAB33F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25343-E6EF-5880-1395-EF3B334F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7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C10-F7B3-31F3-D143-A3BB32D3C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6FB31-0019-CAA1-B3BD-6B2E297AF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B33DA6-1B7F-8FA1-02BD-9A10F4B0F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A0DF6-4FA5-EF2B-89FA-15C8136EC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F07C1B-336C-26A4-3CED-23C14EA4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F19B97-652A-DFAA-3613-800C5467E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CD89-F7E5-870C-CD00-EC4BE9FA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19322-D041-CC8B-B5E5-5F3F09812D4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6D0F4-7DCC-3506-E326-0F0AF9C9A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F8B8E-C794-E385-0A86-B67FBE87F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0C758-99AB-0F91-28FE-6C7FAEFE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7DCD3-F893-CE5D-12E5-02C0A66B4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833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A1FD-0E46-8958-796B-AF0403C3A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9E42C9-CD22-6DE8-B0F1-9110BE6A5C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46531-F7A5-DA60-FA94-CA7EB6EF4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04B3F-C396-E8C4-BBDA-172770A4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5E4B1-EB9F-14F7-EF2B-8E4D8A6C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8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F27E44-9C74-2496-F738-8C5C1DF79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B42D5D-0DE6-B49C-270A-F77F9F158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F13C03-848C-D1FC-1C5F-5700B370F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1CF34-CA93-804A-0B22-C61E0FBE0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D38BB-CB78-FFDF-4DE7-515BC7EFA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63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367148-A280-4E0A-FDEC-82BB51EC3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BCAF55-C71D-2BD7-53A2-2508D163B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B4E89-5692-EC5B-F849-37147DC599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19DB5-BE98-9289-4121-7FA625B3E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BFCA8-7E88-2161-A0C9-2A840C187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583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mel.de/DE/themen/ernaehrung/ernaehrungsreport2024.html?utm_source=chatgpt.com" TargetMode="External"/><Relationship Id="rId2" Type="http://schemas.openxmlformats.org/officeDocument/2006/relationships/hyperlink" Target="https://www.landwirtschaft.de/wirtschaft/agrarmaerkte/markt-und-versorgung/direktvermarktung-und-co-absatzwege-in-der-landwirtschaft?utm_source=chatgpt.com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nc.com/amaya-nichole/a-new-plant-based-meat-brand-is-bringing-5-types-of-3d-printed-food-to-u-s-shoppers/91419677?utm_source=chatgpt.com" TargetMode="External"/><Relationship Id="rId5" Type="http://schemas.openxmlformats.org/officeDocument/2006/relationships/hyperlink" Target="https://pubmed.ncbi.nlm.nih.gov/42219865/?utm_source=chatgpt.com" TargetMode="External"/><Relationship Id="rId4" Type="http://schemas.openxmlformats.org/officeDocument/2006/relationships/hyperlink" Target="https://eur-lex.europa.eu/legal-content/DE/ALL/?uri=CELEX%3A32023R2429&amp;utm_source=chatgpt.com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dwirtschaft.de/umwelt/klimawandel/rolle-der-landwirtschaft/lebensmittelabfaelle-und-lebensmittelverluste-in-der-landwirtschaft?utm_source=chatgpt.com" TargetMode="External"/><Relationship Id="rId2" Type="http://schemas.openxmlformats.org/officeDocument/2006/relationships/hyperlink" Target="https://eur-lex.europa.eu/legal-content/EN/TXT/PDF/?qid=1789587771638&amp;uri=OJ%3AL_202302429&amp;utm_source=chatgpt.com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ronment.ec.europa.eu/news/new-eu-rules-packaging-enter-application-2026-08-11_en?utm_source=chatgpt.com" TargetMode="External"/><Relationship Id="rId2" Type="http://schemas.openxmlformats.org/officeDocument/2006/relationships/hyperlink" Target="https://www.eea.europa.eu/en/topics/in-depth/electric-vehicles?utm_source=chatgpt.com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irculareconomy.europa.eu/platform/en/knowledge/overcoming-challenges-second-life-applications-battery-packs-lessons-pilot-cases?utm_source=chatgpt.com" TargetMode="External"/><Relationship Id="rId4" Type="http://schemas.openxmlformats.org/officeDocument/2006/relationships/hyperlink" Target="https://www.iea.org/reports/battery-circularity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1638AD6-E575-EE2D-C724-BE760D93A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43" y="389287"/>
            <a:ext cx="9119140" cy="607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121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AB026-FA0D-55C1-3031-4A8432FC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6AAD32-9AE0-C5DC-05BC-5B2C02C19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2231" y="1351194"/>
            <a:ext cx="2105774" cy="15793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248C1C-FB7E-AD7C-5270-8CD1FFAA6E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582" y="2446127"/>
            <a:ext cx="1934012" cy="14505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170955-194A-5283-73EC-99395F004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1351195"/>
            <a:ext cx="2105772" cy="15793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7C87B6-62EE-E665-08EA-CFD139E48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3950" y="1866783"/>
            <a:ext cx="1790855" cy="1343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1D34A8-4B24-31AF-2887-5B7E359E45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5482" y="1077118"/>
            <a:ext cx="2105772" cy="157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1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5157D9-9ABD-F52F-4354-A3EAAFBF1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F74B26-F09A-BC9D-C557-FD525741A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8998" y="1619515"/>
            <a:ext cx="1748013" cy="1311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7DAC03-1ECE-382C-16C2-E3253C983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3543" y="2398452"/>
            <a:ext cx="1748013" cy="13110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4BD132-C666-978B-97B9-85FE3B2F4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351195"/>
            <a:ext cx="2105772" cy="15793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290748-6B0C-FF5A-B545-F975219C8E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0054" y="1375497"/>
            <a:ext cx="1520015" cy="11400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D2A69B-0251-0B3F-B236-EFCFF5782E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6103027" y="5538889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E09E05-320E-EF7A-9AF4-0E4431788C4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6202436" y="5397221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BF606E-592A-9525-BC0D-B5345B95727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7357773" y="2672105"/>
            <a:ext cx="1024295" cy="830032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376B9E02-D474-02EA-2BB8-E8ED12C6BD06}"/>
              </a:ext>
            </a:extLst>
          </p:cNvPr>
          <p:cNvGrpSpPr/>
          <p:nvPr/>
        </p:nvGrpSpPr>
        <p:grpSpPr>
          <a:xfrm>
            <a:off x="10742764" y="3345540"/>
            <a:ext cx="1108609" cy="1054883"/>
            <a:chOff x="10734812" y="2795962"/>
            <a:chExt cx="1108609" cy="105488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EED2DB1-3269-A159-3FEB-FE1E5691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10734812" y="3258414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8CD38AB-6118-2944-D880-89C9FC6A0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77182" y="2795962"/>
              <a:ext cx="796464" cy="796464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07DC93F-FBC3-0FE6-ADAA-58D2B6E85103}"/>
              </a:ext>
            </a:extLst>
          </p:cNvPr>
          <p:cNvGrpSpPr/>
          <p:nvPr/>
        </p:nvGrpSpPr>
        <p:grpSpPr>
          <a:xfrm>
            <a:off x="9542571" y="1875641"/>
            <a:ext cx="1108609" cy="1054883"/>
            <a:chOff x="10734812" y="2795962"/>
            <a:chExt cx="1108609" cy="1054883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429A283-4E25-120C-0DC5-8912AC4CB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10734812" y="3258414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4486571-E749-8AF0-5BF3-48A7FFDB2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77182" y="2795962"/>
              <a:ext cx="796464" cy="79646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A9733F-8A7D-2EB2-A6AA-BD6D69577829}"/>
              </a:ext>
            </a:extLst>
          </p:cNvPr>
          <p:cNvGrpSpPr/>
          <p:nvPr/>
        </p:nvGrpSpPr>
        <p:grpSpPr>
          <a:xfrm>
            <a:off x="2092937" y="483262"/>
            <a:ext cx="1108609" cy="1024879"/>
            <a:chOff x="2092937" y="563254"/>
            <a:chExt cx="1108609" cy="1024879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769AAF4-57CB-EA24-5A5F-08C1517FA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2092937" y="995702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456C161-4FEB-C88A-83DD-1E62672D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04837" y="563254"/>
              <a:ext cx="789302" cy="78930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536CFE8-2E52-C8E9-3081-A1917AA831A6}"/>
              </a:ext>
            </a:extLst>
          </p:cNvPr>
          <p:cNvGrpSpPr/>
          <p:nvPr/>
        </p:nvGrpSpPr>
        <p:grpSpPr>
          <a:xfrm>
            <a:off x="5909829" y="1244926"/>
            <a:ext cx="1108609" cy="1113119"/>
            <a:chOff x="6002770" y="362067"/>
            <a:chExt cx="1108609" cy="111311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49C5D91-D714-841E-197E-92D8AAB22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6002770" y="882755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79FE8ED-259B-6399-DA9A-A9BAB6983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49835" y="362067"/>
              <a:ext cx="789302" cy="789302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69E3404-6FB3-4015-353F-4FFE1C329980}"/>
              </a:ext>
            </a:extLst>
          </p:cNvPr>
          <p:cNvGrpSpPr/>
          <p:nvPr/>
        </p:nvGrpSpPr>
        <p:grpSpPr>
          <a:xfrm>
            <a:off x="6689746" y="1192536"/>
            <a:ext cx="1108609" cy="1146156"/>
            <a:chOff x="7756197" y="126408"/>
            <a:chExt cx="1108609" cy="114615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7405FB7-4E4B-3EC5-A219-8E1BEA4E0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7756197" y="680133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EB91FD4-438E-A210-8E06-AE1D3A237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828439" y="126408"/>
              <a:ext cx="789302" cy="789302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9FA873C-BAEA-D5A6-7DC1-DDE61B50D366}"/>
              </a:ext>
            </a:extLst>
          </p:cNvPr>
          <p:cNvGrpSpPr/>
          <p:nvPr/>
        </p:nvGrpSpPr>
        <p:grpSpPr>
          <a:xfrm>
            <a:off x="4715756" y="2063565"/>
            <a:ext cx="1108609" cy="903885"/>
            <a:chOff x="3675698" y="2525115"/>
            <a:chExt cx="1108609" cy="903885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D2D40E6A-B501-022C-0C94-7CB99F88A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3675698" y="2836569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5152E23-8412-32FC-D5BE-A4B87D8BD1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926084" y="2525115"/>
              <a:ext cx="737099" cy="552824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E1F2CB-E277-563D-98EE-576415E0544E}"/>
              </a:ext>
            </a:extLst>
          </p:cNvPr>
          <p:cNvGrpSpPr/>
          <p:nvPr/>
        </p:nvGrpSpPr>
        <p:grpSpPr>
          <a:xfrm>
            <a:off x="2216186" y="2637609"/>
            <a:ext cx="1108609" cy="1078530"/>
            <a:chOff x="3343918" y="3025677"/>
            <a:chExt cx="1108609" cy="1078530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F5A8F1A-E139-672D-69F0-D176833CC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3343918" y="3511776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7084649D-C794-630C-F083-5AB7EF15C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57428"/>
            <a:stretch>
              <a:fillRect/>
            </a:stretch>
          </p:blipFill>
          <p:spPr>
            <a:xfrm>
              <a:off x="3673926" y="3025677"/>
              <a:ext cx="631037" cy="78767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11CD6FAE-DF7F-AC0A-58D4-0F39830D582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128473" y="2790905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A165D23-F999-9022-17A4-450F86DF8AD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 flipH="1">
            <a:off x="7357773" y="3447556"/>
            <a:ext cx="1108609" cy="59243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492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0.00787 C 0.00339 0.02107 0.00834 0.0345 0.02097 0.03982 C 0.0336 0.04514 0.05808 0.04399 0.07422 0.03982 C 0.09037 0.03565 0.10769 0.02477 0.11771 0.01459 C 0.12774 0.00417 0.13516 -0.00949 0.13425 -0.02152 C 0.13308 -0.03356 0.12214 -0.04513 0.11094 -0.05763 C 0.09987 -0.0699 0.06745 -0.09629 0.06745 -0.09606 C 0.03607 -0.12268 -0.0444 -0.19189 -0.07669 -0.2162 C -0.10885 -0.2405 -0.10794 -0.23263 -0.1263 -0.24143 C -0.14427 -0.25046 -0.18541 -0.26944 -0.18541 -0.26921 C -0.20755 -0.27963 -0.23268 -0.28194 -0.25872 -0.30162 C -0.28489 -0.32106 -0.34192 -0.3868 -0.34192 -0.38657 L -0.41015 -0.45879 C -0.42461 -0.475 -0.42669 -0.47453 -0.42825 -0.48287 C -0.42968 -0.49143 -0.44075 -0.49675 -0.41927 -0.50949 C -0.39765 -0.52245 -0.32578 -0.54791 -0.29922 -0.56018 C -0.27278 -0.57245 -0.26679 -0.57569 -0.26015 -0.58287 C -0.25351 -0.59004 -0.24687 -0.58935 -0.25872 -0.603 C -0.27057 -0.61643 -0.30104 -0.64027 -0.33151 -0.66412 " pathEditMode="relative" rAng="0" ptsTypes="AAAAAAAAAAAAAAAAAAA">
                                      <p:cBhvr>
                                        <p:cTn id="18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53" y="-318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65 -0.00208 C -0.00261 0.01991 -0.00157 0.04213 0.00755 0.05255 C 0.01666 0.06273 0.03151 0.06621 0.05104 0.05903 C 0.07057 0.05209 0.1125 0.02385 0.12448 0.00972 C 0.13659 -0.00416 0.11849 -0.01458 0.12304 -0.02477 C 0.1276 -0.03518 0.14179 -0.04352 0.15156 -0.05162 C 0.16132 -0.05949 0.17721 -0.06018 0.18151 -0.07291 C 0.18593 -0.08541 0.17747 -0.11365 0.17773 -0.12754 C 0.17812 -0.1412 0.17135 -0.14537 0.18385 -0.15555 C 0.19622 -0.16574 0.23385 -0.17384 0.25208 -0.18889 C 0.27018 -0.2037 0.28255 -0.22893 0.29257 -0.2449 C 0.3026 -0.26088 0.30169 -0.27986 0.31198 -0.28472 C 0.32239 -0.28981 0.34544 -0.28449 0.35481 -0.27407 C 0.36419 -0.26365 0.36627 -0.24305 0.36836 -0.22222 " pathEditMode="relative" rAng="0" ptsTypes="AAAAAAAAAAAA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94" y="-10995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.00013 0.00579 C -0.00586 -0.0081 -0.01172 -0.02176 -0.02409 -0.03148 C -0.03633 -0.0412 -0.05898 -0.04421 -0.07357 -0.05231 C -0.08828 -0.06041 -0.10586 -0.06412 -0.11211 -0.08009 C -0.11823 -0.09629 -0.11211 -0.13541 -0.1108 -0.14861 C -0.10937 -0.1618 -0.10651 -0.16041 -0.10351 -0.15902 " pathEditMode="relative" rAng="0" ptsTypes="AAAAAA">
                                      <p:cBhvr>
                                        <p:cTn id="24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55" y="-8287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0" presetClass="path" presetSubtype="0" accel="50000" decel="50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Motion origin="layout" path="M -0.00442 0.04954 C -0.01145 0.0632 -0.01848 0.07709 -0.0332 0.07848 C -0.04792 0.07986 -0.07044 0.06922 -0.09257 0.05764 C -0.11459 0.04607 -0.13803 0.03334 -0.1655 0.0088 C -0.1931 -0.01551 -0.24362 -0.07777 -0.25743 -0.08842 " pathEditMode="relative" rAng="0" ptsTypes="AAAAA">
                                      <p:cBhvr>
                                        <p:cTn id="3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656" y="-5463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accel="50000" decel="50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Motion origin="layout" path="M 2.70833E-6 1.11111E-6 C 0.01692 0.01342 0.03385 0.02731 0.05169 0.03449 C 0.06953 0.0419 0.08984 0.04491 0.10664 0.04398 C 0.1233 0.04305 0.13346 0.03194 0.15156 0.02917 C 0.16953 0.02616 0.19062 0.02384 0.21458 0.02708 C 0.23854 0.03009 0.27109 0.04097 0.29583 0.04815 C 0.32031 0.05532 0.3414 0.06273 0.36263 0.07014 " pathEditMode="relative" rAng="0" ptsTypes="AAAAAAA">
                                      <p:cBhvr>
                                        <p:cTn id="34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125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59259E-6 L 0.06302 0.0537 C 0.08216 0.0699 0.09974 0.08264 0.11432 0.09699 C 0.12904 0.11111 0.14219 0.12546 0.15091 0.13912 C 0.15977 0.15301 0.16797 0.16597 0.16693 0.18009 C 0.16563 0.19444 0.15664 0.21203 0.14401 0.22477 C 0.13151 0.23773 0.10729 0.25208 0.09167 0.25764 C 0.07578 0.26296 0.05586 0.25671 0.04987 0.25764 " pathEditMode="relative" rAng="0" ptsTypes="AAAAAAAA">
                                      <p:cBhvr>
                                        <p:cTn id="5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46" y="12986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9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-0.00078 -0.02037 C -0.01094 0.00139 -0.02123 0.02315 -0.02136 0.04306 C -0.02149 0.06273 -0.01498 0.08264 -0.00169 0.09861 C 0.01159 0.11436 0.0431 0.12199 0.0582 0.1382 C 0.07318 0.1544 0.08737 0.17917 0.08854 0.19537 C 0.08971 0.21135 0.07578 0.22315 0.06536 0.23496 C 0.05495 0.24676 0.03255 0.25348 0.02604 0.26667 C 0.0194 0.27986 0.02982 0.30556 0.02604 0.31436 C 0.02213 0.32292 0.01341 0.31412 0.00273 0.31898 C -0.00781 0.32408 -0.02448 0.33773 -0.03737 0.34445 C -0.05039 0.35116 -0.06341 0.36135 -0.07487 0.3588 C -0.08633 0.35602 -0.10248 0.33195 -0.10612 0.32848 " pathEditMode="relative" ptsTypes="AAAAAAAAAAAA">
                                      <p:cBhvr>
                                        <p:cTn id="6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9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xit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61 0.04236 C -0.01511 0.05764 -0.02761 0.07292 -0.0444 0.08287 C -0.0612 0.09306 -0.08242 0.09792 -0.10365 0.10278 " pathEditMode="relative" ptsTypes="AAA">
                                      <p:cBhvr>
                                        <p:cTn id="8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9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accel="50000" decel="5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00742 0.02523 C -0.01237 0.04097 -0.03216 0.05694 -0.05104 0.06875 C -0.06992 0.08078 -0.10599 0.09629 -0.10599 0.09652 C -0.12383 0.10509 -0.14049 0.11157 -0.15755 0.12176 C -0.17461 0.13194 -0.19153 0.14467 -0.20846 0.1574 " pathEditMode="relative" rAng="0" ptsTypes="AAAAA">
                                      <p:cBhvr>
                                        <p:cTn id="91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794" y="6597"/>
                                    </p:animMotion>
                                  </p:childTnLst>
                                </p:cTn>
                              </p:par>
                              <p:par>
                                <p:cTn id="92" presetID="0" presetClass="path" presetSubtype="0" accel="50000" decel="5000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.00365 0.02894 C -0.00989 0.00093 -0.02356 -0.02708 -0.04414 -0.03611 C -0.06458 -0.04513 -0.09935 -0.02546 -0.11914 -0.02546 C -0.13893 -0.02546 -0.15091 -0.03078 -0.16289 -0.03611 " pathEditMode="relative" rAng="0" ptsTypes="AAAA">
                                      <p:cBhvr>
                                        <p:cTn id="93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333" y="-3380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ntr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0" presetClass="path" presetSubtype="0" accel="50000" decel="50000" fill="hold" nodeType="withEffect">
                                  <p:stCondLst>
                                    <p:cond delay="6500"/>
                                  </p:stCondLst>
                                  <p:childTnLst>
                                    <p:animMotion origin="layout" path="M -0.00417 0.01019 C 0.0082 0.03218 0.0207 0.0544 0.03359 0.06782 C 0.04648 0.08148 0.0582 0.09583 0.07344 0.09144 C 0.08867 0.08704 0.10807 0.05185 0.12513 0.0419 C 0.14232 0.03194 0.16328 0.02523 0.1763 0.03125 C 0.18919 0.0375 0.18542 0.06181 0.20286 0.07847 C 0.22018 0.09514 0.25143 0.11551 0.28047 0.13148 C 0.3095 0.14769 0.35273 0.16227 0.37734 0.17523 C 0.40208 0.18819 0.42852 0.20949 0.42852 0.20949 C 0.45469 0.22801 0.50547 0.26181 0.53464 0.28611 C 0.5638 0.31042 0.59206 0.33657 0.60365 0.35579 C 0.61523 0.375 0.61419 0.38634 0.6043 0.40185 C 0.59453 0.41713 0.56094 0.44213 0.54466 0.44769 C 0.52825 0.45324 0.52253 0.44421 0.50612 0.43472 C 0.48971 0.42523 0.4681 0.40833 0.44635 0.3912 " pathEditMode="relative" ptsTypes="AAAAAAAAAAAAAAA">
                                      <p:cBhvr>
                                        <p:cTn id="97" dur="3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nodeType="withEffect">
                                  <p:stCondLst>
                                    <p:cond delay="95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63AB-E853-E810-D022-6B5A0FBB4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746267A-55D5-8611-845B-2B0A3174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4" t="2691" r="83202" b="74398"/>
          <a:stretch>
            <a:fillRect/>
          </a:stretch>
        </p:blipFill>
        <p:spPr>
          <a:xfrm>
            <a:off x="4925701" y="2333935"/>
            <a:ext cx="2340597" cy="2190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9B44D-5B3F-D227-FF27-233B61EE7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D2F6160-5E7F-5A0D-6C07-37F82A8626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4" t="2691" r="83202" b="74398"/>
          <a:stretch>
            <a:fillRect/>
          </a:stretch>
        </p:blipFill>
        <p:spPr>
          <a:xfrm>
            <a:off x="7216617" y="1547354"/>
            <a:ext cx="2340597" cy="21901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A8F1CD-784B-AD9D-3CE2-1A51F951B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29" t="25602" r="33948" b="52899"/>
          <a:stretch>
            <a:fillRect/>
          </a:stretch>
        </p:blipFill>
        <p:spPr>
          <a:xfrm>
            <a:off x="1556510" y="2737058"/>
            <a:ext cx="2494380" cy="2190130"/>
          </a:xfrm>
          <a:prstGeom prst="rect">
            <a:avLst/>
          </a:prstGeom>
        </p:spPr>
      </p:pic>
      <p:sp>
        <p:nvSpPr>
          <p:cNvPr id="8" name="Freeform 7">
            <a:extLst>
              <a:ext uri="{FF2B5EF4-FFF2-40B4-BE49-F238E27FC236}">
                <a16:creationId xmlns:a16="http://schemas.microsoft.com/office/drawing/2014/main" id="{BC46CDC4-B7C3-3C59-81F8-4A138B964874}"/>
              </a:ext>
            </a:extLst>
          </p:cNvPr>
          <p:cNvSpPr/>
          <p:nvPr/>
        </p:nvSpPr>
        <p:spPr>
          <a:xfrm>
            <a:off x="3774831" y="2974288"/>
            <a:ext cx="3774831" cy="1610397"/>
          </a:xfrm>
          <a:custGeom>
            <a:avLst/>
            <a:gdLst>
              <a:gd name="csX0" fmla="*/ 0 w 3774831"/>
              <a:gd name="csY0" fmla="*/ 1269466 h 1610397"/>
              <a:gd name="csX1" fmla="*/ 1219200 w 3774831"/>
              <a:gd name="csY1" fmla="*/ 1609435 h 1610397"/>
              <a:gd name="csX2" fmla="*/ 2379784 w 3774831"/>
              <a:gd name="csY2" fmla="*/ 1339804 h 1610397"/>
              <a:gd name="csX3" fmla="*/ 2848707 w 3774831"/>
              <a:gd name="csY3" fmla="*/ 495743 h 1610397"/>
              <a:gd name="csX4" fmla="*/ 3774831 w 3774831"/>
              <a:gd name="csY4" fmla="*/ 3374 h 1610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4831" h="1610397">
                <a:moveTo>
                  <a:pt x="0" y="1269466"/>
                </a:moveTo>
                <a:cubicBezTo>
                  <a:pt x="411284" y="1433589"/>
                  <a:pt x="822569" y="1597712"/>
                  <a:pt x="1219200" y="1609435"/>
                </a:cubicBezTo>
                <a:cubicBezTo>
                  <a:pt x="1615831" y="1621158"/>
                  <a:pt x="2108199" y="1525419"/>
                  <a:pt x="2379784" y="1339804"/>
                </a:cubicBezTo>
                <a:cubicBezTo>
                  <a:pt x="2651369" y="1154189"/>
                  <a:pt x="2616199" y="718481"/>
                  <a:pt x="2848707" y="495743"/>
                </a:cubicBezTo>
                <a:cubicBezTo>
                  <a:pt x="3081215" y="273005"/>
                  <a:pt x="3671277" y="-35703"/>
                  <a:pt x="3774831" y="3374"/>
                </a:cubicBezTo>
              </a:path>
            </a:pathLst>
          </a:custGeom>
          <a:noFill/>
          <a:ln w="38100" cap="flat" cmpd="sng">
            <a:solidFill>
              <a:schemeClr val="tx1">
                <a:lumMod val="75000"/>
                <a:lumOff val="2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3774831"/>
                      <a:gd name="csY0" fmla="*/ 1269466 h 1610397"/>
                      <a:gd name="csX1" fmla="*/ 1219200 w 3774831"/>
                      <a:gd name="csY1" fmla="*/ 1609435 h 1610397"/>
                      <a:gd name="csX2" fmla="*/ 2379784 w 3774831"/>
                      <a:gd name="csY2" fmla="*/ 1339804 h 1610397"/>
                      <a:gd name="csX3" fmla="*/ 2848707 w 3774831"/>
                      <a:gd name="csY3" fmla="*/ 495743 h 1610397"/>
                      <a:gd name="csX4" fmla="*/ 3774831 w 3774831"/>
                      <a:gd name="csY4" fmla="*/ 3374 h 16103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74831" h="1610397" extrusionOk="0">
                        <a:moveTo>
                          <a:pt x="0" y="1269466"/>
                        </a:moveTo>
                        <a:cubicBezTo>
                          <a:pt x="374844" y="1411112"/>
                          <a:pt x="801373" y="1605667"/>
                          <a:pt x="1219200" y="1609435"/>
                        </a:cubicBezTo>
                        <a:cubicBezTo>
                          <a:pt x="1662558" y="1630995"/>
                          <a:pt x="2042721" y="1527501"/>
                          <a:pt x="2379784" y="1339804"/>
                        </a:cubicBezTo>
                        <a:cubicBezTo>
                          <a:pt x="2604818" y="1199649"/>
                          <a:pt x="2605946" y="775155"/>
                          <a:pt x="2848707" y="495743"/>
                        </a:cubicBezTo>
                        <a:cubicBezTo>
                          <a:pt x="3062253" y="262630"/>
                          <a:pt x="3681918" y="-30619"/>
                          <a:pt x="3774831" y="337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A68E62-0B9C-5BC2-7674-FE0776276F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78325" y="-59255"/>
            <a:ext cx="2701674" cy="27016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2109FD-1C91-9949-3C72-5CE8191119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452863" y="392490"/>
            <a:ext cx="2701674" cy="27016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6F9EC-5D22-5C68-391F-4731ECB4A3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63" t="47050" r="51202" b="38618"/>
          <a:stretch>
            <a:fillRect/>
          </a:stretch>
        </p:blipFill>
        <p:spPr>
          <a:xfrm flipH="1">
            <a:off x="6323895" y="2658511"/>
            <a:ext cx="1434904" cy="8713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C57E0E0-49FC-67A2-5E8D-DE3BE574AF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632572" y="572199"/>
            <a:ext cx="2342255" cy="2342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E5DEFD-A86E-A6DB-70AB-B899BFE1A4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825137" y="159453"/>
            <a:ext cx="2218457" cy="221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524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65 -0.00486 C -0.01237 0.01528 -0.02825 0.03541 -0.0388 0.06111 C -0.04934 0.0868 -0.04466 0.1243 -0.05963 0.1493 C -0.07474 0.1743 -0.10325 0.20139 -0.12877 0.21065 C -0.15442 0.2199 -0.18932 0.21203 -0.21302 0.20486 C -0.23671 0.19768 -0.26614 0.1706 -0.27096 0.16782 " pathEditMode="relative" ptsTypes="AAAAAA">
                                      <p:cBhvr>
                                        <p:cTn id="22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C693F-9E84-D1C9-082F-879E2B796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31C94E0-EAE8-CCEF-D53F-112442153E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4" t="2691" r="83202" b="74398"/>
          <a:stretch>
            <a:fillRect/>
          </a:stretch>
        </p:blipFill>
        <p:spPr>
          <a:xfrm>
            <a:off x="7810914" y="1814309"/>
            <a:ext cx="2180054" cy="203990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1EE1C11-CA0B-D703-0F1B-D6DDE6D292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29" t="25602" r="33948" b="52899"/>
          <a:stretch>
            <a:fillRect/>
          </a:stretch>
        </p:blipFill>
        <p:spPr>
          <a:xfrm>
            <a:off x="1176134" y="2977193"/>
            <a:ext cx="2049795" cy="17997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C45D00F-D1E0-EA3D-370E-D62B32ACA9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743" t="25602" r="50271" b="52900"/>
          <a:stretch>
            <a:fillRect/>
          </a:stretch>
        </p:blipFill>
        <p:spPr>
          <a:xfrm>
            <a:off x="6262444" y="4202424"/>
            <a:ext cx="2417521" cy="20399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2E2398-0A0D-3062-A5DB-6B9DE25865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660" t="25602" r="1017" b="52899"/>
          <a:stretch>
            <a:fillRect/>
          </a:stretch>
        </p:blipFill>
        <p:spPr>
          <a:xfrm>
            <a:off x="4099247" y="1523424"/>
            <a:ext cx="1889520" cy="1659047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76F25B9E-DD08-C2E3-95C3-59A3EF703012}"/>
              </a:ext>
            </a:extLst>
          </p:cNvPr>
          <p:cNvSpPr/>
          <p:nvPr/>
        </p:nvSpPr>
        <p:spPr>
          <a:xfrm>
            <a:off x="2994212" y="3182471"/>
            <a:ext cx="5127811" cy="1398494"/>
          </a:xfrm>
          <a:custGeom>
            <a:avLst/>
            <a:gdLst>
              <a:gd name="csX0" fmla="*/ 0 w 3774831"/>
              <a:gd name="csY0" fmla="*/ 1269466 h 1610397"/>
              <a:gd name="csX1" fmla="*/ 1219200 w 3774831"/>
              <a:gd name="csY1" fmla="*/ 1609435 h 1610397"/>
              <a:gd name="csX2" fmla="*/ 2379784 w 3774831"/>
              <a:gd name="csY2" fmla="*/ 1339804 h 1610397"/>
              <a:gd name="csX3" fmla="*/ 2848707 w 3774831"/>
              <a:gd name="csY3" fmla="*/ 495743 h 1610397"/>
              <a:gd name="csX4" fmla="*/ 3774831 w 3774831"/>
              <a:gd name="csY4" fmla="*/ 3374 h 1610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4831" h="1610397">
                <a:moveTo>
                  <a:pt x="0" y="1269466"/>
                </a:moveTo>
                <a:cubicBezTo>
                  <a:pt x="411284" y="1433589"/>
                  <a:pt x="822569" y="1597712"/>
                  <a:pt x="1219200" y="1609435"/>
                </a:cubicBezTo>
                <a:cubicBezTo>
                  <a:pt x="1615831" y="1621158"/>
                  <a:pt x="2108199" y="1525419"/>
                  <a:pt x="2379784" y="1339804"/>
                </a:cubicBezTo>
                <a:cubicBezTo>
                  <a:pt x="2651369" y="1154189"/>
                  <a:pt x="2616199" y="718481"/>
                  <a:pt x="2848707" y="495743"/>
                </a:cubicBezTo>
                <a:cubicBezTo>
                  <a:pt x="3081215" y="273005"/>
                  <a:pt x="3671277" y="-35703"/>
                  <a:pt x="3774831" y="3374"/>
                </a:cubicBezTo>
              </a:path>
            </a:pathLst>
          </a:custGeom>
          <a:noFill/>
          <a:ln w="38100" cap="flat" cmpd="sng">
            <a:solidFill>
              <a:schemeClr val="tx1">
                <a:lumMod val="75000"/>
                <a:lumOff val="2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3774831"/>
                      <a:gd name="csY0" fmla="*/ 1269466 h 1610397"/>
                      <a:gd name="csX1" fmla="*/ 1219200 w 3774831"/>
                      <a:gd name="csY1" fmla="*/ 1609435 h 1610397"/>
                      <a:gd name="csX2" fmla="*/ 2379784 w 3774831"/>
                      <a:gd name="csY2" fmla="*/ 1339804 h 1610397"/>
                      <a:gd name="csX3" fmla="*/ 2848707 w 3774831"/>
                      <a:gd name="csY3" fmla="*/ 495743 h 1610397"/>
                      <a:gd name="csX4" fmla="*/ 3774831 w 3774831"/>
                      <a:gd name="csY4" fmla="*/ 3374 h 16103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74831" h="1610397" extrusionOk="0">
                        <a:moveTo>
                          <a:pt x="0" y="1269466"/>
                        </a:moveTo>
                        <a:cubicBezTo>
                          <a:pt x="374844" y="1411112"/>
                          <a:pt x="801373" y="1605667"/>
                          <a:pt x="1219200" y="1609435"/>
                        </a:cubicBezTo>
                        <a:cubicBezTo>
                          <a:pt x="1662558" y="1630995"/>
                          <a:pt x="2042721" y="1527501"/>
                          <a:pt x="2379784" y="1339804"/>
                        </a:cubicBezTo>
                        <a:cubicBezTo>
                          <a:pt x="2604818" y="1199649"/>
                          <a:pt x="2605946" y="775155"/>
                          <a:pt x="2848707" y="495743"/>
                        </a:cubicBezTo>
                        <a:cubicBezTo>
                          <a:pt x="3062253" y="262630"/>
                          <a:pt x="3681918" y="-30619"/>
                          <a:pt x="3774831" y="337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FAC2C0E-2DCA-A44F-23DA-70B76BC70B59}"/>
              </a:ext>
            </a:extLst>
          </p:cNvPr>
          <p:cNvSpPr/>
          <p:nvPr/>
        </p:nvSpPr>
        <p:spPr>
          <a:xfrm>
            <a:off x="4054207" y="4516916"/>
            <a:ext cx="2798285" cy="1399329"/>
          </a:xfrm>
          <a:custGeom>
            <a:avLst/>
            <a:gdLst>
              <a:gd name="csX0" fmla="*/ 0 w 2798285"/>
              <a:gd name="csY0" fmla="*/ 0 h 1399329"/>
              <a:gd name="csX1" fmla="*/ 870333 w 2798285"/>
              <a:gd name="csY1" fmla="*/ 484742 h 1399329"/>
              <a:gd name="csX2" fmla="*/ 1366092 w 2798285"/>
              <a:gd name="csY2" fmla="*/ 1200838 h 1399329"/>
              <a:gd name="csX3" fmla="*/ 2005070 w 2798285"/>
              <a:gd name="csY3" fmla="*/ 1399142 h 1399329"/>
              <a:gd name="csX4" fmla="*/ 2798285 w 2798285"/>
              <a:gd name="csY4" fmla="*/ 1178804 h 13993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8285" h="1399329">
                <a:moveTo>
                  <a:pt x="0" y="0"/>
                </a:moveTo>
                <a:cubicBezTo>
                  <a:pt x="321325" y="142301"/>
                  <a:pt x="642651" y="284602"/>
                  <a:pt x="870333" y="484742"/>
                </a:cubicBezTo>
                <a:cubicBezTo>
                  <a:pt x="1098015" y="684882"/>
                  <a:pt x="1176969" y="1048438"/>
                  <a:pt x="1366092" y="1200838"/>
                </a:cubicBezTo>
                <a:cubicBezTo>
                  <a:pt x="1555215" y="1353238"/>
                  <a:pt x="1766371" y="1402814"/>
                  <a:pt x="2005070" y="1399142"/>
                </a:cubicBezTo>
                <a:cubicBezTo>
                  <a:pt x="2243769" y="1395470"/>
                  <a:pt x="2521027" y="1287137"/>
                  <a:pt x="2798285" y="117880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F88CE99-06A0-561E-29B5-987050613506}"/>
              </a:ext>
            </a:extLst>
          </p:cNvPr>
          <p:cNvSpPr/>
          <p:nvPr/>
        </p:nvSpPr>
        <p:spPr>
          <a:xfrm>
            <a:off x="6687239" y="3776132"/>
            <a:ext cx="2456628" cy="1324678"/>
          </a:xfrm>
          <a:custGeom>
            <a:avLst/>
            <a:gdLst>
              <a:gd name="csX0" fmla="*/ 1795749 w 2456628"/>
              <a:gd name="csY0" fmla="*/ 1324678 h 1324678"/>
              <a:gd name="csX1" fmla="*/ 2324559 w 2456628"/>
              <a:gd name="csY1" fmla="*/ 1159425 h 1324678"/>
              <a:gd name="csX2" fmla="*/ 2379643 w 2456628"/>
              <a:gd name="csY2" fmla="*/ 718750 h 1324678"/>
              <a:gd name="csX3" fmla="*/ 1388125 w 2456628"/>
              <a:gd name="csY3" fmla="*/ 344176 h 1324678"/>
              <a:gd name="csX4" fmla="*/ 440674 w 2456628"/>
              <a:gd name="csY4" fmla="*/ 344176 h 1324678"/>
              <a:gd name="csX5" fmla="*/ 0 w 2456628"/>
              <a:gd name="csY5" fmla="*/ 2654 h 13246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56628" h="1324678">
                <a:moveTo>
                  <a:pt x="1795749" y="1324678"/>
                </a:moveTo>
                <a:cubicBezTo>
                  <a:pt x="2011496" y="1292545"/>
                  <a:pt x="2227243" y="1260413"/>
                  <a:pt x="2324559" y="1159425"/>
                </a:cubicBezTo>
                <a:cubicBezTo>
                  <a:pt x="2421875" y="1058437"/>
                  <a:pt x="2535715" y="854625"/>
                  <a:pt x="2379643" y="718750"/>
                </a:cubicBezTo>
                <a:cubicBezTo>
                  <a:pt x="2223571" y="582875"/>
                  <a:pt x="1711287" y="406605"/>
                  <a:pt x="1388125" y="344176"/>
                </a:cubicBezTo>
                <a:cubicBezTo>
                  <a:pt x="1064963" y="281747"/>
                  <a:pt x="672028" y="401096"/>
                  <a:pt x="440674" y="344176"/>
                </a:cubicBezTo>
                <a:cubicBezTo>
                  <a:pt x="209320" y="287256"/>
                  <a:pt x="67937" y="-32233"/>
                  <a:pt x="0" y="265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D681A85-E12E-433A-2A1F-5DC9B7659BE7}"/>
              </a:ext>
            </a:extLst>
          </p:cNvPr>
          <p:cNvSpPr/>
          <p:nvPr/>
        </p:nvSpPr>
        <p:spPr>
          <a:xfrm>
            <a:off x="3925618" y="2713851"/>
            <a:ext cx="2765234" cy="1046603"/>
          </a:xfrm>
          <a:custGeom>
            <a:avLst/>
            <a:gdLst>
              <a:gd name="csX0" fmla="*/ 2765234 w 2765234"/>
              <a:gd name="csY0" fmla="*/ 1046603 h 1046603"/>
              <a:gd name="csX1" fmla="*/ 2302525 w 2765234"/>
              <a:gd name="csY1" fmla="*/ 837282 h 1046603"/>
              <a:gd name="csX2" fmla="*/ 1410159 w 2765234"/>
              <a:gd name="csY2" fmla="*/ 859316 h 1046603"/>
              <a:gd name="csX3" fmla="*/ 363557 w 2765234"/>
              <a:gd name="csY3" fmla="*/ 760164 h 1046603"/>
              <a:gd name="csX4" fmla="*/ 0 w 2765234"/>
              <a:gd name="csY4" fmla="*/ 363557 h 1046603"/>
              <a:gd name="csX5" fmla="*/ 363557 w 2765234"/>
              <a:gd name="csY5" fmla="*/ 0 h 10466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65234" h="1046603">
                <a:moveTo>
                  <a:pt x="2765234" y="1046603"/>
                </a:moveTo>
                <a:cubicBezTo>
                  <a:pt x="2646802" y="957549"/>
                  <a:pt x="2528371" y="868496"/>
                  <a:pt x="2302525" y="837282"/>
                </a:cubicBezTo>
                <a:cubicBezTo>
                  <a:pt x="2076679" y="806067"/>
                  <a:pt x="1733320" y="872169"/>
                  <a:pt x="1410159" y="859316"/>
                </a:cubicBezTo>
                <a:cubicBezTo>
                  <a:pt x="1086998" y="846463"/>
                  <a:pt x="598583" y="842790"/>
                  <a:pt x="363557" y="760164"/>
                </a:cubicBezTo>
                <a:cubicBezTo>
                  <a:pt x="128531" y="677538"/>
                  <a:pt x="0" y="490251"/>
                  <a:pt x="0" y="363557"/>
                </a:cubicBezTo>
                <a:cubicBezTo>
                  <a:pt x="0" y="236863"/>
                  <a:pt x="301128" y="11017"/>
                  <a:pt x="363557" y="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47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43DB0-8085-FE0E-B3EF-F9E300863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8466BC-6B46-8FCB-45FD-2E42E22396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4" t="2691" r="83202" b="74398"/>
          <a:stretch>
            <a:fillRect/>
          </a:stretch>
        </p:blipFill>
        <p:spPr>
          <a:xfrm>
            <a:off x="6686343" y="1759908"/>
            <a:ext cx="1810543" cy="16583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7F722C-B52F-2009-644F-9CB2D97DCC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29" t="25602" r="33948" b="52899"/>
          <a:stretch>
            <a:fillRect/>
          </a:stretch>
        </p:blipFill>
        <p:spPr>
          <a:xfrm>
            <a:off x="1176134" y="2705306"/>
            <a:ext cx="1702362" cy="14631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667FC6-D05A-FB8E-B3F2-11C9F056CE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743" t="25602" r="50271" b="52900"/>
          <a:stretch>
            <a:fillRect/>
          </a:stretch>
        </p:blipFill>
        <p:spPr>
          <a:xfrm>
            <a:off x="5400333" y="3701391"/>
            <a:ext cx="2007760" cy="1658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500409-9599-5DBB-AAF4-3A79C040AE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660" t="25602" r="1017" b="52899"/>
          <a:stretch>
            <a:fillRect/>
          </a:stretch>
        </p:blipFill>
        <p:spPr>
          <a:xfrm>
            <a:off x="3603790" y="1523425"/>
            <a:ext cx="1569253" cy="1348768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9BAD77AE-99BF-FB19-3A13-C263886C9678}"/>
              </a:ext>
            </a:extLst>
          </p:cNvPr>
          <p:cNvSpPr/>
          <p:nvPr/>
        </p:nvSpPr>
        <p:spPr>
          <a:xfrm>
            <a:off x="2686054" y="2872193"/>
            <a:ext cx="4258666" cy="1136944"/>
          </a:xfrm>
          <a:custGeom>
            <a:avLst/>
            <a:gdLst>
              <a:gd name="csX0" fmla="*/ 0 w 3774831"/>
              <a:gd name="csY0" fmla="*/ 1269466 h 1610397"/>
              <a:gd name="csX1" fmla="*/ 1219200 w 3774831"/>
              <a:gd name="csY1" fmla="*/ 1609435 h 1610397"/>
              <a:gd name="csX2" fmla="*/ 2379784 w 3774831"/>
              <a:gd name="csY2" fmla="*/ 1339804 h 1610397"/>
              <a:gd name="csX3" fmla="*/ 2848707 w 3774831"/>
              <a:gd name="csY3" fmla="*/ 495743 h 1610397"/>
              <a:gd name="csX4" fmla="*/ 3774831 w 3774831"/>
              <a:gd name="csY4" fmla="*/ 3374 h 1610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4831" h="1610397">
                <a:moveTo>
                  <a:pt x="0" y="1269466"/>
                </a:moveTo>
                <a:cubicBezTo>
                  <a:pt x="411284" y="1433589"/>
                  <a:pt x="822569" y="1597712"/>
                  <a:pt x="1219200" y="1609435"/>
                </a:cubicBezTo>
                <a:cubicBezTo>
                  <a:pt x="1615831" y="1621158"/>
                  <a:pt x="2108199" y="1525419"/>
                  <a:pt x="2379784" y="1339804"/>
                </a:cubicBezTo>
                <a:cubicBezTo>
                  <a:pt x="2651369" y="1154189"/>
                  <a:pt x="2616199" y="718481"/>
                  <a:pt x="2848707" y="495743"/>
                </a:cubicBezTo>
                <a:cubicBezTo>
                  <a:pt x="3081215" y="273005"/>
                  <a:pt x="3671277" y="-35703"/>
                  <a:pt x="3774831" y="3374"/>
                </a:cubicBezTo>
              </a:path>
            </a:pathLst>
          </a:custGeom>
          <a:noFill/>
          <a:ln w="38100" cap="flat" cmpd="sng">
            <a:solidFill>
              <a:schemeClr val="tx1">
                <a:lumMod val="75000"/>
                <a:lumOff val="2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3774831"/>
                      <a:gd name="csY0" fmla="*/ 1269466 h 1610397"/>
                      <a:gd name="csX1" fmla="*/ 1219200 w 3774831"/>
                      <a:gd name="csY1" fmla="*/ 1609435 h 1610397"/>
                      <a:gd name="csX2" fmla="*/ 2379784 w 3774831"/>
                      <a:gd name="csY2" fmla="*/ 1339804 h 1610397"/>
                      <a:gd name="csX3" fmla="*/ 2848707 w 3774831"/>
                      <a:gd name="csY3" fmla="*/ 495743 h 1610397"/>
                      <a:gd name="csX4" fmla="*/ 3774831 w 3774831"/>
                      <a:gd name="csY4" fmla="*/ 3374 h 16103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74831" h="1610397" extrusionOk="0">
                        <a:moveTo>
                          <a:pt x="0" y="1269466"/>
                        </a:moveTo>
                        <a:cubicBezTo>
                          <a:pt x="374844" y="1411112"/>
                          <a:pt x="801373" y="1605667"/>
                          <a:pt x="1219200" y="1609435"/>
                        </a:cubicBezTo>
                        <a:cubicBezTo>
                          <a:pt x="1662558" y="1630995"/>
                          <a:pt x="2042721" y="1527501"/>
                          <a:pt x="2379784" y="1339804"/>
                        </a:cubicBezTo>
                        <a:cubicBezTo>
                          <a:pt x="2604818" y="1199649"/>
                          <a:pt x="2605946" y="775155"/>
                          <a:pt x="2848707" y="495743"/>
                        </a:cubicBezTo>
                        <a:cubicBezTo>
                          <a:pt x="3062253" y="262630"/>
                          <a:pt x="3681918" y="-30619"/>
                          <a:pt x="3774831" y="337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24381B9-1617-1B8B-878E-7B294F633B4D}"/>
              </a:ext>
            </a:extLst>
          </p:cNvPr>
          <p:cNvSpPr/>
          <p:nvPr/>
        </p:nvSpPr>
        <p:spPr>
          <a:xfrm>
            <a:off x="3566384" y="3957066"/>
            <a:ext cx="2323986" cy="1137623"/>
          </a:xfrm>
          <a:custGeom>
            <a:avLst/>
            <a:gdLst>
              <a:gd name="csX0" fmla="*/ 0 w 2798285"/>
              <a:gd name="csY0" fmla="*/ 0 h 1399329"/>
              <a:gd name="csX1" fmla="*/ 870333 w 2798285"/>
              <a:gd name="csY1" fmla="*/ 484742 h 1399329"/>
              <a:gd name="csX2" fmla="*/ 1366092 w 2798285"/>
              <a:gd name="csY2" fmla="*/ 1200838 h 1399329"/>
              <a:gd name="csX3" fmla="*/ 2005070 w 2798285"/>
              <a:gd name="csY3" fmla="*/ 1399142 h 1399329"/>
              <a:gd name="csX4" fmla="*/ 2798285 w 2798285"/>
              <a:gd name="csY4" fmla="*/ 1178804 h 13993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98285" h="1399329">
                <a:moveTo>
                  <a:pt x="0" y="0"/>
                </a:moveTo>
                <a:cubicBezTo>
                  <a:pt x="321325" y="142301"/>
                  <a:pt x="642651" y="284602"/>
                  <a:pt x="870333" y="484742"/>
                </a:cubicBezTo>
                <a:cubicBezTo>
                  <a:pt x="1098015" y="684882"/>
                  <a:pt x="1176969" y="1048438"/>
                  <a:pt x="1366092" y="1200838"/>
                </a:cubicBezTo>
                <a:cubicBezTo>
                  <a:pt x="1555215" y="1353238"/>
                  <a:pt x="1766371" y="1402814"/>
                  <a:pt x="2005070" y="1399142"/>
                </a:cubicBezTo>
                <a:cubicBezTo>
                  <a:pt x="2243769" y="1395470"/>
                  <a:pt x="2521027" y="1287137"/>
                  <a:pt x="2798285" y="117880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F30726B-E14C-5477-E202-DE21F0B25F52}"/>
              </a:ext>
            </a:extLst>
          </p:cNvPr>
          <p:cNvSpPr/>
          <p:nvPr/>
        </p:nvSpPr>
        <p:spPr>
          <a:xfrm>
            <a:off x="5753127" y="3354826"/>
            <a:ext cx="2040239" cy="1076933"/>
          </a:xfrm>
          <a:custGeom>
            <a:avLst/>
            <a:gdLst>
              <a:gd name="csX0" fmla="*/ 1795749 w 2456628"/>
              <a:gd name="csY0" fmla="*/ 1324678 h 1324678"/>
              <a:gd name="csX1" fmla="*/ 2324559 w 2456628"/>
              <a:gd name="csY1" fmla="*/ 1159425 h 1324678"/>
              <a:gd name="csX2" fmla="*/ 2379643 w 2456628"/>
              <a:gd name="csY2" fmla="*/ 718750 h 1324678"/>
              <a:gd name="csX3" fmla="*/ 1388125 w 2456628"/>
              <a:gd name="csY3" fmla="*/ 344176 h 1324678"/>
              <a:gd name="csX4" fmla="*/ 440674 w 2456628"/>
              <a:gd name="csY4" fmla="*/ 344176 h 1324678"/>
              <a:gd name="csX5" fmla="*/ 0 w 2456628"/>
              <a:gd name="csY5" fmla="*/ 2654 h 13246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56628" h="1324678">
                <a:moveTo>
                  <a:pt x="1795749" y="1324678"/>
                </a:moveTo>
                <a:cubicBezTo>
                  <a:pt x="2011496" y="1292545"/>
                  <a:pt x="2227243" y="1260413"/>
                  <a:pt x="2324559" y="1159425"/>
                </a:cubicBezTo>
                <a:cubicBezTo>
                  <a:pt x="2421875" y="1058437"/>
                  <a:pt x="2535715" y="854625"/>
                  <a:pt x="2379643" y="718750"/>
                </a:cubicBezTo>
                <a:cubicBezTo>
                  <a:pt x="2223571" y="582875"/>
                  <a:pt x="1711287" y="406605"/>
                  <a:pt x="1388125" y="344176"/>
                </a:cubicBezTo>
                <a:cubicBezTo>
                  <a:pt x="1064963" y="281747"/>
                  <a:pt x="672028" y="401096"/>
                  <a:pt x="440674" y="344176"/>
                </a:cubicBezTo>
                <a:cubicBezTo>
                  <a:pt x="209320" y="287256"/>
                  <a:pt x="67937" y="-32233"/>
                  <a:pt x="0" y="265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84E64E-F238-B37B-43A9-2BC4F50141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98" r="67016" b="75239"/>
          <a:stretch>
            <a:fillRect/>
          </a:stretch>
        </p:blipFill>
        <p:spPr>
          <a:xfrm>
            <a:off x="7677736" y="3337105"/>
            <a:ext cx="1448594" cy="1505322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99BA5FCC-E556-A836-C150-C72E076AC44B}"/>
              </a:ext>
            </a:extLst>
          </p:cNvPr>
          <p:cNvSpPr/>
          <p:nvPr/>
        </p:nvSpPr>
        <p:spPr>
          <a:xfrm>
            <a:off x="3459591" y="2491215"/>
            <a:ext cx="2296537" cy="850865"/>
          </a:xfrm>
          <a:custGeom>
            <a:avLst/>
            <a:gdLst>
              <a:gd name="csX0" fmla="*/ 2765234 w 2765234"/>
              <a:gd name="csY0" fmla="*/ 1046603 h 1046603"/>
              <a:gd name="csX1" fmla="*/ 2302525 w 2765234"/>
              <a:gd name="csY1" fmla="*/ 837282 h 1046603"/>
              <a:gd name="csX2" fmla="*/ 1410159 w 2765234"/>
              <a:gd name="csY2" fmla="*/ 859316 h 1046603"/>
              <a:gd name="csX3" fmla="*/ 363557 w 2765234"/>
              <a:gd name="csY3" fmla="*/ 760164 h 1046603"/>
              <a:gd name="csX4" fmla="*/ 0 w 2765234"/>
              <a:gd name="csY4" fmla="*/ 363557 h 1046603"/>
              <a:gd name="csX5" fmla="*/ 363557 w 2765234"/>
              <a:gd name="csY5" fmla="*/ 0 h 10466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65234" h="1046603">
                <a:moveTo>
                  <a:pt x="2765234" y="1046603"/>
                </a:moveTo>
                <a:cubicBezTo>
                  <a:pt x="2646802" y="957549"/>
                  <a:pt x="2528371" y="868496"/>
                  <a:pt x="2302525" y="837282"/>
                </a:cubicBezTo>
                <a:cubicBezTo>
                  <a:pt x="2076679" y="806067"/>
                  <a:pt x="1733320" y="872169"/>
                  <a:pt x="1410159" y="859316"/>
                </a:cubicBezTo>
                <a:cubicBezTo>
                  <a:pt x="1086998" y="846463"/>
                  <a:pt x="598583" y="842790"/>
                  <a:pt x="363557" y="760164"/>
                </a:cubicBezTo>
                <a:cubicBezTo>
                  <a:pt x="128531" y="677538"/>
                  <a:pt x="0" y="490251"/>
                  <a:pt x="0" y="363557"/>
                </a:cubicBezTo>
                <a:cubicBezTo>
                  <a:pt x="0" y="236863"/>
                  <a:pt x="301128" y="11017"/>
                  <a:pt x="363557" y="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7CDA6B-640A-9793-8EBE-30BB11C55D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93240" y="3541910"/>
            <a:ext cx="2727996" cy="27279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BFCF2-9D35-9D8B-161C-DBE462FFA5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65934" y="3112722"/>
            <a:ext cx="2988064" cy="298806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E461B8AC-5A1B-E9AF-D96F-B50FC46E5908}"/>
              </a:ext>
            </a:extLst>
          </p:cNvPr>
          <p:cNvSpPr/>
          <p:nvPr/>
        </p:nvSpPr>
        <p:spPr>
          <a:xfrm>
            <a:off x="7514580" y="4379494"/>
            <a:ext cx="2007555" cy="1675953"/>
          </a:xfrm>
          <a:custGeom>
            <a:avLst/>
            <a:gdLst>
              <a:gd name="csX0" fmla="*/ 0 w 2007555"/>
              <a:gd name="csY0" fmla="*/ 0 h 1675953"/>
              <a:gd name="csX1" fmla="*/ 247507 w 2007555"/>
              <a:gd name="csY1" fmla="*/ 199381 h 1675953"/>
              <a:gd name="csX2" fmla="*/ 316259 w 2007555"/>
              <a:gd name="csY2" fmla="*/ 948776 h 1675953"/>
              <a:gd name="csX3" fmla="*/ 598142 w 2007555"/>
              <a:gd name="csY3" fmla="*/ 1546917 h 1675953"/>
              <a:gd name="csX4" fmla="*/ 1210033 w 2007555"/>
              <a:gd name="csY4" fmla="*/ 1670671 h 1675953"/>
              <a:gd name="csX5" fmla="*/ 1711922 w 2007555"/>
              <a:gd name="csY5" fmla="*/ 1443790 h 1675953"/>
              <a:gd name="csX6" fmla="*/ 2007555 w 2007555"/>
              <a:gd name="csY6" fmla="*/ 1161907 h 1675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007555" h="1675953">
                <a:moveTo>
                  <a:pt x="0" y="0"/>
                </a:moveTo>
                <a:cubicBezTo>
                  <a:pt x="97398" y="20626"/>
                  <a:pt x="194797" y="41252"/>
                  <a:pt x="247507" y="199381"/>
                </a:cubicBezTo>
                <a:cubicBezTo>
                  <a:pt x="300217" y="357510"/>
                  <a:pt x="257820" y="724187"/>
                  <a:pt x="316259" y="948776"/>
                </a:cubicBezTo>
                <a:cubicBezTo>
                  <a:pt x="374698" y="1173365"/>
                  <a:pt x="449180" y="1426601"/>
                  <a:pt x="598142" y="1546917"/>
                </a:cubicBezTo>
                <a:cubicBezTo>
                  <a:pt x="747104" y="1667233"/>
                  <a:pt x="1024403" y="1687859"/>
                  <a:pt x="1210033" y="1670671"/>
                </a:cubicBezTo>
                <a:cubicBezTo>
                  <a:pt x="1395663" y="1653483"/>
                  <a:pt x="1579002" y="1528584"/>
                  <a:pt x="1711922" y="1443790"/>
                </a:cubicBezTo>
                <a:cubicBezTo>
                  <a:pt x="1844842" y="1358996"/>
                  <a:pt x="1958283" y="1199721"/>
                  <a:pt x="2007555" y="1161907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45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A7488-8865-023E-3446-8BB6C631D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7838C-08D1-03A3-A1BC-D39DD7322440}"/>
              </a:ext>
            </a:extLst>
          </p:cNvPr>
          <p:cNvSpPr txBox="1"/>
          <p:nvPr/>
        </p:nvSpPr>
        <p:spPr>
          <a:xfrm>
            <a:off x="1775636" y="563526"/>
            <a:ext cx="976056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födern</a:t>
            </a:r>
            <a:r>
              <a:rPr lang="en-US" dirty="0"/>
              <a:t> positive </a:t>
            </a:r>
            <a:r>
              <a:rPr lang="en-US" dirty="0" err="1"/>
              <a:t>Punkte</a:t>
            </a:r>
            <a:endParaRPr lang="en-US" dirty="0"/>
          </a:p>
          <a:p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Großstädte</a:t>
            </a:r>
            <a:r>
              <a:rPr lang="en-US" dirty="0"/>
              <a:t> </a:t>
            </a:r>
            <a:r>
              <a:rPr lang="en-US" dirty="0" err="1"/>
              <a:t>gutes</a:t>
            </a:r>
            <a:r>
              <a:rPr lang="en-US" dirty="0"/>
              <a:t> Essen </a:t>
            </a:r>
            <a:r>
              <a:rPr lang="en-US" dirty="0" err="1"/>
              <a:t>bekommen</a:t>
            </a:r>
            <a:endParaRPr lang="en-US" dirty="0"/>
          </a:p>
          <a:p>
            <a:endParaRPr lang="en-US" dirty="0"/>
          </a:p>
          <a:p>
            <a:r>
              <a:rPr lang="en-US" dirty="0"/>
              <a:t>Nicht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Supermarkt</a:t>
            </a:r>
            <a:r>
              <a:rPr lang="en-US" dirty="0"/>
              <a:t> </a:t>
            </a:r>
            <a:r>
              <a:rPr lang="en-US" dirty="0" err="1"/>
              <a:t>massen</a:t>
            </a:r>
            <a:r>
              <a:rPr lang="en-US" dirty="0"/>
              <a:t> </a:t>
            </a:r>
            <a:r>
              <a:rPr lang="en-US" dirty="0" err="1"/>
              <a:t>podurkte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mit</a:t>
            </a:r>
            <a:r>
              <a:rPr lang="en-US" dirty="0"/>
              <a:t> dem Apfel </a:t>
            </a:r>
            <a:r>
              <a:rPr lang="en-US" dirty="0" err="1"/>
              <a:t>größe</a:t>
            </a:r>
            <a:r>
              <a:rPr lang="en-US" dirty="0"/>
              <a:t> Reel – </a:t>
            </a:r>
            <a:r>
              <a:rPr lang="en-US" dirty="0" err="1"/>
              <a:t>nochmal</a:t>
            </a:r>
            <a:r>
              <a:rPr lang="en-US" dirty="0"/>
              <a:t> </a:t>
            </a:r>
            <a:r>
              <a:rPr lang="en-US" dirty="0" err="1"/>
              <a:t>nachlesen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Produktivität</a:t>
            </a:r>
            <a:r>
              <a:rPr lang="en-US" dirty="0"/>
              <a:t> </a:t>
            </a:r>
            <a:r>
              <a:rPr lang="en-US" dirty="0" err="1"/>
              <a:t>steigert</a:t>
            </a:r>
            <a:r>
              <a:rPr lang="en-US" dirty="0"/>
              <a:t> und </a:t>
            </a:r>
            <a:r>
              <a:rPr lang="en-US" dirty="0" err="1"/>
              <a:t>gute</a:t>
            </a:r>
            <a:r>
              <a:rPr lang="en-US" dirty="0"/>
              <a:t> Laune -&gt; </a:t>
            </a:r>
            <a:r>
              <a:rPr lang="en-US" dirty="0" err="1"/>
              <a:t>gutes</a:t>
            </a:r>
            <a:r>
              <a:rPr lang="en-US" dirty="0"/>
              <a:t> </a:t>
            </a:r>
            <a:r>
              <a:rPr lang="en-US" dirty="0" err="1"/>
              <a:t>essen</a:t>
            </a:r>
            <a:r>
              <a:rPr lang="en-US" dirty="0"/>
              <a:t> </a:t>
            </a:r>
            <a:r>
              <a:rPr lang="en-US" dirty="0" err="1"/>
              <a:t>stadt</a:t>
            </a:r>
            <a:r>
              <a:rPr lang="en-US" dirty="0"/>
              <a:t> so </a:t>
            </a:r>
            <a:r>
              <a:rPr lang="en-US" dirty="0" err="1"/>
              <a:t>nen</a:t>
            </a:r>
            <a:r>
              <a:rPr lang="en-US" dirty="0"/>
              <a:t> </a:t>
            </a:r>
            <a:r>
              <a:rPr lang="en-US" dirty="0" err="1"/>
              <a:t>fetten</a:t>
            </a:r>
            <a:r>
              <a:rPr lang="en-US" dirty="0"/>
              <a:t> Fertig </a:t>
            </a:r>
            <a:r>
              <a:rPr lang="en-US" dirty="0" err="1"/>
              <a:t>essen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profitieren</a:t>
            </a:r>
            <a:endParaRPr lang="en-US" dirty="0"/>
          </a:p>
          <a:p>
            <a:r>
              <a:rPr lang="en-US" dirty="0"/>
              <a:t>Kunden </a:t>
            </a:r>
            <a:r>
              <a:rPr lang="en-US" dirty="0" err="1"/>
              <a:t>profitieren</a:t>
            </a:r>
            <a:endParaRPr lang="en-US" dirty="0"/>
          </a:p>
          <a:p>
            <a:r>
              <a:rPr lang="en-US" dirty="0"/>
              <a:t>Locale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verkaufen</a:t>
            </a:r>
            <a:r>
              <a:rPr lang="en-US" dirty="0"/>
              <a:t> (</a:t>
            </a:r>
            <a:r>
              <a:rPr lang="en-US" dirty="0" err="1"/>
              <a:t>Beispielfirma</a:t>
            </a:r>
            <a:r>
              <a:rPr lang="en-US" dirty="0"/>
              <a:t> </a:t>
            </a:r>
            <a:r>
              <a:rPr lang="en-US" dirty="0" err="1"/>
              <a:t>branche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yk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Die </a:t>
            </a:r>
            <a:r>
              <a:rPr lang="en-US" dirty="0" err="1"/>
              <a:t>guten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unterestützen</a:t>
            </a:r>
            <a:endParaRPr lang="en-US" dirty="0"/>
          </a:p>
          <a:p>
            <a:r>
              <a:rPr lang="en-US" dirty="0" err="1"/>
              <a:t>Verhindern</a:t>
            </a:r>
            <a:r>
              <a:rPr lang="en-US" dirty="0"/>
              <a:t> 3d </a:t>
            </a:r>
            <a:r>
              <a:rPr lang="en-US" dirty="0" err="1"/>
              <a:t>gedrucktes</a:t>
            </a:r>
            <a:r>
              <a:rPr lang="en-US" dirty="0"/>
              <a:t> Essen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mittlerweile</a:t>
            </a:r>
            <a:r>
              <a:rPr lang="en-US" dirty="0"/>
              <a:t> </a:t>
            </a:r>
            <a:r>
              <a:rPr lang="en-US" dirty="0" err="1"/>
              <a:t>anscheinend</a:t>
            </a:r>
            <a:r>
              <a:rPr lang="en-US" dirty="0"/>
              <a:t> in Amerika</a:t>
            </a:r>
          </a:p>
          <a:p>
            <a:endParaRPr lang="en-US" dirty="0"/>
          </a:p>
          <a:p>
            <a:r>
              <a:rPr lang="en-US" dirty="0" err="1"/>
              <a:t>Aussicht</a:t>
            </a:r>
            <a:r>
              <a:rPr lang="en-US" dirty="0"/>
              <a:t> auf die Zukunft</a:t>
            </a:r>
          </a:p>
        </p:txBody>
      </p:sp>
    </p:spTree>
    <p:extLst>
      <p:ext uri="{BB962C8B-B14F-4D97-AF65-F5344CB8AC3E}">
        <p14:creationId xmlns:p14="http://schemas.microsoft.com/office/powerpoint/2010/main" val="2234529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D9526-AB9C-71C0-CB96-6EAFB84C3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1A1A54-743A-39D4-E968-662C79D7EE45}"/>
              </a:ext>
            </a:extLst>
          </p:cNvPr>
          <p:cNvSpPr txBox="1"/>
          <p:nvPr/>
        </p:nvSpPr>
        <p:spPr>
          <a:xfrm>
            <a:off x="1775636" y="563526"/>
            <a:ext cx="9760565" cy="1449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 — da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b="1" dirty="0" err="1"/>
              <a:t>gute</a:t>
            </a:r>
            <a:r>
              <a:rPr lang="en-US" b="1" dirty="0"/>
              <a:t> </a:t>
            </a:r>
            <a:r>
              <a:rPr lang="en-US" b="1" dirty="0" err="1"/>
              <a:t>Punkte</a:t>
            </a:r>
            <a:r>
              <a:rPr lang="en-US" b="1" dirty="0"/>
              <a:t> </a:t>
            </a:r>
            <a:r>
              <a:rPr lang="en-US" b="1" dirty="0" err="1"/>
              <a:t>drin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ich </a:t>
            </a:r>
            <a:r>
              <a:rPr lang="en-US" dirty="0" err="1"/>
              <a:t>würde</a:t>
            </a:r>
            <a:r>
              <a:rPr lang="en-US" dirty="0"/>
              <a:t> </a:t>
            </a:r>
            <a:r>
              <a:rPr lang="en-US" dirty="0" err="1"/>
              <a:t>sie</a:t>
            </a:r>
            <a:r>
              <a:rPr lang="en-US" dirty="0"/>
              <a:t> </a:t>
            </a:r>
            <a:r>
              <a:rPr lang="en-US" dirty="0" err="1"/>
              <a:t>sauberer</a:t>
            </a:r>
            <a:r>
              <a:rPr lang="en-US" dirty="0"/>
              <a:t> </a:t>
            </a:r>
            <a:r>
              <a:rPr lang="en-US" dirty="0" err="1"/>
              <a:t>sortieren</a:t>
            </a:r>
            <a:r>
              <a:rPr lang="en-US" dirty="0"/>
              <a:t> und 2–3 Sachen </a:t>
            </a:r>
            <a:r>
              <a:rPr lang="en-US" b="1" dirty="0"/>
              <a:t>nicht so hart </a:t>
            </a:r>
            <a:r>
              <a:rPr lang="en-US" b="1" dirty="0" err="1"/>
              <a:t>behaupten</a:t>
            </a:r>
            <a:r>
              <a:rPr lang="en-US" dirty="0"/>
              <a:t>.</a:t>
            </a:r>
          </a:p>
          <a:p>
            <a:r>
              <a:rPr lang="en-US" b="1" dirty="0"/>
              <a:t>Stark für </a:t>
            </a:r>
            <a:r>
              <a:rPr lang="en-US" b="1" dirty="0" err="1"/>
              <a:t>deine</a:t>
            </a:r>
            <a:r>
              <a:rPr lang="en-US" b="1" dirty="0"/>
              <a:t> </a:t>
            </a:r>
            <a:r>
              <a:rPr lang="en-US" b="1" dirty="0" err="1"/>
              <a:t>Präsentation</a:t>
            </a:r>
            <a:endParaRPr lang="en-US" b="1" dirty="0"/>
          </a:p>
          <a:p>
            <a:pPr lvl="0"/>
            <a:r>
              <a:rPr lang="en-US" b="1" dirty="0" err="1"/>
              <a:t>Großstädte</a:t>
            </a:r>
            <a:r>
              <a:rPr lang="en-US" b="1" dirty="0"/>
              <a:t> </a:t>
            </a:r>
            <a:r>
              <a:rPr lang="en-US" b="1" dirty="0" err="1"/>
              <a:t>bekommen</a:t>
            </a:r>
            <a:r>
              <a:rPr lang="en-US" b="1" dirty="0"/>
              <a:t> </a:t>
            </a:r>
            <a:r>
              <a:rPr lang="en-US" b="1" dirty="0" err="1"/>
              <a:t>leichter</a:t>
            </a:r>
            <a:r>
              <a:rPr lang="en-US" b="1" dirty="0"/>
              <a:t> </a:t>
            </a:r>
            <a:r>
              <a:rPr lang="en-US" b="1" dirty="0" err="1"/>
              <a:t>Zugang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regionalen</a:t>
            </a:r>
            <a:r>
              <a:rPr lang="en-US" b="1" dirty="0"/>
              <a:t> </a:t>
            </a:r>
            <a:r>
              <a:rPr lang="en-US" b="1" dirty="0" err="1"/>
              <a:t>Produkten</a:t>
            </a:r>
            <a:endParaRPr lang="en-US" dirty="0"/>
          </a:p>
          <a:p>
            <a:pPr lvl="0"/>
            <a:r>
              <a:rPr lang="en-US" dirty="0"/>
              <a:t>nicht </a:t>
            </a:r>
            <a:r>
              <a:rPr lang="en-US" dirty="0" err="1"/>
              <a:t>nur</a:t>
            </a:r>
            <a:r>
              <a:rPr lang="en-US" dirty="0"/>
              <a:t> anonyme </a:t>
            </a:r>
            <a:r>
              <a:rPr lang="en-US" dirty="0" err="1"/>
              <a:t>Massenware</a:t>
            </a:r>
            <a:r>
              <a:rPr lang="en-US" dirty="0"/>
              <a:t>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b="1" dirty="0" err="1"/>
              <a:t>Herkunft</a:t>
            </a:r>
            <a:r>
              <a:rPr lang="en-US" b="1" dirty="0"/>
              <a:t> + </a:t>
            </a:r>
            <a:r>
              <a:rPr lang="en-US" b="1" dirty="0" err="1"/>
              <a:t>Produzent</a:t>
            </a:r>
            <a:r>
              <a:rPr lang="en-US" b="1" dirty="0"/>
              <a:t> </a:t>
            </a:r>
            <a:r>
              <a:rPr lang="en-US" b="1" dirty="0" err="1"/>
              <a:t>sichtbar</a:t>
            </a:r>
            <a:endParaRPr lang="en-US" dirty="0"/>
          </a:p>
          <a:p>
            <a:pPr lvl="0"/>
            <a:r>
              <a:rPr lang="en-US" b="1" dirty="0" err="1"/>
              <a:t>Landwirte</a:t>
            </a:r>
            <a:r>
              <a:rPr lang="en-US" b="1" dirty="0"/>
              <a:t> </a:t>
            </a:r>
            <a:r>
              <a:rPr lang="en-US" b="1" dirty="0" err="1"/>
              <a:t>profitieren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zusätzlichen</a:t>
            </a:r>
            <a:r>
              <a:rPr lang="en-US" dirty="0"/>
              <a:t> </a:t>
            </a:r>
            <a:r>
              <a:rPr lang="en-US" dirty="0" err="1"/>
              <a:t>Absatzkanal</a:t>
            </a:r>
            <a:r>
              <a:rPr lang="en-US" dirty="0"/>
              <a:t> und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Kundenzugang</a:t>
            </a:r>
            <a:r>
              <a:rPr lang="en-US" dirty="0"/>
              <a:t>; </a:t>
            </a:r>
            <a:r>
              <a:rPr lang="en-US" dirty="0" err="1"/>
              <a:t>Direktvermarktung</a:t>
            </a:r>
            <a:r>
              <a:rPr lang="en-US" dirty="0"/>
              <a:t> und </a:t>
            </a:r>
            <a:r>
              <a:rPr lang="en-US" dirty="0" err="1"/>
              <a:t>Kooperationen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ihre</a:t>
            </a:r>
            <a:r>
              <a:rPr lang="en-US" dirty="0"/>
              <a:t> </a:t>
            </a:r>
            <a:r>
              <a:rPr lang="en-US" dirty="0" err="1"/>
              <a:t>Marktposition</a:t>
            </a:r>
            <a:r>
              <a:rPr lang="en-US" dirty="0"/>
              <a:t> </a:t>
            </a:r>
            <a:r>
              <a:rPr lang="en-US" dirty="0" err="1"/>
              <a:t>stärken</a:t>
            </a:r>
            <a:r>
              <a:rPr lang="en-US" dirty="0"/>
              <a:t>. </a:t>
            </a:r>
            <a:r>
              <a:rPr lang="en-US" dirty="0">
                <a:hlinkClick r:id="rId2"/>
              </a:rPr>
              <a:t>Landwirtschaft</a:t>
            </a:r>
            <a:endParaRPr lang="en-US" dirty="0"/>
          </a:p>
          <a:p>
            <a:pPr lvl="0"/>
            <a:r>
              <a:rPr lang="en-US" b="1" dirty="0"/>
              <a:t>Kunden </a:t>
            </a:r>
            <a:r>
              <a:rPr lang="en-US" b="1" dirty="0" err="1"/>
              <a:t>profitieren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Regionalität</a:t>
            </a:r>
            <a:r>
              <a:rPr lang="en-US" dirty="0"/>
              <a:t>, </a:t>
            </a:r>
            <a:r>
              <a:rPr lang="en-US" dirty="0" err="1"/>
              <a:t>Transparenz</a:t>
            </a:r>
            <a:r>
              <a:rPr lang="en-US" dirty="0"/>
              <a:t> und </a:t>
            </a:r>
            <a:r>
              <a:rPr lang="en-US" dirty="0" err="1"/>
              <a:t>bequemere</a:t>
            </a:r>
            <a:r>
              <a:rPr lang="en-US" dirty="0"/>
              <a:t> </a:t>
            </a:r>
            <a:r>
              <a:rPr lang="en-US" dirty="0" err="1"/>
              <a:t>Lieferung</a:t>
            </a:r>
            <a:endParaRPr lang="en-US" dirty="0"/>
          </a:p>
          <a:p>
            <a:pPr lvl="0"/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Produkte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tatsächlich</a:t>
            </a:r>
            <a:r>
              <a:rPr lang="en-US" dirty="0"/>
              <a:t> </a:t>
            </a:r>
            <a:r>
              <a:rPr lang="en-US" dirty="0" err="1"/>
              <a:t>gefragt</a:t>
            </a:r>
            <a:r>
              <a:rPr lang="en-US" dirty="0"/>
              <a:t>: 2024 </a:t>
            </a:r>
            <a:r>
              <a:rPr lang="en-US" dirty="0" err="1"/>
              <a:t>achteten</a:t>
            </a:r>
            <a:r>
              <a:rPr lang="en-US" dirty="0"/>
              <a:t> </a:t>
            </a:r>
            <a:r>
              <a:rPr lang="en-US" b="1" dirty="0"/>
              <a:t>77 %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Herkunft</a:t>
            </a:r>
            <a:r>
              <a:rPr lang="en-US" dirty="0"/>
              <a:t>, </a:t>
            </a:r>
            <a:r>
              <a:rPr lang="en-US" b="1" dirty="0"/>
              <a:t>80 %</a:t>
            </a:r>
            <a:r>
              <a:rPr lang="en-US" dirty="0"/>
              <a:t> auf </a:t>
            </a:r>
            <a:r>
              <a:rPr lang="en-US" dirty="0" err="1"/>
              <a:t>Saisonalität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Federal Ministry of Food and Agriculture</a:t>
            </a:r>
            <a:endParaRPr lang="en-US" dirty="0"/>
          </a:p>
          <a:p>
            <a:pPr lvl="0"/>
            <a:r>
              <a:rPr lang="en-US" b="1" dirty="0" err="1"/>
              <a:t>Überschüsse</a:t>
            </a:r>
            <a:r>
              <a:rPr lang="en-US" b="1" dirty="0"/>
              <a:t> / </a:t>
            </a:r>
            <a:r>
              <a:rPr lang="en-US" b="1" dirty="0" err="1"/>
              <a:t>unterschiedliche</a:t>
            </a:r>
            <a:r>
              <a:rPr lang="en-US" b="1" dirty="0"/>
              <a:t> </a:t>
            </a:r>
            <a:r>
              <a:rPr lang="en-US" b="1" dirty="0" err="1"/>
              <a:t>Bestände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Höfen </a:t>
            </a:r>
            <a:r>
              <a:rPr lang="en-US" dirty="0" err="1"/>
              <a:t>besser</a:t>
            </a:r>
            <a:r>
              <a:rPr lang="en-US" dirty="0"/>
              <a:t> </a:t>
            </a:r>
            <a:r>
              <a:rPr lang="en-US" dirty="0" err="1"/>
              <a:t>ausgleichen</a:t>
            </a:r>
            <a:endParaRPr lang="en-US" dirty="0"/>
          </a:p>
          <a:p>
            <a:pPr lvl="0"/>
            <a:r>
              <a:rPr lang="en-US" b="1" dirty="0" err="1"/>
              <a:t>regionale</a:t>
            </a:r>
            <a:r>
              <a:rPr lang="en-US" b="1" dirty="0"/>
              <a:t> </a:t>
            </a:r>
            <a:r>
              <a:rPr lang="en-US" b="1" dirty="0" err="1"/>
              <a:t>Wertschöpfung</a:t>
            </a:r>
            <a:r>
              <a:rPr lang="en-US" dirty="0"/>
              <a:t>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 in der Region</a:t>
            </a:r>
          </a:p>
          <a:p>
            <a:pPr lvl="0"/>
            <a:r>
              <a:rPr lang="en-US" b="1" dirty="0"/>
              <a:t>Zukunft: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einzelnen</a:t>
            </a:r>
            <a:r>
              <a:rPr lang="en-US" dirty="0"/>
              <a:t> </a:t>
            </a:r>
            <a:r>
              <a:rPr lang="en-US" dirty="0" err="1"/>
              <a:t>Höfen</a:t>
            </a:r>
            <a:r>
              <a:rPr lang="en-US" dirty="0"/>
              <a:t> </a:t>
            </a:r>
            <a:r>
              <a:rPr lang="en-US" dirty="0" err="1"/>
              <a:t>entsteht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regionales</a:t>
            </a:r>
            <a:r>
              <a:rPr lang="en-US" dirty="0"/>
              <a:t> </a:t>
            </a:r>
            <a:r>
              <a:rPr lang="en-US" dirty="0" err="1"/>
              <a:t>Netzwerk</a:t>
            </a:r>
            <a:endParaRPr lang="en-US" dirty="0"/>
          </a:p>
          <a:p>
            <a:r>
              <a:rPr lang="en-US" b="1" dirty="0"/>
              <a:t>Apfel-Reel</a:t>
            </a:r>
          </a:p>
          <a:p>
            <a:r>
              <a:rPr lang="en-US" dirty="0"/>
              <a:t>Den </a:t>
            </a:r>
            <a:r>
              <a:rPr lang="en-US" dirty="0" err="1"/>
              <a:t>Punkt</a:t>
            </a:r>
            <a:r>
              <a:rPr lang="en-US" dirty="0"/>
              <a:t> </a:t>
            </a:r>
            <a:r>
              <a:rPr lang="en-US" dirty="0" err="1"/>
              <a:t>kannst</a:t>
            </a:r>
            <a:r>
              <a:rPr lang="en-US" dirty="0"/>
              <a:t> du </a:t>
            </a:r>
            <a:r>
              <a:rPr lang="en-US" dirty="0" err="1"/>
              <a:t>benutzen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b="1" dirty="0"/>
              <a:t>nicht </a:t>
            </a:r>
            <a:r>
              <a:rPr lang="en-US" b="1" dirty="0" err="1"/>
              <a:t>mit</a:t>
            </a:r>
            <a:r>
              <a:rPr lang="en-US" b="1" dirty="0"/>
              <a:t> „</a:t>
            </a:r>
            <a:r>
              <a:rPr lang="en-US" b="1" dirty="0" err="1"/>
              <a:t>über</a:t>
            </a:r>
            <a:r>
              <a:rPr lang="en-US" b="1" dirty="0"/>
              <a:t> 10 cm </a:t>
            </a:r>
            <a:r>
              <a:rPr lang="en-US" b="1" dirty="0" err="1"/>
              <a:t>darf</a:t>
            </a:r>
            <a:r>
              <a:rPr lang="en-US" b="1" dirty="0"/>
              <a:t> er nicht </a:t>
            </a:r>
            <a:r>
              <a:rPr lang="en-US" b="1" dirty="0" err="1"/>
              <a:t>verkauft</a:t>
            </a:r>
            <a:r>
              <a:rPr lang="en-US" b="1" dirty="0"/>
              <a:t> </a:t>
            </a:r>
            <a:r>
              <a:rPr lang="en-US" b="1" dirty="0" err="1"/>
              <a:t>werden</a:t>
            </a:r>
            <a:r>
              <a:rPr lang="en-US" b="1" dirty="0"/>
              <a:t>“</a:t>
            </a:r>
            <a:r>
              <a:rPr lang="en-US" dirty="0"/>
              <a:t>. Die EU-Norm </a:t>
            </a:r>
            <a:r>
              <a:rPr lang="en-US" dirty="0" err="1"/>
              <a:t>kennt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allem</a:t>
            </a:r>
            <a:r>
              <a:rPr lang="en-US" dirty="0"/>
              <a:t> </a:t>
            </a:r>
            <a:r>
              <a:rPr lang="en-US" dirty="0" err="1"/>
              <a:t>Mindestgrößen</a:t>
            </a:r>
            <a:r>
              <a:rPr lang="en-US" dirty="0"/>
              <a:t> und </a:t>
            </a:r>
            <a:r>
              <a:rPr lang="en-US" dirty="0" err="1"/>
              <a:t>Vorgaben</a:t>
            </a:r>
            <a:r>
              <a:rPr lang="en-US" dirty="0"/>
              <a:t>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Größen-Gleichmäßigkeit</a:t>
            </a:r>
            <a:r>
              <a:rPr lang="en-US" dirty="0"/>
              <a:t> </a:t>
            </a:r>
            <a:r>
              <a:rPr lang="en-US" dirty="0" err="1"/>
              <a:t>innerhalb</a:t>
            </a:r>
            <a:r>
              <a:rPr lang="en-US" dirty="0"/>
              <a:t> </a:t>
            </a:r>
            <a:r>
              <a:rPr lang="en-US" dirty="0" err="1"/>
              <a:t>bestimmter</a:t>
            </a:r>
            <a:r>
              <a:rPr lang="en-US" dirty="0"/>
              <a:t> </a:t>
            </a:r>
            <a:r>
              <a:rPr lang="en-US" dirty="0" err="1"/>
              <a:t>Packungen</a:t>
            </a:r>
            <a:r>
              <a:rPr lang="en-US" dirty="0"/>
              <a:t>;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allgemeines</a:t>
            </a:r>
            <a:r>
              <a:rPr lang="en-US" dirty="0"/>
              <a:t> Maximum von 10 cm </a:t>
            </a:r>
            <a:r>
              <a:rPr lang="en-US" dirty="0" err="1"/>
              <a:t>gibt</a:t>
            </a:r>
            <a:r>
              <a:rPr lang="en-US" dirty="0"/>
              <a:t> es nicht. </a:t>
            </a:r>
            <a:r>
              <a:rPr lang="en-US" dirty="0">
                <a:hlinkClick r:id="rId4"/>
              </a:rPr>
              <a:t>Eur-Lex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„Auch </a:t>
            </a:r>
            <a:r>
              <a:rPr lang="en-US" dirty="0" err="1"/>
              <a:t>einwandfreie</a:t>
            </a:r>
            <a:r>
              <a:rPr lang="en-US" dirty="0"/>
              <a:t> </a:t>
            </a:r>
            <a:r>
              <a:rPr lang="en-US" dirty="0" err="1"/>
              <a:t>Lebensmittel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wegen</a:t>
            </a:r>
            <a:r>
              <a:rPr lang="en-US" dirty="0"/>
              <a:t> Handels-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Sortieranforderungen</a:t>
            </a:r>
            <a:r>
              <a:rPr lang="en-US" dirty="0"/>
              <a:t> </a:t>
            </a:r>
            <a:r>
              <a:rPr lang="en-US" dirty="0" err="1"/>
              <a:t>schlechter</a:t>
            </a:r>
            <a:r>
              <a:rPr lang="en-US" dirty="0"/>
              <a:t> </a:t>
            </a:r>
            <a:r>
              <a:rPr lang="en-US" dirty="0" err="1"/>
              <a:t>vermarktbar</a:t>
            </a:r>
            <a:r>
              <a:rPr lang="en-US" dirty="0"/>
              <a:t> sein.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schafft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zusätzlichen</a:t>
            </a:r>
            <a:r>
              <a:rPr lang="en-US" dirty="0"/>
              <a:t>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Absatzweg</a:t>
            </a:r>
            <a:r>
              <a:rPr lang="en-US" dirty="0"/>
              <a:t>.“</a:t>
            </a:r>
          </a:p>
          <a:p>
            <a:r>
              <a:rPr lang="en-US" b="1" dirty="0"/>
              <a:t>„Gutes Essen → </a:t>
            </a:r>
            <a:r>
              <a:rPr lang="en-US" b="1" dirty="0" err="1"/>
              <a:t>gute</a:t>
            </a:r>
            <a:r>
              <a:rPr lang="en-US" b="1" dirty="0"/>
              <a:t> Laune / </a:t>
            </a:r>
            <a:r>
              <a:rPr lang="en-US" b="1" dirty="0" err="1"/>
              <a:t>Produktivität</a:t>
            </a:r>
            <a:r>
              <a:rPr lang="en-US" b="1" dirty="0"/>
              <a:t>“</a:t>
            </a:r>
          </a:p>
          <a:p>
            <a:r>
              <a:rPr lang="en-US" dirty="0" err="1"/>
              <a:t>Kannst</a:t>
            </a:r>
            <a:r>
              <a:rPr lang="en-US" dirty="0"/>
              <a:t> du </a:t>
            </a:r>
            <a:r>
              <a:rPr lang="en-US" b="1" dirty="0" err="1"/>
              <a:t>vorsichtig</a:t>
            </a:r>
            <a:r>
              <a:rPr lang="en-US" dirty="0"/>
              <a:t> </a:t>
            </a:r>
            <a:r>
              <a:rPr lang="en-US" dirty="0" err="1"/>
              <a:t>sagen</a:t>
            </a:r>
            <a:r>
              <a:rPr lang="en-US" dirty="0"/>
              <a:t>. Gesündere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besserem</a:t>
            </a:r>
            <a:r>
              <a:rPr lang="en-US" dirty="0"/>
              <a:t> </a:t>
            </a:r>
            <a:r>
              <a:rPr lang="en-US" dirty="0" err="1"/>
              <a:t>Wohlbefinden</a:t>
            </a:r>
            <a:r>
              <a:rPr lang="en-US" dirty="0"/>
              <a:t> in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gebracht</a:t>
            </a:r>
            <a:r>
              <a:rPr lang="en-US" dirty="0"/>
              <a:t>, und </a:t>
            </a:r>
            <a:r>
              <a:rPr lang="en-US" dirty="0" err="1"/>
              <a:t>Arbeitsplatzstudien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Hinweise</a:t>
            </a:r>
            <a:r>
              <a:rPr lang="en-US" dirty="0"/>
              <a:t> auf positive </a:t>
            </a:r>
            <a:r>
              <a:rPr lang="en-US" dirty="0" err="1"/>
              <a:t>Effekte</a:t>
            </a:r>
            <a:r>
              <a:rPr lang="en-US" dirty="0"/>
              <a:t> auf </a:t>
            </a:r>
            <a:r>
              <a:rPr lang="en-US" dirty="0" err="1"/>
              <a:t>Fehlzeiten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Produktivität</a:t>
            </a:r>
            <a:r>
              <a:rPr lang="en-US" dirty="0"/>
              <a:t>. Aber nicht </a:t>
            </a:r>
            <a:r>
              <a:rPr lang="en-US" dirty="0" err="1"/>
              <a:t>sagen</a:t>
            </a:r>
            <a:r>
              <a:rPr lang="en-US" dirty="0"/>
              <a:t>: </a:t>
            </a:r>
            <a:r>
              <a:rPr lang="en-US" b="1" dirty="0"/>
              <a:t>„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steigert</a:t>
            </a:r>
            <a:r>
              <a:rPr lang="en-US" b="1" dirty="0"/>
              <a:t> die </a:t>
            </a:r>
            <a:r>
              <a:rPr lang="en-US" b="1" dirty="0" err="1"/>
              <a:t>Produktivität</a:t>
            </a:r>
            <a:r>
              <a:rPr lang="en-US" b="1" dirty="0"/>
              <a:t> der Stadt.“</a:t>
            </a:r>
            <a:r>
              <a:rPr lang="en-US" dirty="0"/>
              <a:t> Das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groß</a:t>
            </a:r>
            <a:r>
              <a:rPr lang="en-US" dirty="0"/>
              <a:t>. </a:t>
            </a:r>
            <a:r>
              <a:rPr lang="en-US" dirty="0">
                <a:hlinkClick r:id="rId5"/>
              </a:rPr>
              <a:t>PubMed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</a:t>
            </a:r>
            <a:r>
              <a:rPr lang="en-US" dirty="0" err="1"/>
              <a:t>Einfacher</a:t>
            </a:r>
            <a:r>
              <a:rPr lang="en-US" dirty="0"/>
              <a:t> </a:t>
            </a:r>
            <a:r>
              <a:rPr lang="en-US" dirty="0" err="1"/>
              <a:t>Zugang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frischen</a:t>
            </a:r>
            <a:r>
              <a:rPr lang="en-US" dirty="0"/>
              <a:t> </a:t>
            </a:r>
            <a:r>
              <a:rPr lang="en-US" dirty="0" err="1"/>
              <a:t>Lebensmitteln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gesündere</a:t>
            </a:r>
            <a:r>
              <a:rPr lang="en-US" dirty="0"/>
              <a:t>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unterstützen</a:t>
            </a:r>
            <a:r>
              <a:rPr lang="en-US" dirty="0"/>
              <a:t>.“</a:t>
            </a:r>
          </a:p>
          <a:p>
            <a:r>
              <a:rPr lang="en-US" b="1" dirty="0"/>
              <a:t>3D-gedrucktes Essen</a:t>
            </a:r>
          </a:p>
          <a:p>
            <a:r>
              <a:rPr lang="en-US" dirty="0"/>
              <a:t>Das </a:t>
            </a:r>
            <a:r>
              <a:rPr lang="en-US" dirty="0" err="1"/>
              <a:t>würde</a:t>
            </a:r>
            <a:r>
              <a:rPr lang="en-US" dirty="0"/>
              <a:t> ich </a:t>
            </a:r>
            <a:r>
              <a:rPr lang="en-US" b="1" dirty="0"/>
              <a:t>nicht </a:t>
            </a:r>
            <a:r>
              <a:rPr lang="en-US" b="1" dirty="0" err="1"/>
              <a:t>als</a:t>
            </a:r>
            <a:r>
              <a:rPr lang="en-US" b="1" dirty="0"/>
              <a:t> ‚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verhindert</a:t>
            </a:r>
            <a:r>
              <a:rPr lang="en-US" b="1" dirty="0"/>
              <a:t> 3D-Essen‘</a:t>
            </a:r>
            <a:r>
              <a:rPr lang="en-US" dirty="0"/>
              <a:t> </a:t>
            </a:r>
            <a:r>
              <a:rPr lang="en-US" dirty="0" err="1"/>
              <a:t>formulieren</a:t>
            </a:r>
            <a:r>
              <a:rPr lang="en-US" dirty="0"/>
              <a:t>. Das </a:t>
            </a:r>
            <a:r>
              <a:rPr lang="en-US" dirty="0" err="1"/>
              <a:t>klingt</a:t>
            </a:r>
            <a:r>
              <a:rPr lang="en-US" dirty="0"/>
              <a:t> schnell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dramatisch</a:t>
            </a:r>
            <a:r>
              <a:rPr lang="en-US" dirty="0"/>
              <a:t>.</a:t>
            </a:r>
          </a:p>
          <a:p>
            <a:r>
              <a:rPr lang="en-US" dirty="0"/>
              <a:t>Aber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Zukunftskontrast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es </a:t>
            </a:r>
            <a:r>
              <a:rPr lang="en-US" dirty="0" err="1"/>
              <a:t>interessant</a:t>
            </a:r>
            <a:r>
              <a:rPr lang="en-US" dirty="0"/>
              <a:t>: In den USA </a:t>
            </a:r>
            <a:r>
              <a:rPr lang="en-US" dirty="0" err="1"/>
              <a:t>gibt</a:t>
            </a:r>
            <a:r>
              <a:rPr lang="en-US" dirty="0"/>
              <a:t> es </a:t>
            </a:r>
            <a:r>
              <a:rPr lang="en-US" dirty="0" err="1"/>
              <a:t>inzwischen</a:t>
            </a:r>
            <a:r>
              <a:rPr lang="en-US" dirty="0"/>
              <a:t> </a:t>
            </a:r>
            <a:r>
              <a:rPr lang="en-US" dirty="0" err="1"/>
              <a:t>erste</a:t>
            </a:r>
            <a:r>
              <a:rPr lang="en-US" dirty="0"/>
              <a:t> </a:t>
            </a:r>
            <a:r>
              <a:rPr lang="en-US" dirty="0" err="1"/>
              <a:t>kommerzielle</a:t>
            </a:r>
            <a:r>
              <a:rPr lang="en-US" dirty="0"/>
              <a:t> </a:t>
            </a:r>
            <a:r>
              <a:rPr lang="en-US" b="1" dirty="0"/>
              <a:t>3D-gedruckte </a:t>
            </a:r>
            <a:r>
              <a:rPr lang="en-US" b="1" dirty="0" err="1"/>
              <a:t>pflanzliche</a:t>
            </a:r>
            <a:r>
              <a:rPr lang="en-US" b="1" dirty="0"/>
              <a:t> </a:t>
            </a:r>
            <a:r>
              <a:rPr lang="en-US" b="1" dirty="0" err="1"/>
              <a:t>Fleischalternativen</a:t>
            </a:r>
            <a:r>
              <a:rPr lang="en-US" dirty="0"/>
              <a:t>, </a:t>
            </a:r>
            <a:r>
              <a:rPr lang="en-US" dirty="0" err="1"/>
              <a:t>derzeit</a:t>
            </a:r>
            <a:r>
              <a:rPr lang="en-US" dirty="0"/>
              <a:t>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begrenzt</a:t>
            </a:r>
            <a:r>
              <a:rPr lang="en-US" dirty="0"/>
              <a:t> und nicht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heimlich</a:t>
            </a:r>
            <a:r>
              <a:rPr lang="en-US" dirty="0"/>
              <a:t> </a:t>
            </a:r>
            <a:r>
              <a:rPr lang="en-US" dirty="0" err="1"/>
              <a:t>ersetztes</a:t>
            </a:r>
            <a:r>
              <a:rPr lang="en-US" dirty="0"/>
              <a:t> </a:t>
            </a:r>
            <a:r>
              <a:rPr lang="en-US" dirty="0" err="1"/>
              <a:t>normales</a:t>
            </a:r>
            <a:r>
              <a:rPr lang="en-US" dirty="0"/>
              <a:t> Fleisch. </a:t>
            </a:r>
            <a:r>
              <a:rPr lang="en-US" dirty="0">
                <a:hlinkClick r:id="rId6"/>
              </a:rPr>
              <a:t>Inc.com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</a:t>
            </a:r>
            <a:r>
              <a:rPr lang="en-US" dirty="0" err="1"/>
              <a:t>Während</a:t>
            </a:r>
            <a:r>
              <a:rPr lang="en-US" dirty="0"/>
              <a:t> </a:t>
            </a:r>
            <a:r>
              <a:rPr lang="en-US" dirty="0" err="1"/>
              <a:t>Lebensmittelproduktion</a:t>
            </a:r>
            <a:r>
              <a:rPr lang="en-US" dirty="0"/>
              <a:t> immer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industrialisiert</a:t>
            </a:r>
            <a:r>
              <a:rPr lang="en-US" dirty="0"/>
              <a:t> und </a:t>
            </a:r>
            <a:r>
              <a:rPr lang="en-US" dirty="0" err="1"/>
              <a:t>technologisiert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, </a:t>
            </a:r>
            <a:r>
              <a:rPr lang="en-US" dirty="0" err="1"/>
              <a:t>setzt</a:t>
            </a:r>
            <a:r>
              <a:rPr lang="en-US" dirty="0"/>
              <a:t>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bewusst</a:t>
            </a:r>
            <a:r>
              <a:rPr lang="en-US" dirty="0"/>
              <a:t> auf </a:t>
            </a:r>
            <a:r>
              <a:rPr lang="en-US" dirty="0" err="1"/>
              <a:t>Transparenz</a:t>
            </a:r>
            <a:r>
              <a:rPr lang="en-US" dirty="0"/>
              <a:t>: Der Kunde </a:t>
            </a:r>
            <a:r>
              <a:rPr lang="en-US" dirty="0" err="1"/>
              <a:t>weiß</a:t>
            </a:r>
            <a:r>
              <a:rPr lang="en-US" dirty="0"/>
              <a:t>, von </a:t>
            </a:r>
            <a:r>
              <a:rPr lang="en-US" dirty="0" err="1"/>
              <a:t>welchem</a:t>
            </a:r>
            <a:r>
              <a:rPr lang="en-US" dirty="0"/>
              <a:t> Hof sein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kommt</a:t>
            </a:r>
            <a:r>
              <a:rPr lang="en-US" dirty="0"/>
              <a:t>.“</a:t>
            </a:r>
          </a:p>
          <a:p>
            <a:r>
              <a:rPr lang="en-US" b="1" dirty="0"/>
              <a:t>Daraus </a:t>
            </a:r>
            <a:r>
              <a:rPr lang="en-US" b="1" dirty="0" err="1"/>
              <a:t>würde</a:t>
            </a:r>
            <a:r>
              <a:rPr lang="en-US" b="1" dirty="0"/>
              <a:t> ich </a:t>
            </a:r>
            <a:r>
              <a:rPr lang="en-US" b="1" dirty="0" err="1"/>
              <a:t>deine</a:t>
            </a:r>
            <a:r>
              <a:rPr lang="en-US" b="1" dirty="0"/>
              <a:t> </a:t>
            </a:r>
            <a:r>
              <a:rPr lang="en-US" b="1" dirty="0" err="1"/>
              <a:t>Schlussargumentation</a:t>
            </a:r>
            <a:r>
              <a:rPr lang="en-US" b="1" dirty="0"/>
              <a:t> </a:t>
            </a:r>
            <a:r>
              <a:rPr lang="en-US" b="1" dirty="0" err="1"/>
              <a:t>machen</a:t>
            </a:r>
            <a:endParaRPr lang="en-US" b="1" dirty="0"/>
          </a:p>
          <a:p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schafft</a:t>
            </a:r>
            <a:r>
              <a:rPr lang="en-US" b="1" dirty="0"/>
              <a:t> </a:t>
            </a:r>
            <a:r>
              <a:rPr lang="en-US" b="1" dirty="0" err="1"/>
              <a:t>Mehrwert</a:t>
            </a:r>
            <a:r>
              <a:rPr lang="en-US" b="1" dirty="0"/>
              <a:t> für …</a:t>
            </a:r>
            <a:endParaRPr lang="en-US" dirty="0"/>
          </a:p>
          <a:p>
            <a:r>
              <a:rPr lang="en-US" b="1" dirty="0"/>
              <a:t>Kunden</a:t>
            </a:r>
            <a:br>
              <a:rPr lang="en-US" dirty="0"/>
            </a:br>
            <a:r>
              <a:rPr lang="en-US" dirty="0"/>
              <a:t>→ regional, </a:t>
            </a:r>
            <a:r>
              <a:rPr lang="en-US" dirty="0" err="1"/>
              <a:t>frisch</a:t>
            </a:r>
            <a:r>
              <a:rPr lang="en-US" dirty="0"/>
              <a:t>, transparent, </a:t>
            </a:r>
            <a:r>
              <a:rPr lang="en-US" dirty="0" err="1"/>
              <a:t>bequem</a:t>
            </a:r>
            <a:endParaRPr lang="en-US" dirty="0"/>
          </a:p>
          <a:p>
            <a:r>
              <a:rPr lang="en-US" b="1" dirty="0" err="1"/>
              <a:t>Landwirte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zusätzlicher</a:t>
            </a:r>
            <a:r>
              <a:rPr lang="en-US" dirty="0"/>
              <a:t> </a:t>
            </a:r>
            <a:r>
              <a:rPr lang="en-US" dirty="0" err="1"/>
              <a:t>Absatz</a:t>
            </a:r>
            <a:r>
              <a:rPr lang="en-US" dirty="0"/>
              <a:t>, </a:t>
            </a:r>
            <a:r>
              <a:rPr lang="en-US" dirty="0" err="1"/>
              <a:t>Sichtbarkeit</a:t>
            </a:r>
            <a:r>
              <a:rPr lang="en-US" dirty="0"/>
              <a:t>, </a:t>
            </a:r>
            <a:r>
              <a:rPr lang="en-US" dirty="0" err="1"/>
              <a:t>direkter</a:t>
            </a:r>
            <a:r>
              <a:rPr lang="en-US" dirty="0"/>
              <a:t> </a:t>
            </a:r>
            <a:r>
              <a:rPr lang="en-US" dirty="0" err="1"/>
              <a:t>Kundenzugang</a:t>
            </a:r>
            <a:endParaRPr lang="en-US" dirty="0"/>
          </a:p>
          <a:p>
            <a:r>
              <a:rPr lang="en-US" b="1" dirty="0"/>
              <a:t>Region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lokale</a:t>
            </a:r>
            <a:r>
              <a:rPr lang="en-US" dirty="0"/>
              <a:t> </a:t>
            </a:r>
            <a:r>
              <a:rPr lang="en-US" dirty="0" err="1"/>
              <a:t>Wertschöpfung</a:t>
            </a:r>
            <a:r>
              <a:rPr lang="en-US" dirty="0"/>
              <a:t>, </a:t>
            </a:r>
            <a:r>
              <a:rPr lang="en-US" dirty="0" err="1"/>
              <a:t>Höfe</a:t>
            </a:r>
            <a:r>
              <a:rPr lang="en-US" dirty="0"/>
              <a:t> </a:t>
            </a:r>
            <a:r>
              <a:rPr lang="en-US" dirty="0" err="1"/>
              <a:t>miteinander</a:t>
            </a:r>
            <a:r>
              <a:rPr lang="en-US" dirty="0"/>
              <a:t> </a:t>
            </a:r>
            <a:r>
              <a:rPr lang="en-US" dirty="0" err="1"/>
              <a:t>vernetzen</a:t>
            </a:r>
            <a:endParaRPr lang="en-US" dirty="0"/>
          </a:p>
          <a:p>
            <a:r>
              <a:rPr lang="en-US" b="1" dirty="0"/>
              <a:t>Umwelt / </a:t>
            </a:r>
            <a:r>
              <a:rPr lang="en-US" b="1" dirty="0" err="1"/>
              <a:t>Ressourcen</a:t>
            </a:r>
            <a:br>
              <a:rPr lang="en-US" dirty="0"/>
            </a:br>
            <a:r>
              <a:rPr lang="en-US" dirty="0"/>
              <a:t>→ Touren </a:t>
            </a:r>
            <a:r>
              <a:rPr lang="en-US" dirty="0" err="1"/>
              <a:t>bündeln</a:t>
            </a:r>
            <a:r>
              <a:rPr lang="en-US" dirty="0"/>
              <a:t>, </a:t>
            </a:r>
            <a:r>
              <a:rPr lang="en-US" dirty="0" err="1"/>
              <a:t>Überschüsse</a:t>
            </a:r>
            <a:r>
              <a:rPr lang="en-US" dirty="0"/>
              <a:t> </a:t>
            </a:r>
            <a:r>
              <a:rPr lang="en-US" dirty="0" err="1"/>
              <a:t>besser</a:t>
            </a:r>
            <a:r>
              <a:rPr lang="en-US" dirty="0"/>
              <a:t> </a:t>
            </a:r>
            <a:r>
              <a:rPr lang="en-US" dirty="0" err="1"/>
              <a:t>nutzen</a:t>
            </a:r>
            <a:r>
              <a:rPr lang="en-US" dirty="0"/>
              <a:t>, </a:t>
            </a:r>
            <a:r>
              <a:rPr lang="en-US" dirty="0" err="1"/>
              <a:t>Mehrweg</a:t>
            </a:r>
            <a:endParaRPr lang="en-US" dirty="0"/>
          </a:p>
          <a:p>
            <a:r>
              <a:rPr lang="en-US" b="1" dirty="0"/>
              <a:t>Zukunft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skalierbares</a:t>
            </a:r>
            <a:r>
              <a:rPr lang="en-US" dirty="0"/>
              <a:t> </a:t>
            </a:r>
            <a:r>
              <a:rPr lang="en-US" dirty="0" err="1"/>
              <a:t>regionales</a:t>
            </a:r>
            <a:r>
              <a:rPr lang="en-US" dirty="0"/>
              <a:t> </a:t>
            </a:r>
            <a:r>
              <a:rPr lang="en-US" dirty="0" err="1"/>
              <a:t>Netzwerk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anonymer</a:t>
            </a:r>
            <a:r>
              <a:rPr lang="en-US" dirty="0"/>
              <a:t> </a:t>
            </a:r>
            <a:r>
              <a:rPr lang="en-US" dirty="0" err="1"/>
              <a:t>Lieferkette</a:t>
            </a:r>
            <a:endParaRPr lang="en-US" dirty="0"/>
          </a:p>
          <a:p>
            <a:r>
              <a:rPr lang="en-US" dirty="0"/>
              <a:t>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dein</a:t>
            </a:r>
            <a:r>
              <a:rPr lang="en-US" dirty="0"/>
              <a:t> </a:t>
            </a:r>
            <a:r>
              <a:rPr lang="en-US" dirty="0" err="1"/>
              <a:t>letzter</a:t>
            </a:r>
            <a:r>
              <a:rPr lang="en-US" dirty="0"/>
              <a:t> Gedanke:</a:t>
            </a:r>
          </a:p>
          <a:p>
            <a:r>
              <a:rPr lang="en-US" b="1" dirty="0"/>
              <a:t>„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bringt</a:t>
            </a:r>
            <a:r>
              <a:rPr lang="en-US" b="1" dirty="0"/>
              <a:t> nicht </a:t>
            </a:r>
            <a:r>
              <a:rPr lang="en-US" b="1" dirty="0" err="1"/>
              <a:t>einfach</a:t>
            </a:r>
            <a:r>
              <a:rPr lang="en-US" b="1" dirty="0"/>
              <a:t> </a:t>
            </a:r>
            <a:r>
              <a:rPr lang="en-US" b="1" dirty="0" err="1"/>
              <a:t>Lebensmittel</a:t>
            </a:r>
            <a:r>
              <a:rPr lang="en-US" b="1" dirty="0"/>
              <a:t> von A </a:t>
            </a:r>
            <a:r>
              <a:rPr lang="en-US" b="1" dirty="0" err="1"/>
              <a:t>nach</a:t>
            </a:r>
            <a:r>
              <a:rPr lang="en-US" b="1" dirty="0"/>
              <a:t> B, </a:t>
            </a:r>
            <a:r>
              <a:rPr lang="en-US" b="1" dirty="0" err="1"/>
              <a:t>sondern</a:t>
            </a:r>
            <a:r>
              <a:rPr lang="en-US" b="1" dirty="0"/>
              <a:t> </a:t>
            </a:r>
            <a:r>
              <a:rPr lang="en-US" b="1" dirty="0" err="1"/>
              <a:t>verbindet</a:t>
            </a:r>
            <a:r>
              <a:rPr lang="en-US" b="1" dirty="0"/>
              <a:t> Kunden, </a:t>
            </a:r>
            <a:r>
              <a:rPr lang="en-US" b="1" dirty="0" err="1"/>
              <a:t>Landwirte</a:t>
            </a:r>
            <a:r>
              <a:rPr lang="en-US" b="1" dirty="0"/>
              <a:t> und </a:t>
            </a:r>
            <a:r>
              <a:rPr lang="en-US" b="1" dirty="0" err="1"/>
              <a:t>regionale</a:t>
            </a:r>
            <a:r>
              <a:rPr lang="en-US" b="1" dirty="0"/>
              <a:t> </a:t>
            </a:r>
            <a:r>
              <a:rPr lang="en-US" b="1" dirty="0" err="1"/>
              <a:t>Versorgung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einem</a:t>
            </a:r>
            <a:r>
              <a:rPr lang="en-US" b="1" dirty="0"/>
              <a:t> </a:t>
            </a:r>
            <a:r>
              <a:rPr lang="en-US" b="1" dirty="0" err="1"/>
              <a:t>gemeinsamen</a:t>
            </a:r>
            <a:r>
              <a:rPr lang="en-US" b="1" dirty="0"/>
              <a:t> </a:t>
            </a:r>
            <a:r>
              <a:rPr lang="en-US" b="1" dirty="0" err="1"/>
              <a:t>Netzwerk</a:t>
            </a:r>
            <a:r>
              <a:rPr lang="en-US" b="1" dirty="0"/>
              <a:t>.“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würde</a:t>
            </a:r>
            <a:r>
              <a:rPr lang="en-US" dirty="0"/>
              <a:t> ich </a:t>
            </a:r>
            <a:r>
              <a:rPr lang="en-US" dirty="0" err="1"/>
              <a:t>deutlich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finden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„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verhindern</a:t>
            </a:r>
            <a:r>
              <a:rPr lang="en-US" dirty="0"/>
              <a:t> 3D-gedrucktes Essen“.</a:t>
            </a:r>
          </a:p>
        </p:txBody>
      </p:sp>
    </p:spTree>
    <p:extLst>
      <p:ext uri="{BB962C8B-B14F-4D97-AF65-F5344CB8AC3E}">
        <p14:creationId xmlns:p14="http://schemas.microsoft.com/office/powerpoint/2010/main" val="2874740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80B63-B67C-328C-46AA-D855BA62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82F456-1D7F-6A47-D832-AFBCB3099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743" y="389287"/>
            <a:ext cx="9119140" cy="607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892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CAD6B-53F2-B1D9-2A31-A1616D437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39FB2D-1CF2-6645-EF9A-6757F03F9311}"/>
              </a:ext>
            </a:extLst>
          </p:cNvPr>
          <p:cNvSpPr txBox="1"/>
          <p:nvPr/>
        </p:nvSpPr>
        <p:spPr>
          <a:xfrm>
            <a:off x="1775636" y="563526"/>
            <a:ext cx="976056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Ja, </a:t>
            </a:r>
            <a:r>
              <a:rPr lang="en-US" dirty="0" err="1"/>
              <a:t>Risiken</a:t>
            </a:r>
            <a:r>
              <a:rPr lang="en-US" dirty="0"/>
              <a:t> </a:t>
            </a:r>
            <a:r>
              <a:rPr lang="en-US" dirty="0" err="1"/>
              <a:t>machen</a:t>
            </a:r>
            <a:r>
              <a:rPr lang="en-US" dirty="0"/>
              <a:t> </a:t>
            </a:r>
            <a:r>
              <a:rPr lang="en-US" dirty="0" err="1"/>
              <a:t>absolut</a:t>
            </a:r>
            <a:r>
              <a:rPr lang="en-US" dirty="0"/>
              <a:t> Sinn — </a:t>
            </a:r>
            <a:r>
              <a:rPr lang="en-US" dirty="0" err="1"/>
              <a:t>gerade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Fazit</a:t>
            </a:r>
            <a:r>
              <a:rPr lang="en-US" dirty="0"/>
              <a:t> </a:t>
            </a:r>
            <a:r>
              <a:rPr lang="en-US" dirty="0" err="1"/>
              <a:t>wirkt</a:t>
            </a:r>
            <a:r>
              <a:rPr lang="en-US" dirty="0"/>
              <a:t> es </a:t>
            </a:r>
            <a:r>
              <a:rPr lang="en-US" dirty="0" err="1"/>
              <a:t>sogar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, </a:t>
            </a: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ihr</a:t>
            </a:r>
            <a:r>
              <a:rPr lang="en-US" dirty="0"/>
              <a:t> nicht so tut,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alles</a:t>
            </a:r>
            <a:r>
              <a:rPr lang="en-US" dirty="0"/>
              <a:t> </a:t>
            </a:r>
            <a:r>
              <a:rPr lang="en-US" dirty="0" err="1"/>
              <a:t>perfekt</a:t>
            </a:r>
            <a:r>
              <a:rPr lang="en-US" dirty="0"/>
              <a:t>.</a:t>
            </a:r>
          </a:p>
          <a:p>
            <a:r>
              <a:rPr lang="en-US" dirty="0"/>
              <a:t>Ich </a:t>
            </a:r>
            <a:r>
              <a:rPr lang="en-US" dirty="0" err="1"/>
              <a:t>würde</a:t>
            </a:r>
            <a:r>
              <a:rPr lang="en-US" dirty="0"/>
              <a:t> es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weniger</a:t>
            </a:r>
            <a:r>
              <a:rPr lang="en-US" dirty="0"/>
              <a:t> </a:t>
            </a:r>
            <a:r>
              <a:rPr lang="en-US" dirty="0" err="1"/>
              <a:t>negativ</a:t>
            </a:r>
            <a:r>
              <a:rPr lang="en-US" dirty="0"/>
              <a:t> </a:t>
            </a:r>
            <a:r>
              <a:rPr lang="en-US" dirty="0" err="1"/>
              <a:t>formulieren</a:t>
            </a:r>
            <a:r>
              <a:rPr lang="en-US" dirty="0"/>
              <a:t> und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nennen</a:t>
            </a:r>
            <a:r>
              <a:rPr lang="en-US" dirty="0"/>
              <a:t>:</a:t>
            </a:r>
          </a:p>
          <a:p>
            <a:r>
              <a:rPr lang="en-US" dirty="0" err="1"/>
              <a:t>Herausforderungen</a:t>
            </a:r>
            <a:r>
              <a:rPr lang="en-US" dirty="0"/>
              <a:t> &amp; Erfolgsfaktoren</a:t>
            </a:r>
          </a:p>
          <a:p>
            <a:r>
              <a:rPr lang="en-US" dirty="0" err="1"/>
              <a:t>Genügend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und Kunden </a:t>
            </a:r>
            <a:r>
              <a:rPr lang="en-US" dirty="0" err="1"/>
              <a:t>gewinnen</a:t>
            </a:r>
            <a:endParaRPr lang="en-US" dirty="0"/>
          </a:p>
          <a:p>
            <a:r>
              <a:rPr lang="en-US" dirty="0"/>
              <a:t>Logistik </a:t>
            </a:r>
            <a:r>
              <a:rPr lang="en-US" dirty="0" err="1"/>
              <a:t>effizient</a:t>
            </a:r>
            <a:r>
              <a:rPr lang="en-US" dirty="0"/>
              <a:t> und </a:t>
            </a:r>
            <a:r>
              <a:rPr lang="en-US" dirty="0" err="1"/>
              <a:t>kostengünstig</a:t>
            </a:r>
            <a:r>
              <a:rPr lang="en-US" dirty="0"/>
              <a:t> </a:t>
            </a:r>
            <a:r>
              <a:rPr lang="en-US" dirty="0" err="1"/>
              <a:t>organisieren</a:t>
            </a:r>
            <a:endParaRPr lang="en-US" dirty="0"/>
          </a:p>
          <a:p>
            <a:r>
              <a:rPr lang="en-US" dirty="0"/>
              <a:t>Schwankende Verfügbarkeiten gut </a:t>
            </a:r>
            <a:r>
              <a:rPr lang="en-US" dirty="0" err="1"/>
              <a:t>abfangen</a:t>
            </a:r>
            <a:endParaRPr lang="en-US" dirty="0"/>
          </a:p>
          <a:p>
            <a:r>
              <a:rPr lang="en-US" dirty="0" err="1"/>
              <a:t>Kühlkette</a:t>
            </a:r>
            <a:r>
              <a:rPr lang="en-US" dirty="0"/>
              <a:t> und </a:t>
            </a:r>
            <a:r>
              <a:rPr lang="en-US" dirty="0" err="1"/>
              <a:t>Qualität</a:t>
            </a:r>
            <a:r>
              <a:rPr lang="en-US" dirty="0"/>
              <a:t> </a:t>
            </a:r>
            <a:r>
              <a:rPr lang="en-US" dirty="0" err="1"/>
              <a:t>sicherstellen</a:t>
            </a:r>
            <a:endParaRPr lang="en-US" dirty="0"/>
          </a:p>
          <a:p>
            <a:r>
              <a:rPr lang="en-US" dirty="0" err="1"/>
              <a:t>Plattform</a:t>
            </a:r>
            <a:r>
              <a:rPr lang="en-US" dirty="0"/>
              <a:t> für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r>
              <a:rPr lang="en-US" dirty="0"/>
              <a:t>Für 30 </a:t>
            </a:r>
            <a:r>
              <a:rPr lang="en-US" dirty="0" err="1"/>
              <a:t>Sekunden</a:t>
            </a:r>
            <a:r>
              <a:rPr lang="en-US" dirty="0"/>
              <a:t> </a:t>
            </a:r>
            <a:r>
              <a:rPr lang="en-US" dirty="0" err="1"/>
              <a:t>reichen</a:t>
            </a:r>
            <a:r>
              <a:rPr lang="en-US" dirty="0"/>
              <a:t> </a:t>
            </a:r>
            <a:r>
              <a:rPr lang="en-US" dirty="0" err="1"/>
              <a:t>eigentlich</a:t>
            </a:r>
            <a:r>
              <a:rPr lang="en-US" dirty="0"/>
              <a:t> </a:t>
            </a:r>
            <a:r>
              <a:rPr lang="en-US" dirty="0" err="1"/>
              <a:t>sogar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3:</a:t>
            </a:r>
          </a:p>
          <a:p>
            <a:r>
              <a:rPr lang="en-US" dirty="0" err="1"/>
              <a:t>genügend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+ Kunden</a:t>
            </a:r>
          </a:p>
          <a:p>
            <a:r>
              <a:rPr lang="en-US" dirty="0" err="1"/>
              <a:t>wirtschaftliche</a:t>
            </a:r>
            <a:r>
              <a:rPr lang="en-US" dirty="0"/>
              <a:t> Logistik</a:t>
            </a:r>
          </a:p>
          <a:p>
            <a:r>
              <a:rPr lang="en-US" dirty="0" err="1"/>
              <a:t>einfache</a:t>
            </a:r>
            <a:r>
              <a:rPr lang="en-US" dirty="0"/>
              <a:t> und </a:t>
            </a:r>
            <a:r>
              <a:rPr lang="en-US" dirty="0" err="1"/>
              <a:t>zuverlässige</a:t>
            </a:r>
            <a:r>
              <a:rPr lang="en-US" dirty="0"/>
              <a:t> </a:t>
            </a:r>
            <a:r>
              <a:rPr lang="en-US" dirty="0" err="1"/>
              <a:t>Plattform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klingt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„Darauf </a:t>
            </a:r>
            <a:r>
              <a:rPr lang="en-US" dirty="0" err="1"/>
              <a:t>müssen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achten</a:t>
            </a:r>
            <a:r>
              <a:rPr lang="en-US" dirty="0"/>
              <a:t>, </a:t>
            </a:r>
            <a:r>
              <a:rPr lang="en-US" dirty="0" err="1"/>
              <a:t>damit</a:t>
            </a:r>
            <a:r>
              <a:rPr lang="en-US" dirty="0"/>
              <a:t>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erfolgreich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.“</a:t>
            </a:r>
          </a:p>
          <a:p>
            <a:r>
              <a:rPr lang="en-US" dirty="0"/>
              <a:t>Also nicht „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alle </a:t>
            </a:r>
            <a:r>
              <a:rPr lang="en-US" dirty="0" err="1"/>
              <a:t>Probleme</a:t>
            </a:r>
            <a:r>
              <a:rPr lang="en-US" dirty="0"/>
              <a:t>“,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„das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Bedingungen</a:t>
            </a:r>
            <a:r>
              <a:rPr lang="en-US" dirty="0"/>
              <a:t> für </a:t>
            </a:r>
            <a:r>
              <a:rPr lang="en-US" dirty="0" err="1"/>
              <a:t>Erfolg</a:t>
            </a:r>
            <a:r>
              <a:rPr lang="en-US" dirty="0"/>
              <a:t>“.</a:t>
            </a:r>
          </a:p>
        </p:txBody>
      </p:sp>
    </p:spTree>
    <p:extLst>
      <p:ext uri="{BB962C8B-B14F-4D97-AF65-F5344CB8AC3E}">
        <p14:creationId xmlns:p14="http://schemas.microsoft.com/office/powerpoint/2010/main" val="3707884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981AE-9779-193D-ABD3-47B9CD064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F66EF0-5610-4E29-4B7F-C1451A4099C0}"/>
              </a:ext>
            </a:extLst>
          </p:cNvPr>
          <p:cNvSpPr txBox="1"/>
          <p:nvPr/>
        </p:nvSpPr>
        <p:spPr>
          <a:xfrm>
            <a:off x="1701209" y="723014"/>
            <a:ext cx="9930810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Genügend</a:t>
            </a:r>
            <a:r>
              <a:rPr lang="en-US" sz="1100" dirty="0"/>
              <a:t> </a:t>
            </a:r>
            <a:r>
              <a:rPr lang="en-US" sz="1100" dirty="0" err="1"/>
              <a:t>Landwirte</a:t>
            </a:r>
            <a:r>
              <a:rPr lang="en-US" sz="1100" dirty="0"/>
              <a:t> und Kunden </a:t>
            </a:r>
            <a:r>
              <a:rPr lang="en-US" sz="1100" dirty="0" err="1"/>
              <a:t>gewinnen</a:t>
            </a:r>
            <a:endParaRPr lang="en-US" sz="1100" dirty="0"/>
          </a:p>
          <a:p>
            <a:r>
              <a:rPr lang="en-US" sz="1100" dirty="0" err="1"/>
              <a:t>lokale</a:t>
            </a:r>
            <a:r>
              <a:rPr lang="en-US" sz="1100" dirty="0"/>
              <a:t> </a:t>
            </a:r>
            <a:r>
              <a:rPr lang="en-US" sz="1100" dirty="0" err="1"/>
              <a:t>Höfe</a:t>
            </a:r>
            <a:r>
              <a:rPr lang="en-US" sz="1100" dirty="0"/>
              <a:t> </a:t>
            </a:r>
            <a:r>
              <a:rPr lang="en-US" sz="1100" dirty="0" err="1"/>
              <a:t>direkt</a:t>
            </a:r>
            <a:r>
              <a:rPr lang="en-US" sz="1100" dirty="0"/>
              <a:t> </a:t>
            </a:r>
            <a:r>
              <a:rPr lang="en-US" sz="1100" dirty="0" err="1"/>
              <a:t>ansprechen</a:t>
            </a:r>
            <a:endParaRPr lang="en-US" sz="1100" dirty="0"/>
          </a:p>
          <a:p>
            <a:r>
              <a:rPr lang="en-US" sz="1100" dirty="0" err="1"/>
              <a:t>einfacher</a:t>
            </a:r>
            <a:r>
              <a:rPr lang="en-US" sz="1100" dirty="0"/>
              <a:t> </a:t>
            </a:r>
            <a:r>
              <a:rPr lang="en-US" sz="1100" dirty="0" err="1"/>
              <a:t>Einstieg</a:t>
            </a:r>
            <a:r>
              <a:rPr lang="en-US" sz="1100" dirty="0"/>
              <a:t> / </a:t>
            </a:r>
            <a:r>
              <a:rPr lang="en-US" sz="1100" dirty="0" err="1"/>
              <a:t>geringe</a:t>
            </a:r>
            <a:r>
              <a:rPr lang="en-US" sz="1100" dirty="0"/>
              <a:t> </a:t>
            </a:r>
            <a:r>
              <a:rPr lang="en-US" sz="1100" dirty="0" err="1"/>
              <a:t>Hürden</a:t>
            </a:r>
            <a:endParaRPr lang="en-US" sz="1100" dirty="0"/>
          </a:p>
          <a:p>
            <a:r>
              <a:rPr lang="en-US" sz="1100" dirty="0" err="1"/>
              <a:t>Vorteile</a:t>
            </a:r>
            <a:r>
              <a:rPr lang="en-US" sz="1100" dirty="0"/>
              <a:t> </a:t>
            </a:r>
            <a:r>
              <a:rPr lang="en-US" sz="1100" dirty="0" err="1"/>
              <a:t>klar</a:t>
            </a:r>
            <a:r>
              <a:rPr lang="en-US" sz="1100" dirty="0"/>
              <a:t> </a:t>
            </a:r>
            <a:r>
              <a:rPr lang="en-US" sz="1100" dirty="0" err="1"/>
              <a:t>zeigen</a:t>
            </a:r>
            <a:endParaRPr lang="en-US" sz="1100" dirty="0"/>
          </a:p>
          <a:p>
            <a:r>
              <a:rPr lang="en-US" sz="1100" dirty="0" err="1"/>
              <a:t>regionale</a:t>
            </a:r>
            <a:r>
              <a:rPr lang="en-US" sz="1100" dirty="0"/>
              <a:t> </a:t>
            </a:r>
            <a:r>
              <a:rPr lang="en-US" sz="1100" dirty="0" err="1"/>
              <a:t>Werbung</a:t>
            </a:r>
            <a:endParaRPr lang="en-US" sz="1100" dirty="0"/>
          </a:p>
          <a:p>
            <a:r>
              <a:rPr lang="en-US" sz="1100" dirty="0" err="1"/>
              <a:t>Weiterempfehlungen</a:t>
            </a:r>
            <a:r>
              <a:rPr lang="en-US" sz="1100" dirty="0"/>
              <a:t> / Community</a:t>
            </a:r>
          </a:p>
          <a:p>
            <a:r>
              <a:rPr lang="en-US" sz="1100" dirty="0" err="1"/>
              <a:t>erste</a:t>
            </a:r>
            <a:r>
              <a:rPr lang="en-US" sz="1100" dirty="0"/>
              <a:t> </a:t>
            </a:r>
            <a:r>
              <a:rPr lang="en-US" sz="1100" dirty="0" err="1"/>
              <a:t>Pilotregion</a:t>
            </a:r>
            <a:r>
              <a:rPr lang="en-US" sz="1100" dirty="0"/>
              <a:t> </a:t>
            </a:r>
            <a:r>
              <a:rPr lang="en-US" sz="1100" dirty="0" err="1"/>
              <a:t>klein</a:t>
            </a:r>
            <a:r>
              <a:rPr lang="en-US" sz="1100" dirty="0"/>
              <a:t> </a:t>
            </a:r>
            <a:r>
              <a:rPr lang="en-US" sz="1100" dirty="0" err="1"/>
              <a:t>starten</a:t>
            </a:r>
            <a:endParaRPr lang="en-US" sz="1100" dirty="0"/>
          </a:p>
          <a:p>
            <a:r>
              <a:rPr lang="en-US" sz="1100" dirty="0"/>
              <a:t>Logistik </a:t>
            </a:r>
            <a:r>
              <a:rPr lang="en-US" sz="1100" dirty="0" err="1"/>
              <a:t>effizient</a:t>
            </a:r>
            <a:r>
              <a:rPr lang="en-US" sz="1100" dirty="0"/>
              <a:t> und </a:t>
            </a:r>
            <a:r>
              <a:rPr lang="en-US" sz="1100" dirty="0" err="1"/>
              <a:t>kostengünstig</a:t>
            </a:r>
            <a:r>
              <a:rPr lang="en-US" sz="1100" dirty="0"/>
              <a:t> </a:t>
            </a:r>
            <a:r>
              <a:rPr lang="en-US" sz="1100" dirty="0" err="1"/>
              <a:t>organisieren</a:t>
            </a:r>
            <a:endParaRPr lang="en-US" sz="1100" dirty="0"/>
          </a:p>
          <a:p>
            <a:r>
              <a:rPr lang="en-US" sz="1100" dirty="0" err="1"/>
              <a:t>Bestellungen</a:t>
            </a:r>
            <a:r>
              <a:rPr lang="en-US" sz="1100" dirty="0"/>
              <a:t> </a:t>
            </a:r>
            <a:r>
              <a:rPr lang="en-US" sz="1100" dirty="0" err="1"/>
              <a:t>bündeln</a:t>
            </a:r>
            <a:endParaRPr lang="en-US" sz="1100" dirty="0"/>
          </a:p>
          <a:p>
            <a:r>
              <a:rPr lang="en-US" sz="1100" dirty="0" err="1"/>
              <a:t>feste</a:t>
            </a:r>
            <a:r>
              <a:rPr lang="en-US" sz="1100" dirty="0"/>
              <a:t> </a:t>
            </a:r>
            <a:r>
              <a:rPr lang="en-US" sz="1100" dirty="0" err="1"/>
              <a:t>Liefertage</a:t>
            </a:r>
            <a:endParaRPr lang="en-US" sz="1100" dirty="0"/>
          </a:p>
          <a:p>
            <a:r>
              <a:rPr lang="en-US" sz="1100" dirty="0" err="1"/>
              <a:t>Touren</a:t>
            </a:r>
            <a:r>
              <a:rPr lang="en-US" sz="1100" dirty="0"/>
              <a:t> </a:t>
            </a:r>
            <a:r>
              <a:rPr lang="en-US" sz="1100" dirty="0" err="1"/>
              <a:t>optimieren</a:t>
            </a:r>
            <a:endParaRPr lang="en-US" sz="1100" dirty="0"/>
          </a:p>
          <a:p>
            <a:r>
              <a:rPr lang="en-US" sz="1100" dirty="0" err="1"/>
              <a:t>regionale</a:t>
            </a:r>
            <a:r>
              <a:rPr lang="en-US" sz="1100" dirty="0"/>
              <a:t> Hubs </a:t>
            </a:r>
            <a:r>
              <a:rPr lang="en-US" sz="1100" dirty="0" err="1"/>
              <a:t>nutzen</a:t>
            </a:r>
            <a:endParaRPr lang="en-US" sz="1100" dirty="0"/>
          </a:p>
          <a:p>
            <a:r>
              <a:rPr lang="en-US" sz="1100" dirty="0" err="1"/>
              <a:t>Fahrzeuge</a:t>
            </a:r>
            <a:r>
              <a:rPr lang="en-US" sz="1100" dirty="0"/>
              <a:t> </a:t>
            </a:r>
            <a:r>
              <a:rPr lang="en-US" sz="1100" dirty="0" err="1"/>
              <a:t>möglichst</a:t>
            </a:r>
            <a:r>
              <a:rPr lang="en-US" sz="1100" dirty="0"/>
              <a:t> </a:t>
            </a:r>
            <a:r>
              <a:rPr lang="en-US" sz="1100" dirty="0" err="1"/>
              <a:t>auslasten</a:t>
            </a:r>
            <a:endParaRPr lang="en-US" sz="1100" dirty="0"/>
          </a:p>
          <a:p>
            <a:r>
              <a:rPr lang="en-US" sz="1100" dirty="0" err="1"/>
              <a:t>kurze</a:t>
            </a:r>
            <a:r>
              <a:rPr lang="en-US" sz="1100" dirty="0"/>
              <a:t> </a:t>
            </a:r>
            <a:r>
              <a:rPr lang="en-US" sz="1100" dirty="0" err="1"/>
              <a:t>Lieferwege</a:t>
            </a:r>
            <a:endParaRPr lang="en-US" sz="1100" dirty="0"/>
          </a:p>
          <a:p>
            <a:r>
              <a:rPr lang="en-US" sz="1100" dirty="0" err="1"/>
              <a:t>Schwankende</a:t>
            </a:r>
            <a:r>
              <a:rPr lang="en-US" sz="1100" dirty="0"/>
              <a:t> </a:t>
            </a:r>
            <a:r>
              <a:rPr lang="en-US" sz="1100" dirty="0" err="1"/>
              <a:t>Verfügbarkeiten</a:t>
            </a:r>
            <a:r>
              <a:rPr lang="en-US" sz="1100" dirty="0"/>
              <a:t> </a:t>
            </a:r>
            <a:r>
              <a:rPr lang="en-US" sz="1100" dirty="0" err="1"/>
              <a:t>abfangen</a:t>
            </a:r>
            <a:endParaRPr lang="en-US" sz="1100" dirty="0"/>
          </a:p>
          <a:p>
            <a:r>
              <a:rPr lang="en-US" sz="1100" dirty="0" err="1"/>
              <a:t>saisonale</a:t>
            </a:r>
            <a:r>
              <a:rPr lang="en-US" sz="1100" dirty="0"/>
              <a:t> </a:t>
            </a:r>
            <a:r>
              <a:rPr lang="en-US" sz="1100" dirty="0" err="1"/>
              <a:t>Produkte</a:t>
            </a:r>
            <a:r>
              <a:rPr lang="en-US" sz="1100" dirty="0"/>
              <a:t> </a:t>
            </a:r>
            <a:r>
              <a:rPr lang="en-US" sz="1100" dirty="0" err="1"/>
              <a:t>anzeigen</a:t>
            </a:r>
            <a:endParaRPr lang="en-US" sz="1100" dirty="0"/>
          </a:p>
          <a:p>
            <a:r>
              <a:rPr lang="en-US" sz="1100" dirty="0" err="1"/>
              <a:t>Alternativprodukte</a:t>
            </a:r>
            <a:r>
              <a:rPr lang="en-US" sz="1100" dirty="0"/>
              <a:t> </a:t>
            </a:r>
            <a:r>
              <a:rPr lang="en-US" sz="1100" dirty="0" err="1"/>
              <a:t>vorschlagen</a:t>
            </a:r>
            <a:endParaRPr lang="en-US" sz="1100" dirty="0"/>
          </a:p>
          <a:p>
            <a:r>
              <a:rPr lang="en-US" sz="1100" dirty="0" err="1"/>
              <a:t>Bestände</a:t>
            </a:r>
            <a:r>
              <a:rPr lang="en-US" sz="1100" dirty="0"/>
              <a:t> </a:t>
            </a:r>
            <a:r>
              <a:rPr lang="en-US" sz="1100" dirty="0" err="1"/>
              <a:t>aktuell</a:t>
            </a:r>
            <a:r>
              <a:rPr lang="en-US" sz="1100" dirty="0"/>
              <a:t> </a:t>
            </a:r>
            <a:r>
              <a:rPr lang="en-US" sz="1100" dirty="0" err="1"/>
              <a:t>halten</a:t>
            </a:r>
            <a:endParaRPr lang="en-US" sz="1100" dirty="0"/>
          </a:p>
          <a:p>
            <a:r>
              <a:rPr lang="en-US" sz="1100" dirty="0" err="1"/>
              <a:t>mehrere</a:t>
            </a:r>
            <a:r>
              <a:rPr lang="en-US" sz="1100" dirty="0"/>
              <a:t> </a:t>
            </a:r>
            <a:r>
              <a:rPr lang="en-US" sz="1100" dirty="0" err="1"/>
              <a:t>Höfe</a:t>
            </a:r>
            <a:r>
              <a:rPr lang="en-US" sz="1100" dirty="0"/>
              <a:t> pro </a:t>
            </a:r>
            <a:r>
              <a:rPr lang="en-US" sz="1100" dirty="0" err="1"/>
              <a:t>Produkt</a:t>
            </a:r>
            <a:r>
              <a:rPr lang="en-US" sz="1100" dirty="0"/>
              <a:t> </a:t>
            </a:r>
            <a:r>
              <a:rPr lang="en-US" sz="1100" dirty="0" err="1"/>
              <a:t>einbinden</a:t>
            </a:r>
            <a:endParaRPr lang="en-US" sz="1100" dirty="0"/>
          </a:p>
          <a:p>
            <a:r>
              <a:rPr lang="en-US" sz="1100" dirty="0" err="1"/>
              <a:t>Wochenbox</a:t>
            </a:r>
            <a:r>
              <a:rPr lang="en-US" sz="1100" dirty="0"/>
              <a:t> </a:t>
            </a:r>
            <a:r>
              <a:rPr lang="en-US" sz="1100" dirty="0" err="1"/>
              <a:t>flexibel</a:t>
            </a:r>
            <a:r>
              <a:rPr lang="en-US" sz="1100" dirty="0"/>
              <a:t> </a:t>
            </a:r>
            <a:r>
              <a:rPr lang="en-US" sz="1100" dirty="0" err="1"/>
              <a:t>zusammenstellen</a:t>
            </a:r>
            <a:endParaRPr lang="en-US" sz="1100" dirty="0"/>
          </a:p>
          <a:p>
            <a:r>
              <a:rPr lang="en-US" sz="1100" dirty="0" err="1"/>
              <a:t>Kühlkette</a:t>
            </a:r>
            <a:r>
              <a:rPr lang="en-US" sz="1100" dirty="0"/>
              <a:t> und </a:t>
            </a:r>
            <a:r>
              <a:rPr lang="en-US" sz="1100" dirty="0" err="1"/>
              <a:t>Qualität</a:t>
            </a:r>
            <a:r>
              <a:rPr lang="en-US" sz="1100" dirty="0"/>
              <a:t> </a:t>
            </a:r>
            <a:r>
              <a:rPr lang="en-US" sz="1100" dirty="0" err="1"/>
              <a:t>sicherstellen</a:t>
            </a:r>
            <a:endParaRPr lang="en-US" sz="1100" dirty="0"/>
          </a:p>
          <a:p>
            <a:r>
              <a:rPr lang="en-US" sz="1100" dirty="0" err="1"/>
              <a:t>gekühlte</a:t>
            </a:r>
            <a:r>
              <a:rPr lang="en-US" sz="1100" dirty="0"/>
              <a:t> </a:t>
            </a:r>
            <a:r>
              <a:rPr lang="en-US" sz="1100" dirty="0" err="1"/>
              <a:t>Fahrzeuge</a:t>
            </a:r>
            <a:r>
              <a:rPr lang="en-US" sz="1100" dirty="0"/>
              <a:t> / Boxen</a:t>
            </a:r>
          </a:p>
          <a:p>
            <a:r>
              <a:rPr lang="en-US" sz="1100" dirty="0" err="1"/>
              <a:t>klare</a:t>
            </a:r>
            <a:r>
              <a:rPr lang="en-US" sz="1100" dirty="0"/>
              <a:t> </a:t>
            </a:r>
            <a:r>
              <a:rPr lang="en-US" sz="1100" dirty="0" err="1"/>
              <a:t>Temperaturvorgaben</a:t>
            </a:r>
            <a:endParaRPr lang="en-US" sz="1100" dirty="0"/>
          </a:p>
          <a:p>
            <a:r>
              <a:rPr lang="en-US" sz="1100" dirty="0" err="1"/>
              <a:t>kurze</a:t>
            </a:r>
            <a:r>
              <a:rPr lang="en-US" sz="1100" dirty="0"/>
              <a:t> </a:t>
            </a:r>
            <a:r>
              <a:rPr lang="en-US" sz="1100" dirty="0" err="1"/>
              <a:t>Lieferzeiten</a:t>
            </a:r>
            <a:endParaRPr lang="en-US" sz="1100" dirty="0"/>
          </a:p>
          <a:p>
            <a:r>
              <a:rPr lang="en-US" sz="1100" dirty="0" err="1"/>
              <a:t>Qualitätskontrollen</a:t>
            </a:r>
            <a:endParaRPr lang="en-US" sz="1100" dirty="0"/>
          </a:p>
          <a:p>
            <a:r>
              <a:rPr lang="en-US" sz="1100" dirty="0" err="1"/>
              <a:t>Rückverfolgbarkeit</a:t>
            </a:r>
            <a:r>
              <a:rPr lang="en-US" sz="1100" dirty="0"/>
              <a:t> der Ware</a:t>
            </a:r>
          </a:p>
          <a:p>
            <a:r>
              <a:rPr lang="en-US" sz="1100" dirty="0" err="1"/>
              <a:t>Plattform</a:t>
            </a:r>
            <a:r>
              <a:rPr lang="en-US" sz="1100" dirty="0"/>
              <a:t> für </a:t>
            </a:r>
            <a:r>
              <a:rPr lang="en-US" sz="1100" dirty="0" err="1"/>
              <a:t>Landwirte</a:t>
            </a:r>
            <a:r>
              <a:rPr lang="en-US" sz="1100" dirty="0"/>
              <a:t> </a:t>
            </a:r>
            <a:r>
              <a:rPr lang="en-US" sz="1100" dirty="0" err="1"/>
              <a:t>einfach</a:t>
            </a:r>
            <a:r>
              <a:rPr lang="en-US" sz="1100" dirty="0"/>
              <a:t> </a:t>
            </a:r>
            <a:r>
              <a:rPr lang="en-US" sz="1100" dirty="0" err="1"/>
              <a:t>halten</a:t>
            </a:r>
            <a:endParaRPr lang="en-US" sz="1100" dirty="0"/>
          </a:p>
          <a:p>
            <a:r>
              <a:rPr lang="en-US" sz="1100" dirty="0" err="1"/>
              <a:t>einfache</a:t>
            </a:r>
            <a:r>
              <a:rPr lang="en-US" sz="1100" dirty="0"/>
              <a:t> </a:t>
            </a:r>
            <a:r>
              <a:rPr lang="en-US" sz="1100" dirty="0" err="1"/>
              <a:t>Bedienoberfläche</a:t>
            </a:r>
            <a:endParaRPr lang="en-US" sz="1100" dirty="0"/>
          </a:p>
          <a:p>
            <a:r>
              <a:rPr lang="en-US" sz="1100" dirty="0" err="1"/>
              <a:t>wenige</a:t>
            </a:r>
            <a:r>
              <a:rPr lang="en-US" sz="1100" dirty="0"/>
              <a:t> </a:t>
            </a:r>
            <a:r>
              <a:rPr lang="en-US" sz="1100" dirty="0" err="1"/>
              <a:t>Pflichtangaben</a:t>
            </a:r>
            <a:endParaRPr lang="en-US" sz="1100" dirty="0"/>
          </a:p>
          <a:p>
            <a:r>
              <a:rPr lang="en-US" sz="1100" dirty="0" err="1"/>
              <a:t>Bestände</a:t>
            </a:r>
            <a:r>
              <a:rPr lang="en-US" sz="1100" dirty="0"/>
              <a:t> schnell </a:t>
            </a:r>
            <a:r>
              <a:rPr lang="en-US" sz="1100" dirty="0" err="1"/>
              <a:t>aktualisieren</a:t>
            </a:r>
            <a:endParaRPr lang="en-US" sz="1100" dirty="0"/>
          </a:p>
          <a:p>
            <a:r>
              <a:rPr lang="en-US" sz="1100" dirty="0" err="1"/>
              <a:t>möglichst</a:t>
            </a:r>
            <a:r>
              <a:rPr lang="en-US" sz="1100" dirty="0"/>
              <a:t> </a:t>
            </a:r>
            <a:r>
              <a:rPr lang="en-US" sz="1100" dirty="0" err="1"/>
              <a:t>viel</a:t>
            </a:r>
            <a:r>
              <a:rPr lang="en-US" sz="1100" dirty="0"/>
              <a:t> </a:t>
            </a:r>
            <a:r>
              <a:rPr lang="en-US" sz="1100" dirty="0" err="1"/>
              <a:t>automatisieren</a:t>
            </a:r>
            <a:endParaRPr lang="en-US" sz="1100" dirty="0"/>
          </a:p>
          <a:p>
            <a:r>
              <a:rPr lang="en-US" sz="1100" dirty="0"/>
              <a:t>Support / </a:t>
            </a:r>
            <a:r>
              <a:rPr lang="en-US" sz="1100" dirty="0" err="1"/>
              <a:t>Hilfe</a:t>
            </a:r>
            <a:r>
              <a:rPr lang="en-US" sz="1100" dirty="0"/>
              <a:t> </a:t>
            </a:r>
            <a:r>
              <a:rPr lang="en-US" sz="1100" dirty="0" err="1"/>
              <a:t>anbieten</a:t>
            </a:r>
            <a:endParaRPr lang="en-US" sz="1100" dirty="0"/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72441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4DF34-685A-40FB-007D-7B7C0790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D48F00-7455-8B02-E7FF-8AF2EA5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446028"/>
              </p:ext>
            </p:extLst>
          </p:nvPr>
        </p:nvGraphicFramePr>
        <p:xfrm>
          <a:off x="0" y="154204"/>
          <a:ext cx="6854847" cy="4440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949">
                  <a:extLst>
                    <a:ext uri="{9D8B030D-6E8A-4147-A177-3AD203B41FA5}">
                      <a16:colId xmlns:a16="http://schemas.microsoft.com/office/drawing/2014/main" val="4185570772"/>
                    </a:ext>
                  </a:extLst>
                </a:gridCol>
                <a:gridCol w="2284949">
                  <a:extLst>
                    <a:ext uri="{9D8B030D-6E8A-4147-A177-3AD203B41FA5}">
                      <a16:colId xmlns:a16="http://schemas.microsoft.com/office/drawing/2014/main" val="4075343056"/>
                    </a:ext>
                  </a:extLst>
                </a:gridCol>
                <a:gridCol w="2284949">
                  <a:extLst>
                    <a:ext uri="{9D8B030D-6E8A-4147-A177-3AD203B41FA5}">
                      <a16:colId xmlns:a16="http://schemas.microsoft.com/office/drawing/2014/main" val="1313655495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Zeit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Thema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Kernpunkte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70479545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0:00–0:40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Tierpartnerschaft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Kunde ↔ Tier/Hof, Updates, Vorteile, Kundenbindung, zusätzliche Einnahmen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249076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0:40–1:20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Wie kommt die Ware zum Kunden?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Bestellung → Landwirt → Bündelung → Tour → Kunde → ggf. Pfand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818979995"/>
                  </a:ext>
                </a:extLst>
              </a:tr>
              <a:tr h="953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1:20–2:05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Skalierung &amp; Versorgungssicherheit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mehrere Dörfer → Städte → regionale Netzwerke; Höfe können sich gegenseitig ergänzen; Ausfälle besser abfangen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715947651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2:05–2:50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Innovation + Herausforderungen lösen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intelligente Bündelung, Tourenoptimierung, Verfügbarkeiten zwischen Regionen, Überschüsse nutzen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093212661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2:50–3:25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Mehrwert für Landwirte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zusätzlicher Absatzkanal, Direktvermarktung, Sichtbarkeit, planbarere Nachfrage, Ware alternativ vermarkten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986459060"/>
                  </a:ext>
                </a:extLst>
              </a:tr>
              <a:tr h="417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3:25–4:00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Erfolgsaussichten + Wer profitiert? + Abschluss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Kunde, Landwirt, </a:t>
                      </a:r>
                      <a:r>
                        <a:rPr lang="en-US" sz="1200" dirty="0" err="1"/>
                        <a:t>LocalBite</a:t>
                      </a:r>
                      <a:r>
                        <a:rPr lang="en-US" sz="1200" dirty="0"/>
                        <a:t>, Region → Erfolgsfaktoren → Vision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4979088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81BB64A-7CA9-634C-0AB7-719ACA3503BD}"/>
              </a:ext>
            </a:extLst>
          </p:cNvPr>
          <p:cNvSpPr txBox="1"/>
          <p:nvPr/>
        </p:nvSpPr>
        <p:spPr>
          <a:xfrm>
            <a:off x="5345519" y="720273"/>
            <a:ext cx="6097772" cy="52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500" dirty="0"/>
              <a:t>Ja — </a:t>
            </a:r>
            <a:r>
              <a:rPr lang="en-US" sz="500" b="1" dirty="0" err="1"/>
              <a:t>genau</a:t>
            </a:r>
            <a:r>
              <a:rPr lang="en-US" sz="500" b="1" dirty="0"/>
              <a:t> so </a:t>
            </a:r>
            <a:r>
              <a:rPr lang="en-US" sz="500" b="1" dirty="0" err="1"/>
              <a:t>würde</a:t>
            </a:r>
            <a:r>
              <a:rPr lang="en-US" sz="500" b="1" dirty="0"/>
              <a:t> ich </a:t>
            </a:r>
            <a:r>
              <a:rPr lang="en-US" sz="500" b="1" dirty="0" err="1"/>
              <a:t>deinen</a:t>
            </a:r>
            <a:r>
              <a:rPr lang="en-US" sz="500" b="1" dirty="0"/>
              <a:t> Part </a:t>
            </a:r>
            <a:r>
              <a:rPr lang="en-US" sz="500" b="1" dirty="0" err="1"/>
              <a:t>jetzt</a:t>
            </a:r>
            <a:r>
              <a:rPr lang="en-US" sz="500" b="1" dirty="0"/>
              <a:t> </a:t>
            </a:r>
            <a:r>
              <a:rPr lang="en-US" sz="500" b="1" dirty="0" err="1"/>
              <a:t>aufbauen</a:t>
            </a:r>
            <a:r>
              <a:rPr lang="en-US" sz="500" dirty="0"/>
              <a:t>. 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viel</a:t>
            </a:r>
            <a:r>
              <a:rPr lang="en-US" sz="500" dirty="0"/>
              <a:t> </a:t>
            </a:r>
            <a:r>
              <a:rPr lang="en-US" sz="500" dirty="0" err="1"/>
              <a:t>stärker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„</a:t>
            </a:r>
            <a:r>
              <a:rPr lang="en-US" sz="500" dirty="0" err="1"/>
              <a:t>Tierpartnerschaft</a:t>
            </a:r>
            <a:r>
              <a:rPr lang="en-US" sz="500" dirty="0"/>
              <a:t> → </a:t>
            </a:r>
            <a:r>
              <a:rPr lang="en-US" sz="500" dirty="0" err="1"/>
              <a:t>Risiken</a:t>
            </a:r>
            <a:r>
              <a:rPr lang="en-US" sz="500" dirty="0"/>
              <a:t> → Fazit“, </a:t>
            </a:r>
            <a:r>
              <a:rPr lang="en-US" sz="500" dirty="0" err="1"/>
              <a:t>weil</a:t>
            </a:r>
            <a:r>
              <a:rPr lang="en-US" sz="500" dirty="0"/>
              <a:t> du </a:t>
            </a:r>
            <a:r>
              <a:rPr lang="en-US" sz="500" dirty="0" err="1"/>
              <a:t>eine</a:t>
            </a:r>
            <a:r>
              <a:rPr lang="en-US" sz="500" dirty="0"/>
              <a:t> </a:t>
            </a:r>
            <a:r>
              <a:rPr lang="en-US" sz="500" dirty="0" err="1"/>
              <a:t>echte</a:t>
            </a:r>
            <a:r>
              <a:rPr lang="en-US" sz="500" dirty="0"/>
              <a:t> </a:t>
            </a:r>
            <a:r>
              <a:rPr lang="en-US" sz="500" dirty="0" err="1"/>
              <a:t>Entwicklung</a:t>
            </a:r>
            <a:r>
              <a:rPr lang="en-US" sz="500" dirty="0"/>
              <a:t> </a:t>
            </a:r>
            <a:r>
              <a:rPr lang="en-US" sz="500" dirty="0" err="1"/>
              <a:t>erzählst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b="1" dirty="0"/>
              <a:t>Dein 4-Minuten-Workflow</a:t>
            </a:r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passt</a:t>
            </a:r>
            <a:r>
              <a:rPr lang="en-US" sz="500" dirty="0"/>
              <a:t> </a:t>
            </a:r>
            <a:r>
              <a:rPr lang="en-US" sz="500" dirty="0" err="1"/>
              <a:t>auch</a:t>
            </a:r>
            <a:r>
              <a:rPr lang="en-US" sz="500" dirty="0"/>
              <a:t> gut </a:t>
            </a:r>
            <a:r>
              <a:rPr lang="en-US" sz="500" dirty="0" err="1"/>
              <a:t>zu</a:t>
            </a:r>
            <a:r>
              <a:rPr lang="en-US" sz="500" dirty="0"/>
              <a:t> </a:t>
            </a:r>
            <a:r>
              <a:rPr lang="en-US" sz="500" dirty="0" err="1"/>
              <a:t>eurem</a:t>
            </a:r>
            <a:r>
              <a:rPr lang="en-US" sz="500" dirty="0"/>
              <a:t> </a:t>
            </a:r>
            <a:r>
              <a:rPr lang="en-US" sz="500" dirty="0" err="1"/>
              <a:t>bisherigen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</a:t>
            </a:r>
            <a:r>
              <a:rPr lang="en-US" sz="500" dirty="0" err="1"/>
              <a:t>weil</a:t>
            </a:r>
            <a:r>
              <a:rPr lang="en-US" sz="500" dirty="0"/>
              <a:t> die </a:t>
            </a:r>
            <a:r>
              <a:rPr lang="en-US" sz="500" dirty="0" err="1"/>
              <a:t>Tierpartnerschaft</a:t>
            </a:r>
            <a:r>
              <a:rPr lang="en-US" sz="500" dirty="0"/>
              <a:t> </a:t>
            </a:r>
            <a:r>
              <a:rPr lang="en-US" sz="500" dirty="0" err="1"/>
              <a:t>bereits</a:t>
            </a:r>
            <a:r>
              <a:rPr lang="en-US" sz="500" dirty="0"/>
              <a:t> Teil der Landwirt-/Kunden-Journey </a:t>
            </a:r>
            <a:r>
              <a:rPr lang="en-US" sz="500" dirty="0" err="1"/>
              <a:t>ist</a:t>
            </a:r>
            <a:r>
              <a:rPr lang="en-US" sz="500" dirty="0"/>
              <a:t> und </a:t>
            </a:r>
            <a:r>
              <a:rPr lang="en-US" sz="500" dirty="0" err="1"/>
              <a:t>dein</a:t>
            </a:r>
            <a:r>
              <a:rPr lang="en-US" sz="500" dirty="0"/>
              <a:t> Part </a:t>
            </a:r>
            <a:r>
              <a:rPr lang="en-US" sz="500" dirty="0" err="1"/>
              <a:t>ohnehin</a:t>
            </a:r>
            <a:r>
              <a:rPr lang="en-US" sz="500" dirty="0"/>
              <a:t> den </a:t>
            </a:r>
            <a:r>
              <a:rPr lang="en-US" sz="500" dirty="0" err="1"/>
              <a:t>Abschluss</a:t>
            </a:r>
            <a:r>
              <a:rPr lang="en-US" sz="500" dirty="0"/>
              <a:t> und die </a:t>
            </a:r>
            <a:r>
              <a:rPr lang="en-US" sz="500" dirty="0" err="1"/>
              <a:t>Skalierbarkeit</a:t>
            </a:r>
            <a:r>
              <a:rPr lang="en-US" sz="500" dirty="0"/>
              <a:t> </a:t>
            </a:r>
            <a:r>
              <a:rPr lang="en-US" sz="500" dirty="0" err="1"/>
              <a:t>übernehmen</a:t>
            </a:r>
            <a:r>
              <a:rPr lang="en-US" sz="500" dirty="0"/>
              <a:t> </a:t>
            </a:r>
            <a:r>
              <a:rPr lang="en-US" sz="500" dirty="0" err="1"/>
              <a:t>soll</a:t>
            </a:r>
            <a:r>
              <a:rPr lang="en-US" sz="500" dirty="0"/>
              <a:t>. 1 </a:t>
            </a:r>
            <a:r>
              <a:rPr lang="en-US" sz="500" dirty="0" err="1"/>
              <a:t>Vorstellung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Problems… 1 </a:t>
            </a:r>
            <a:r>
              <a:rPr lang="en-US" sz="500" dirty="0" err="1"/>
              <a:t>Vorstellung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Problems…</a:t>
            </a:r>
          </a:p>
          <a:p>
            <a:pPr>
              <a:buNone/>
            </a:pPr>
            <a:r>
              <a:rPr lang="en-US" sz="500" b="1" dirty="0"/>
              <a:t>Bei „Innovation“ </a:t>
            </a:r>
            <a:r>
              <a:rPr lang="en-US" sz="500" b="1" dirty="0" err="1"/>
              <a:t>würde</a:t>
            </a:r>
            <a:r>
              <a:rPr lang="en-US" sz="500" b="1" dirty="0"/>
              <a:t> ich </a:t>
            </a:r>
            <a:r>
              <a:rPr lang="en-US" sz="500" b="1" dirty="0" err="1"/>
              <a:t>diese</a:t>
            </a:r>
            <a:r>
              <a:rPr lang="en-US" sz="500" b="1" dirty="0"/>
              <a:t> Sachen </a:t>
            </a:r>
            <a:r>
              <a:rPr lang="en-US" sz="500" b="1" dirty="0" err="1"/>
              <a:t>nehmen</a:t>
            </a:r>
            <a:endParaRPr lang="en-US" sz="5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b="1" dirty="0" err="1"/>
              <a:t>regionale</a:t>
            </a:r>
            <a:r>
              <a:rPr lang="en-US" sz="500" b="1" dirty="0"/>
              <a:t> </a:t>
            </a:r>
            <a:r>
              <a:rPr lang="en-US" sz="500" b="1" dirty="0" err="1"/>
              <a:t>Warenströme</a:t>
            </a:r>
            <a:r>
              <a:rPr lang="en-US" sz="500" b="1" dirty="0"/>
              <a:t> intelligent </a:t>
            </a:r>
            <a:r>
              <a:rPr lang="en-US" sz="500" b="1" dirty="0" err="1"/>
              <a:t>verbinden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/>
              <a:t>Hof A hat </a:t>
            </a:r>
            <a:r>
              <a:rPr lang="en-US" sz="500" dirty="0" err="1"/>
              <a:t>Karottenüberschuss</a:t>
            </a:r>
            <a:r>
              <a:rPr lang="en-US" sz="500" dirty="0"/>
              <a:t> → Region B hat </a:t>
            </a:r>
            <a:r>
              <a:rPr lang="en-US" sz="500" dirty="0" err="1"/>
              <a:t>Nachfrage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mehrere</a:t>
            </a:r>
            <a:r>
              <a:rPr lang="en-US" sz="500" dirty="0"/>
              <a:t> </a:t>
            </a:r>
            <a:r>
              <a:rPr lang="en-US" sz="500" dirty="0" err="1"/>
              <a:t>Höfe</a:t>
            </a:r>
            <a:r>
              <a:rPr lang="en-US" sz="500" dirty="0"/>
              <a:t> </a:t>
            </a:r>
            <a:r>
              <a:rPr lang="en-US" sz="500" dirty="0" err="1"/>
              <a:t>gleichen</a:t>
            </a:r>
            <a:r>
              <a:rPr lang="en-US" sz="500" dirty="0"/>
              <a:t> </a:t>
            </a:r>
            <a:r>
              <a:rPr lang="en-US" sz="500" b="1" dirty="0" err="1"/>
              <a:t>Ausfälle</a:t>
            </a:r>
            <a:r>
              <a:rPr lang="en-US" sz="500" b="1" dirty="0"/>
              <a:t> / </a:t>
            </a:r>
            <a:r>
              <a:rPr lang="en-US" sz="500" b="1" dirty="0" err="1"/>
              <a:t>Mengenprobleme</a:t>
            </a:r>
            <a:r>
              <a:rPr lang="en-US" sz="500" dirty="0"/>
              <a:t> </a:t>
            </a:r>
            <a:r>
              <a:rPr lang="en-US" sz="500" dirty="0" err="1"/>
              <a:t>aus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Bestellungen</a:t>
            </a:r>
            <a:r>
              <a:rPr lang="en-US" sz="500" dirty="0"/>
              <a:t> </a:t>
            </a:r>
            <a:r>
              <a:rPr lang="en-US" sz="500" dirty="0" err="1"/>
              <a:t>automatisch</a:t>
            </a:r>
            <a:r>
              <a:rPr lang="en-US" sz="500" dirty="0"/>
              <a:t> </a:t>
            </a:r>
            <a:r>
              <a:rPr lang="en-US" sz="500" b="1" dirty="0" err="1"/>
              <a:t>bündeln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Lieferwege</a:t>
            </a:r>
            <a:r>
              <a:rPr lang="en-US" sz="500" dirty="0"/>
              <a:t> / </a:t>
            </a:r>
            <a:r>
              <a:rPr lang="en-US" sz="500" dirty="0" err="1"/>
              <a:t>Touren</a:t>
            </a:r>
            <a:r>
              <a:rPr lang="en-US" sz="500" dirty="0"/>
              <a:t> </a:t>
            </a:r>
            <a:r>
              <a:rPr lang="en-US" sz="500" dirty="0" err="1"/>
              <a:t>optimieren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saisonale</a:t>
            </a:r>
            <a:r>
              <a:rPr lang="en-US" sz="500" dirty="0"/>
              <a:t> </a:t>
            </a:r>
            <a:r>
              <a:rPr lang="en-US" sz="500" dirty="0" err="1"/>
              <a:t>Alternativen</a:t>
            </a:r>
            <a:r>
              <a:rPr lang="en-US" sz="500" dirty="0"/>
              <a:t> </a:t>
            </a:r>
            <a:r>
              <a:rPr lang="en-US" sz="500" dirty="0" err="1"/>
              <a:t>automatisch</a:t>
            </a:r>
            <a:r>
              <a:rPr lang="en-US" sz="500" dirty="0"/>
              <a:t> </a:t>
            </a:r>
            <a:r>
              <a:rPr lang="en-US" sz="500" dirty="0" err="1"/>
              <a:t>anbieten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Überschüsse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b="1" dirty="0" err="1"/>
              <a:t>Retterbox</a:t>
            </a:r>
            <a:r>
              <a:rPr lang="en-US" sz="500" b="1" dirty="0"/>
              <a:t> / </a:t>
            </a:r>
            <a:r>
              <a:rPr lang="en-US" sz="500" b="1" dirty="0" err="1"/>
              <a:t>Sonderangebot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Tierpartnerschaft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Kombination</a:t>
            </a:r>
            <a:r>
              <a:rPr lang="en-US" sz="500" dirty="0"/>
              <a:t> </a:t>
            </a:r>
            <a:r>
              <a:rPr lang="en-US" sz="500" dirty="0" err="1"/>
              <a:t>aus</a:t>
            </a:r>
            <a:r>
              <a:rPr lang="en-US" sz="500" dirty="0"/>
              <a:t> </a:t>
            </a:r>
            <a:r>
              <a:rPr lang="en-US" sz="500" b="1" dirty="0"/>
              <a:t>E-Commerce + Community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später</a:t>
            </a:r>
            <a:r>
              <a:rPr lang="en-US" sz="500" dirty="0"/>
              <a:t> </a:t>
            </a:r>
            <a:r>
              <a:rPr lang="en-US" sz="500" dirty="0" err="1"/>
              <a:t>eventuell</a:t>
            </a:r>
            <a:r>
              <a:rPr lang="en-US" sz="500" dirty="0"/>
              <a:t> </a:t>
            </a:r>
            <a:r>
              <a:rPr lang="en-US" sz="500" dirty="0" err="1"/>
              <a:t>Nachfrage</a:t>
            </a:r>
            <a:r>
              <a:rPr lang="en-US" sz="500" dirty="0"/>
              <a:t> </a:t>
            </a:r>
            <a:r>
              <a:rPr lang="en-US" sz="500" dirty="0" err="1"/>
              <a:t>prognostizieren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viel</a:t>
            </a:r>
            <a:r>
              <a:rPr lang="en-US" sz="500" dirty="0"/>
              <a:t> </a:t>
            </a:r>
            <a:r>
              <a:rPr lang="en-US" sz="500" dirty="0" err="1"/>
              <a:t>greifbarer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einfach</a:t>
            </a:r>
            <a:r>
              <a:rPr lang="en-US" sz="500" dirty="0"/>
              <a:t> </a:t>
            </a:r>
            <a:r>
              <a:rPr lang="en-US" sz="500" dirty="0" err="1"/>
              <a:t>zu</a:t>
            </a:r>
            <a:r>
              <a:rPr lang="en-US" sz="500" dirty="0"/>
              <a:t> </a:t>
            </a:r>
            <a:r>
              <a:rPr lang="en-US" sz="500" dirty="0" err="1"/>
              <a:t>sagen</a:t>
            </a:r>
            <a:r>
              <a:rPr lang="en-US" sz="500" dirty="0"/>
              <a:t> „</a:t>
            </a:r>
            <a:r>
              <a:rPr lang="en-US" sz="500" dirty="0" err="1"/>
              <a:t>unsere</a:t>
            </a:r>
            <a:r>
              <a:rPr lang="en-US" sz="500" dirty="0"/>
              <a:t> App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innovativ</a:t>
            </a:r>
            <a:r>
              <a:rPr lang="en-US" sz="500" dirty="0"/>
              <a:t>“.</a:t>
            </a:r>
          </a:p>
          <a:p>
            <a:pPr>
              <a:buNone/>
            </a:pPr>
            <a:r>
              <a:rPr lang="en-US" sz="500" b="1" dirty="0"/>
              <a:t>Dein Stadt-</a:t>
            </a:r>
            <a:r>
              <a:rPr lang="en-US" sz="500" b="1" dirty="0" err="1"/>
              <a:t>zu</a:t>
            </a:r>
            <a:r>
              <a:rPr lang="en-US" sz="500" b="1" dirty="0"/>
              <a:t>-Stadt-</a:t>
            </a:r>
            <a:r>
              <a:rPr lang="en-US" sz="500" b="1" dirty="0" err="1"/>
              <a:t>Beispiel</a:t>
            </a:r>
            <a:r>
              <a:rPr lang="en-US" sz="500" b="1" dirty="0"/>
              <a:t> </a:t>
            </a:r>
            <a:r>
              <a:rPr lang="en-US" sz="500" b="1" dirty="0" err="1"/>
              <a:t>ergibt</a:t>
            </a:r>
            <a:r>
              <a:rPr lang="en-US" sz="500" b="1" dirty="0"/>
              <a:t> Sinn</a:t>
            </a:r>
          </a:p>
          <a:p>
            <a:pPr>
              <a:buNone/>
            </a:pPr>
            <a:r>
              <a:rPr lang="en-US" sz="500" dirty="0"/>
              <a:t>Zum </a:t>
            </a:r>
            <a:r>
              <a:rPr lang="en-US" sz="500" dirty="0" err="1"/>
              <a:t>Beispiel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Region A</a:t>
            </a:r>
            <a:br>
              <a:rPr lang="en-US" sz="500" dirty="0"/>
            </a:br>
            <a:r>
              <a:rPr lang="en-US" sz="500" dirty="0"/>
              <a:t>→ 4 </a:t>
            </a:r>
            <a:r>
              <a:rPr lang="en-US" sz="500" dirty="0" err="1"/>
              <a:t>Höfe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viel</a:t>
            </a:r>
            <a:r>
              <a:rPr lang="en-US" sz="500" dirty="0"/>
              <a:t> Karotte, </a:t>
            </a:r>
            <a:r>
              <a:rPr lang="en-US" sz="500" dirty="0" err="1"/>
              <a:t>wenig</a:t>
            </a:r>
            <a:r>
              <a:rPr lang="en-US" sz="500" dirty="0"/>
              <a:t> </a:t>
            </a:r>
            <a:r>
              <a:rPr lang="en-US" sz="500" dirty="0" err="1"/>
              <a:t>Nachfrage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Region B</a:t>
            </a:r>
            <a:br>
              <a:rPr lang="en-US" sz="500" dirty="0"/>
            </a:br>
            <a:r>
              <a:rPr lang="en-US" sz="500" dirty="0"/>
              <a:t>→ 3 </a:t>
            </a:r>
            <a:r>
              <a:rPr lang="en-US" sz="500" dirty="0" err="1"/>
              <a:t>Höfe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Karotten</a:t>
            </a:r>
            <a:r>
              <a:rPr lang="en-US" sz="500" dirty="0"/>
              <a:t> </a:t>
            </a:r>
            <a:r>
              <a:rPr lang="en-US" sz="500" dirty="0" err="1"/>
              <a:t>fehlen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Dann </a:t>
            </a:r>
            <a:r>
              <a:rPr lang="en-US" sz="500" dirty="0" err="1"/>
              <a:t>könnte</a:t>
            </a:r>
            <a:r>
              <a:rPr lang="en-US" sz="500" dirty="0"/>
              <a:t> LocalBite </a:t>
            </a:r>
            <a:r>
              <a:rPr lang="en-US" sz="500" dirty="0" err="1"/>
              <a:t>prüfen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 err="1"/>
              <a:t>Liegt</a:t>
            </a:r>
            <a:r>
              <a:rPr lang="en-US" sz="500" b="1" dirty="0"/>
              <a:t> Region B </a:t>
            </a:r>
            <a:r>
              <a:rPr lang="en-US" sz="500" b="1" dirty="0" err="1"/>
              <a:t>sowieso</a:t>
            </a:r>
            <a:r>
              <a:rPr lang="en-US" sz="500" b="1" dirty="0"/>
              <a:t> auf </a:t>
            </a:r>
            <a:r>
              <a:rPr lang="en-US" sz="500" b="1" dirty="0" err="1"/>
              <a:t>einer</a:t>
            </a:r>
            <a:r>
              <a:rPr lang="en-US" sz="500" b="1" dirty="0"/>
              <a:t> </a:t>
            </a:r>
            <a:r>
              <a:rPr lang="en-US" sz="500" b="1" dirty="0" err="1"/>
              <a:t>bestehenden</a:t>
            </a:r>
            <a:r>
              <a:rPr lang="en-US" sz="500" b="1" dirty="0"/>
              <a:t> Tour </a:t>
            </a:r>
            <a:r>
              <a:rPr lang="en-US" sz="500" b="1" dirty="0" err="1"/>
              <a:t>oder</a:t>
            </a:r>
            <a:r>
              <a:rPr lang="en-US" sz="500" b="1" dirty="0"/>
              <a:t> </a:t>
            </a:r>
            <a:r>
              <a:rPr lang="en-US" sz="500" b="1" dirty="0" err="1"/>
              <a:t>nahe</a:t>
            </a:r>
            <a:r>
              <a:rPr lang="en-US" sz="500" b="1" dirty="0"/>
              <a:t> </a:t>
            </a:r>
            <a:r>
              <a:rPr lang="en-US" sz="500" b="1" dirty="0" err="1"/>
              <a:t>daran</a:t>
            </a:r>
            <a:r>
              <a:rPr lang="en-US" sz="500" b="1" dirty="0"/>
              <a:t>?</a:t>
            </a:r>
            <a:endParaRPr lang="en-US" sz="500" dirty="0"/>
          </a:p>
          <a:p>
            <a:pPr>
              <a:buNone/>
            </a:pPr>
            <a:r>
              <a:rPr lang="en-US" sz="500" dirty="0"/>
              <a:t>Wenn ja → Ware </a:t>
            </a:r>
            <a:r>
              <a:rPr lang="en-US" sz="500" dirty="0" err="1"/>
              <a:t>mitnehmen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dirty="0"/>
              <a:t>Wenn </a:t>
            </a:r>
            <a:r>
              <a:rPr lang="en-US" sz="500" dirty="0" err="1"/>
              <a:t>dafür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extra LKW 80 km </a:t>
            </a:r>
            <a:r>
              <a:rPr lang="en-US" sz="500" dirty="0" err="1"/>
              <a:t>fahren</a:t>
            </a:r>
            <a:r>
              <a:rPr lang="en-US" sz="500" dirty="0"/>
              <a:t> </a:t>
            </a:r>
            <a:r>
              <a:rPr lang="en-US" sz="500" dirty="0" err="1"/>
              <a:t>müsste</a:t>
            </a:r>
            <a:r>
              <a:rPr lang="en-US" sz="500" dirty="0"/>
              <a:t> → </a:t>
            </a:r>
            <a:r>
              <a:rPr lang="en-US" sz="500" b="1" dirty="0"/>
              <a:t>nicht </a:t>
            </a:r>
            <a:r>
              <a:rPr lang="en-US" sz="500" b="1" dirty="0" err="1"/>
              <a:t>sinnvoll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dirty="0" err="1"/>
              <a:t>Genau</a:t>
            </a:r>
            <a:r>
              <a:rPr lang="en-US" sz="500" dirty="0"/>
              <a:t> 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eigentlich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schöner</a:t>
            </a:r>
            <a:r>
              <a:rPr lang="en-US" sz="500" dirty="0"/>
              <a:t> </a:t>
            </a:r>
            <a:r>
              <a:rPr lang="en-US" sz="500" dirty="0" err="1"/>
              <a:t>Innovationspunkt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Nicht </a:t>
            </a:r>
            <a:r>
              <a:rPr lang="en-US" sz="500" b="1" dirty="0" err="1"/>
              <a:t>einfach</a:t>
            </a:r>
            <a:r>
              <a:rPr lang="en-US" sz="500" b="1" dirty="0"/>
              <a:t> </a:t>
            </a:r>
            <a:r>
              <a:rPr lang="en-US" sz="500" b="1" dirty="0" err="1"/>
              <a:t>überall</a:t>
            </a:r>
            <a:r>
              <a:rPr lang="en-US" sz="500" b="1" dirty="0"/>
              <a:t> </a:t>
            </a:r>
            <a:r>
              <a:rPr lang="en-US" sz="500" b="1" dirty="0" err="1"/>
              <a:t>hin</a:t>
            </a:r>
            <a:r>
              <a:rPr lang="en-US" sz="500" b="1" dirty="0"/>
              <a:t> </a:t>
            </a:r>
            <a:r>
              <a:rPr lang="en-US" sz="500" b="1" dirty="0" err="1"/>
              <a:t>liefern</a:t>
            </a:r>
            <a:r>
              <a:rPr lang="en-US" sz="500" b="1" dirty="0"/>
              <a:t>, </a:t>
            </a:r>
            <a:r>
              <a:rPr lang="en-US" sz="500" b="1" dirty="0" err="1"/>
              <a:t>sondern</a:t>
            </a:r>
            <a:r>
              <a:rPr lang="en-US" sz="500" b="1" dirty="0"/>
              <a:t> </a:t>
            </a:r>
            <a:r>
              <a:rPr lang="en-US" sz="500" b="1" dirty="0" err="1"/>
              <a:t>regionale</a:t>
            </a:r>
            <a:r>
              <a:rPr lang="en-US" sz="500" b="1" dirty="0"/>
              <a:t> </a:t>
            </a:r>
            <a:r>
              <a:rPr lang="en-US" sz="500" b="1" dirty="0" err="1"/>
              <a:t>Überschüsse</a:t>
            </a:r>
            <a:r>
              <a:rPr lang="en-US" sz="500" b="1" dirty="0"/>
              <a:t> </a:t>
            </a:r>
            <a:r>
              <a:rPr lang="en-US" sz="500" b="1" dirty="0" err="1"/>
              <a:t>dort</a:t>
            </a:r>
            <a:r>
              <a:rPr lang="en-US" sz="500" b="1" dirty="0"/>
              <a:t> </a:t>
            </a:r>
            <a:r>
              <a:rPr lang="en-US" sz="500" b="1" dirty="0" err="1"/>
              <a:t>verteilen</a:t>
            </a:r>
            <a:r>
              <a:rPr lang="en-US" sz="500" b="1" dirty="0"/>
              <a:t>, wo es </a:t>
            </a:r>
            <a:r>
              <a:rPr lang="en-US" sz="500" b="1" dirty="0" err="1"/>
              <a:t>logistisch</a:t>
            </a:r>
            <a:r>
              <a:rPr lang="en-US" sz="500" b="1" dirty="0"/>
              <a:t> </a:t>
            </a:r>
            <a:r>
              <a:rPr lang="en-US" sz="500" b="1" dirty="0" err="1"/>
              <a:t>sinnvoll</a:t>
            </a:r>
            <a:r>
              <a:rPr lang="en-US" sz="500" b="1" dirty="0"/>
              <a:t> </a:t>
            </a:r>
            <a:r>
              <a:rPr lang="en-US" sz="500" b="1" dirty="0" err="1"/>
              <a:t>ist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Und </a:t>
            </a:r>
            <a:r>
              <a:rPr lang="en-US" sz="500" dirty="0" err="1"/>
              <a:t>durch</a:t>
            </a:r>
            <a:r>
              <a:rPr lang="en-US" sz="500" dirty="0"/>
              <a:t> </a:t>
            </a:r>
            <a:r>
              <a:rPr lang="en-US" sz="500" dirty="0" err="1"/>
              <a:t>mehrere</a:t>
            </a:r>
            <a:r>
              <a:rPr lang="en-US" sz="500" dirty="0"/>
              <a:t> </a:t>
            </a:r>
            <a:r>
              <a:rPr lang="en-US" sz="500" dirty="0" err="1"/>
              <a:t>teilnehmende</a:t>
            </a:r>
            <a:r>
              <a:rPr lang="en-US" sz="500" dirty="0"/>
              <a:t> </a:t>
            </a:r>
            <a:r>
              <a:rPr lang="en-US" sz="500" dirty="0" err="1"/>
              <a:t>Höfe</a:t>
            </a:r>
            <a:r>
              <a:rPr lang="en-US" sz="500" dirty="0"/>
              <a:t> </a:t>
            </a:r>
            <a:r>
              <a:rPr lang="en-US" sz="500" dirty="0" err="1"/>
              <a:t>wird</a:t>
            </a:r>
            <a:r>
              <a:rPr lang="en-US" sz="500" dirty="0"/>
              <a:t> </a:t>
            </a:r>
            <a:r>
              <a:rPr lang="en-US" sz="500" dirty="0" err="1"/>
              <a:t>LocalBite</a:t>
            </a:r>
            <a:r>
              <a:rPr lang="en-US" sz="500" dirty="0"/>
              <a:t> </a:t>
            </a:r>
            <a:r>
              <a:rPr lang="en-US" sz="500" dirty="0" err="1"/>
              <a:t>gleichzeitig</a:t>
            </a:r>
            <a:r>
              <a:rPr lang="en-US" sz="500" dirty="0"/>
              <a:t> </a:t>
            </a:r>
            <a:r>
              <a:rPr lang="en-US" sz="500" b="1" dirty="0" err="1"/>
              <a:t>robuster</a:t>
            </a:r>
            <a:r>
              <a:rPr lang="en-US" sz="500" dirty="0"/>
              <a:t>: Wenn </a:t>
            </a:r>
            <a:r>
              <a:rPr lang="en-US" sz="500" dirty="0" err="1"/>
              <a:t>ein</a:t>
            </a:r>
            <a:r>
              <a:rPr lang="en-US" sz="500" dirty="0"/>
              <a:t> Hof </a:t>
            </a:r>
            <a:r>
              <a:rPr lang="en-US" sz="500" dirty="0" err="1"/>
              <a:t>wegen</a:t>
            </a:r>
            <a:r>
              <a:rPr lang="en-US" sz="500" dirty="0"/>
              <a:t> </a:t>
            </a:r>
            <a:r>
              <a:rPr lang="en-US" sz="500" dirty="0" err="1"/>
              <a:t>Ernteausfall</a:t>
            </a:r>
            <a:r>
              <a:rPr lang="en-US" sz="500" dirty="0"/>
              <a:t> </a:t>
            </a:r>
            <a:r>
              <a:rPr lang="en-US" sz="500" dirty="0" err="1"/>
              <a:t>oder</a:t>
            </a:r>
            <a:r>
              <a:rPr lang="en-US" sz="500" dirty="0"/>
              <a:t> </a:t>
            </a:r>
            <a:r>
              <a:rPr lang="en-US" sz="500" dirty="0" err="1"/>
              <a:t>geringer</a:t>
            </a:r>
            <a:r>
              <a:rPr lang="en-US" sz="500" dirty="0"/>
              <a:t> </a:t>
            </a:r>
            <a:r>
              <a:rPr lang="en-US" sz="300" dirty="0"/>
              <a:t>Menge</a:t>
            </a:r>
            <a:r>
              <a:rPr lang="en-US" sz="500" dirty="0"/>
              <a:t> nicht </a:t>
            </a:r>
            <a:r>
              <a:rPr lang="en-US" sz="500" dirty="0" err="1"/>
              <a:t>liefern</a:t>
            </a:r>
            <a:r>
              <a:rPr lang="en-US" sz="500" dirty="0"/>
              <a:t> </a:t>
            </a:r>
            <a:r>
              <a:rPr lang="en-US" sz="500" dirty="0" err="1"/>
              <a:t>kann</a:t>
            </a:r>
            <a:r>
              <a:rPr lang="en-US" sz="500" dirty="0"/>
              <a:t>, </a:t>
            </a:r>
            <a:r>
              <a:rPr lang="en-US" sz="500" dirty="0" err="1"/>
              <a:t>kann</a:t>
            </a:r>
            <a:r>
              <a:rPr lang="en-US" sz="500" dirty="0"/>
              <a:t> </a:t>
            </a:r>
            <a:r>
              <a:rPr lang="en-US" sz="500" dirty="0" err="1"/>
              <a:t>eventuell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anderer</a:t>
            </a:r>
            <a:r>
              <a:rPr lang="en-US" sz="500" dirty="0"/>
              <a:t> </a:t>
            </a:r>
            <a:r>
              <a:rPr lang="en-US" sz="500" dirty="0" err="1"/>
              <a:t>regionaler</a:t>
            </a:r>
            <a:r>
              <a:rPr lang="en-US" sz="500" dirty="0"/>
              <a:t> Hof </a:t>
            </a:r>
            <a:r>
              <a:rPr lang="en-US" sz="500" dirty="0" err="1"/>
              <a:t>einspringen</a:t>
            </a:r>
            <a:r>
              <a:rPr lang="en-US" sz="500" dirty="0"/>
              <a:t>.</a:t>
            </a:r>
          </a:p>
          <a:p>
            <a:pPr>
              <a:buNone/>
            </a:pPr>
            <a:br>
              <a:rPr lang="en-US" sz="500" dirty="0"/>
            </a:br>
            <a:endParaRPr lang="en-US" sz="500" dirty="0"/>
          </a:p>
          <a:p>
            <a:pPr>
              <a:buNone/>
            </a:pPr>
            <a:r>
              <a:rPr lang="en-US" sz="500" b="1" dirty="0"/>
              <a:t>Beim Apfel bitte </a:t>
            </a:r>
            <a:r>
              <a:rPr lang="en-US" sz="500" b="1" dirty="0" err="1"/>
              <a:t>wichtig</a:t>
            </a:r>
            <a:endParaRPr lang="en-US" sz="500" b="1" dirty="0"/>
          </a:p>
          <a:p>
            <a:pPr>
              <a:buNone/>
            </a:pPr>
            <a:r>
              <a:rPr lang="en-US" sz="500" b="1" dirty="0"/>
              <a:t>„Ein Apfel </a:t>
            </a:r>
            <a:r>
              <a:rPr lang="en-US" sz="500" b="1" dirty="0" err="1"/>
              <a:t>darf</a:t>
            </a:r>
            <a:r>
              <a:rPr lang="en-US" sz="500" b="1" dirty="0"/>
              <a:t> nicht </a:t>
            </a:r>
            <a:r>
              <a:rPr lang="en-US" sz="500" b="1" dirty="0" err="1"/>
              <a:t>breiter</a:t>
            </a:r>
            <a:r>
              <a:rPr lang="en-US" sz="500" b="1" dirty="0"/>
              <a:t> </a:t>
            </a:r>
            <a:r>
              <a:rPr lang="en-US" sz="500" b="1" dirty="0" err="1"/>
              <a:t>als</a:t>
            </a:r>
            <a:r>
              <a:rPr lang="en-US" sz="500" b="1" dirty="0"/>
              <a:t> 10 cm sein“ </a:t>
            </a:r>
            <a:r>
              <a:rPr lang="en-US" sz="500" b="1" dirty="0" err="1"/>
              <a:t>würde</a:t>
            </a:r>
            <a:r>
              <a:rPr lang="en-US" sz="500" b="1" dirty="0"/>
              <a:t> ich NICHT </a:t>
            </a:r>
            <a:r>
              <a:rPr lang="en-US" sz="500" b="1" dirty="0" err="1"/>
              <a:t>sagen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Die </a:t>
            </a:r>
            <a:r>
              <a:rPr lang="en-US" sz="500" dirty="0" err="1"/>
              <a:t>aktuelle</a:t>
            </a:r>
            <a:r>
              <a:rPr lang="en-US" sz="500" dirty="0"/>
              <a:t> EU-</a:t>
            </a:r>
            <a:r>
              <a:rPr lang="en-US" sz="500" dirty="0" err="1"/>
              <a:t>Vermarktungsnorm</a:t>
            </a:r>
            <a:r>
              <a:rPr lang="en-US" sz="500" dirty="0"/>
              <a:t> </a:t>
            </a:r>
            <a:r>
              <a:rPr lang="en-US" sz="500" dirty="0" err="1"/>
              <a:t>legt</a:t>
            </a:r>
            <a:r>
              <a:rPr lang="en-US" sz="500" dirty="0"/>
              <a:t> </a:t>
            </a:r>
            <a:r>
              <a:rPr lang="en-US" sz="500" dirty="0" err="1"/>
              <a:t>bei</a:t>
            </a:r>
            <a:r>
              <a:rPr lang="en-US" sz="500" dirty="0"/>
              <a:t> </a:t>
            </a:r>
            <a:r>
              <a:rPr lang="en-US" sz="500" dirty="0" err="1"/>
              <a:t>Äpfeln</a:t>
            </a:r>
            <a:r>
              <a:rPr lang="en-US" sz="500" dirty="0"/>
              <a:t> </a:t>
            </a:r>
            <a:r>
              <a:rPr lang="en-US" sz="500" dirty="0" err="1"/>
              <a:t>vor</a:t>
            </a:r>
            <a:r>
              <a:rPr lang="en-US" sz="500" dirty="0"/>
              <a:t> </a:t>
            </a:r>
            <a:r>
              <a:rPr lang="en-US" sz="500" dirty="0" err="1"/>
              <a:t>allem</a:t>
            </a:r>
            <a:r>
              <a:rPr lang="en-US" sz="500" dirty="0"/>
              <a:t> </a:t>
            </a:r>
            <a:r>
              <a:rPr lang="en-US" sz="500" b="1" dirty="0" err="1"/>
              <a:t>Mindestgrößen</a:t>
            </a:r>
            <a:r>
              <a:rPr lang="en-US" sz="500" dirty="0"/>
              <a:t> und </a:t>
            </a:r>
            <a:r>
              <a:rPr lang="en-US" sz="500" dirty="0" err="1"/>
              <a:t>Regeln</a:t>
            </a:r>
            <a:r>
              <a:rPr lang="en-US" sz="500" dirty="0"/>
              <a:t> </a:t>
            </a:r>
            <a:r>
              <a:rPr lang="en-US" sz="500" dirty="0" err="1"/>
              <a:t>zur</a:t>
            </a:r>
            <a:r>
              <a:rPr lang="en-US" sz="500" dirty="0"/>
              <a:t> </a:t>
            </a:r>
            <a:r>
              <a:rPr lang="en-US" sz="500" dirty="0" err="1"/>
              <a:t>Gleichmäßigkeit</a:t>
            </a:r>
            <a:r>
              <a:rPr lang="en-US" sz="500" dirty="0"/>
              <a:t> </a:t>
            </a:r>
            <a:r>
              <a:rPr lang="en-US" sz="500" dirty="0" err="1"/>
              <a:t>innerhalb</a:t>
            </a:r>
            <a:r>
              <a:rPr lang="en-US" sz="500" dirty="0"/>
              <a:t> </a:t>
            </a:r>
            <a:r>
              <a:rPr lang="en-US" sz="500" dirty="0" err="1"/>
              <a:t>bestimmter</a:t>
            </a:r>
            <a:r>
              <a:rPr lang="en-US" sz="500" dirty="0"/>
              <a:t> </a:t>
            </a:r>
            <a:r>
              <a:rPr lang="en-US" sz="500" dirty="0" err="1"/>
              <a:t>Verpackungen</a:t>
            </a:r>
            <a:r>
              <a:rPr lang="en-US" sz="500" dirty="0"/>
              <a:t> fest. Ein </a:t>
            </a:r>
            <a:r>
              <a:rPr lang="en-US" sz="500" dirty="0" err="1"/>
              <a:t>allgemeines</a:t>
            </a:r>
            <a:r>
              <a:rPr lang="en-US" sz="500" dirty="0"/>
              <a:t> „</a:t>
            </a:r>
            <a:r>
              <a:rPr lang="en-US" sz="500" dirty="0" err="1"/>
              <a:t>größer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10 cm = </a:t>
            </a:r>
            <a:r>
              <a:rPr lang="en-US" sz="500" dirty="0" err="1"/>
              <a:t>darf</a:t>
            </a:r>
            <a:r>
              <a:rPr lang="en-US" sz="500" dirty="0"/>
              <a:t> nicht </a:t>
            </a:r>
            <a:r>
              <a:rPr lang="en-US" sz="500" dirty="0" err="1"/>
              <a:t>verkauft</a:t>
            </a:r>
            <a:r>
              <a:rPr lang="en-US" sz="500" dirty="0"/>
              <a:t> </a:t>
            </a:r>
            <a:r>
              <a:rPr lang="en-US" sz="500" dirty="0" err="1"/>
              <a:t>werden</a:t>
            </a:r>
            <a:r>
              <a:rPr lang="en-US" sz="500" dirty="0"/>
              <a:t>“ </a:t>
            </a:r>
            <a:r>
              <a:rPr lang="en-US" sz="500" dirty="0" err="1"/>
              <a:t>gibt</a:t>
            </a:r>
            <a:r>
              <a:rPr lang="en-US" sz="500" dirty="0"/>
              <a:t> es </a:t>
            </a:r>
            <a:r>
              <a:rPr lang="en-US" sz="500" dirty="0" err="1"/>
              <a:t>dort</a:t>
            </a:r>
            <a:r>
              <a:rPr lang="en-US" sz="500" dirty="0"/>
              <a:t> nicht. </a:t>
            </a:r>
            <a:r>
              <a:rPr lang="en-US" sz="500" dirty="0">
                <a:hlinkClick r:id="rId2"/>
              </a:rPr>
              <a:t>Eur-Lex</a:t>
            </a:r>
            <a:endParaRPr lang="en-US" sz="500" dirty="0"/>
          </a:p>
          <a:p>
            <a:pPr>
              <a:buNone/>
            </a:pPr>
            <a:r>
              <a:rPr lang="en-US" sz="500" dirty="0"/>
              <a:t>Dein Grundgedanke </a:t>
            </a:r>
            <a:r>
              <a:rPr lang="en-US" sz="500" dirty="0" err="1"/>
              <a:t>funktioniert</a:t>
            </a:r>
            <a:r>
              <a:rPr lang="en-US" sz="500" dirty="0"/>
              <a:t> </a:t>
            </a:r>
            <a:r>
              <a:rPr lang="en-US" sz="500" dirty="0" err="1"/>
              <a:t>aber</a:t>
            </a:r>
            <a:r>
              <a:rPr lang="en-US" sz="500" dirty="0"/>
              <a:t> </a:t>
            </a:r>
            <a:r>
              <a:rPr lang="en-US" sz="500" dirty="0" err="1"/>
              <a:t>trotzdem</a:t>
            </a:r>
            <a:r>
              <a:rPr lang="en-US" sz="500" dirty="0"/>
              <a:t> </a:t>
            </a:r>
            <a:r>
              <a:rPr lang="en-US" sz="500" dirty="0" err="1"/>
              <a:t>sehr</a:t>
            </a:r>
            <a:r>
              <a:rPr lang="en-US" sz="500" dirty="0"/>
              <a:t> gut:</a:t>
            </a:r>
          </a:p>
          <a:p>
            <a:pPr>
              <a:buNone/>
            </a:pPr>
            <a:r>
              <a:rPr lang="en-US" sz="500" b="1" dirty="0"/>
              <a:t>„Es </a:t>
            </a:r>
            <a:r>
              <a:rPr lang="en-US" sz="500" b="1" dirty="0" err="1"/>
              <a:t>gibt</a:t>
            </a:r>
            <a:r>
              <a:rPr lang="en-US" sz="500" b="1" dirty="0"/>
              <a:t> </a:t>
            </a:r>
            <a:r>
              <a:rPr lang="en-US" sz="500" b="1" dirty="0" err="1"/>
              <a:t>landwirtschaftliche</a:t>
            </a:r>
            <a:r>
              <a:rPr lang="en-US" sz="500" b="1" dirty="0"/>
              <a:t> </a:t>
            </a:r>
            <a:r>
              <a:rPr lang="en-US" sz="500" b="1" dirty="0" err="1"/>
              <a:t>Produkte</a:t>
            </a:r>
            <a:r>
              <a:rPr lang="en-US" sz="500" b="1" dirty="0"/>
              <a:t>, die </a:t>
            </a:r>
            <a:r>
              <a:rPr lang="en-US" sz="500" b="1" dirty="0" err="1"/>
              <a:t>zwar</a:t>
            </a:r>
            <a:r>
              <a:rPr lang="en-US" sz="500" b="1" dirty="0"/>
              <a:t> </a:t>
            </a:r>
            <a:r>
              <a:rPr lang="en-US" sz="500" b="1" dirty="0" err="1"/>
              <a:t>völlig</a:t>
            </a:r>
            <a:r>
              <a:rPr lang="en-US" sz="500" b="1" dirty="0"/>
              <a:t> </a:t>
            </a:r>
            <a:r>
              <a:rPr lang="en-US" sz="500" b="1" dirty="0" err="1"/>
              <a:t>essbar</a:t>
            </a:r>
            <a:r>
              <a:rPr lang="en-US" sz="500" b="1" dirty="0"/>
              <a:t> </a:t>
            </a:r>
            <a:r>
              <a:rPr lang="en-US" sz="500" b="1" dirty="0" err="1"/>
              <a:t>sind</a:t>
            </a:r>
            <a:r>
              <a:rPr lang="en-US" sz="500" b="1" dirty="0"/>
              <a:t>, </a:t>
            </a:r>
            <a:r>
              <a:rPr lang="en-US" sz="500" b="1" dirty="0" err="1"/>
              <a:t>aber</a:t>
            </a:r>
            <a:r>
              <a:rPr lang="en-US" sz="500" b="1" dirty="0"/>
              <a:t> </a:t>
            </a:r>
            <a:r>
              <a:rPr lang="en-US" sz="500" b="1" dirty="0" err="1"/>
              <a:t>bestimmte</a:t>
            </a:r>
            <a:r>
              <a:rPr lang="en-US" sz="500" b="1" dirty="0"/>
              <a:t> </a:t>
            </a:r>
            <a:r>
              <a:rPr lang="en-US" sz="500" b="1" dirty="0" err="1"/>
              <a:t>vertragliche</a:t>
            </a:r>
            <a:r>
              <a:rPr lang="en-US" sz="500" b="1" dirty="0"/>
              <a:t> </a:t>
            </a:r>
            <a:r>
              <a:rPr lang="en-US" sz="500" b="1" dirty="0" err="1"/>
              <a:t>Anforderungen</a:t>
            </a:r>
            <a:r>
              <a:rPr lang="en-US" sz="500" b="1" dirty="0"/>
              <a:t> </a:t>
            </a:r>
            <a:r>
              <a:rPr lang="en-US" sz="500" b="1" dirty="0" err="1"/>
              <a:t>eines</a:t>
            </a:r>
            <a:r>
              <a:rPr lang="en-US" sz="500" b="1" dirty="0"/>
              <a:t> </a:t>
            </a:r>
            <a:r>
              <a:rPr lang="en-US" sz="500" b="1" dirty="0" err="1"/>
              <a:t>Abnehmers</a:t>
            </a:r>
            <a:r>
              <a:rPr lang="en-US" sz="500" b="1" dirty="0"/>
              <a:t> nicht </a:t>
            </a:r>
            <a:r>
              <a:rPr lang="en-US" sz="500" b="1" dirty="0" err="1"/>
              <a:t>erfüllen</a:t>
            </a:r>
            <a:r>
              <a:rPr lang="en-US" sz="500" b="1" dirty="0"/>
              <a:t>. Für </a:t>
            </a:r>
            <a:r>
              <a:rPr lang="en-US" sz="500" b="1" dirty="0" err="1"/>
              <a:t>solche</a:t>
            </a:r>
            <a:r>
              <a:rPr lang="en-US" sz="500" b="1" dirty="0"/>
              <a:t> Ware </a:t>
            </a:r>
            <a:r>
              <a:rPr lang="en-US" sz="500" b="1" dirty="0" err="1"/>
              <a:t>müssen</a:t>
            </a:r>
            <a:r>
              <a:rPr lang="en-US" sz="500" b="1" dirty="0"/>
              <a:t> </a:t>
            </a:r>
            <a:r>
              <a:rPr lang="en-US" sz="500" b="1" dirty="0" err="1"/>
              <a:t>Landwirte</a:t>
            </a:r>
            <a:r>
              <a:rPr lang="en-US" sz="500" b="1" dirty="0"/>
              <a:t> alternative </a:t>
            </a:r>
            <a:r>
              <a:rPr lang="en-US" sz="500" b="1" dirty="0" err="1"/>
              <a:t>Absatzwege</a:t>
            </a:r>
            <a:r>
              <a:rPr lang="en-US" sz="500" b="1" dirty="0"/>
              <a:t> </a:t>
            </a:r>
            <a:r>
              <a:rPr lang="en-US" sz="500" b="1" dirty="0" err="1"/>
              <a:t>finden</a:t>
            </a:r>
            <a:r>
              <a:rPr lang="en-US" sz="500" b="1" dirty="0"/>
              <a:t>.“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Bundeszentrum</a:t>
            </a:r>
            <a:r>
              <a:rPr lang="en-US" sz="500" dirty="0"/>
              <a:t> für </a:t>
            </a:r>
            <a:r>
              <a:rPr lang="en-US" sz="500" dirty="0" err="1"/>
              <a:t>Landwirtschaft</a:t>
            </a:r>
            <a:r>
              <a:rPr lang="en-US" sz="500" dirty="0"/>
              <a:t> </a:t>
            </a:r>
            <a:r>
              <a:rPr lang="en-US" sz="500" dirty="0" err="1"/>
              <a:t>nennt</a:t>
            </a:r>
            <a:r>
              <a:rPr lang="en-US" sz="500" dirty="0"/>
              <a:t> </a:t>
            </a:r>
            <a:r>
              <a:rPr lang="en-US" sz="500" dirty="0" err="1"/>
              <a:t>dafür</a:t>
            </a:r>
            <a:r>
              <a:rPr lang="en-US" sz="500" dirty="0"/>
              <a:t> </a:t>
            </a:r>
            <a:r>
              <a:rPr lang="en-US" sz="500" dirty="0" err="1"/>
              <a:t>tatsächlich</a:t>
            </a:r>
            <a:r>
              <a:rPr lang="en-US" sz="500" dirty="0"/>
              <a:t> </a:t>
            </a:r>
            <a:r>
              <a:rPr lang="en-US" sz="500" b="1" dirty="0" err="1"/>
              <a:t>Hofläden</a:t>
            </a:r>
            <a:r>
              <a:rPr lang="en-US" sz="500" b="1" dirty="0"/>
              <a:t> und </a:t>
            </a:r>
            <a:r>
              <a:rPr lang="en-US" sz="500" b="1" dirty="0" err="1"/>
              <a:t>Direktvermarktung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Alternativen</a:t>
            </a:r>
            <a:r>
              <a:rPr lang="en-US" sz="500" dirty="0"/>
              <a:t> und </a:t>
            </a:r>
            <a:r>
              <a:rPr lang="en-US" sz="500" dirty="0" err="1"/>
              <a:t>weist</a:t>
            </a:r>
            <a:r>
              <a:rPr lang="en-US" sz="500" dirty="0"/>
              <a:t> </a:t>
            </a:r>
            <a:r>
              <a:rPr lang="en-US" sz="500" dirty="0" err="1"/>
              <a:t>darauf</a:t>
            </a:r>
            <a:r>
              <a:rPr lang="en-US" sz="500" dirty="0"/>
              <a:t> </a:t>
            </a:r>
            <a:r>
              <a:rPr lang="en-US" sz="500" dirty="0" err="1"/>
              <a:t>hin</a:t>
            </a:r>
            <a:r>
              <a:rPr lang="en-US" sz="500" dirty="0"/>
              <a:t>, </a:t>
            </a:r>
            <a:r>
              <a:rPr lang="en-US" sz="500" dirty="0" err="1"/>
              <a:t>dass</a:t>
            </a:r>
            <a:r>
              <a:rPr lang="en-US" sz="500" dirty="0"/>
              <a:t> </a:t>
            </a:r>
            <a:r>
              <a:rPr lang="en-US" sz="500" dirty="0" err="1"/>
              <a:t>dafür</a:t>
            </a:r>
            <a:r>
              <a:rPr lang="en-US" sz="500" dirty="0"/>
              <a:t> oft </a:t>
            </a:r>
            <a:r>
              <a:rPr lang="en-US" sz="500" dirty="0" err="1"/>
              <a:t>Infrastruktur</a:t>
            </a:r>
            <a:r>
              <a:rPr lang="en-US" sz="500" dirty="0"/>
              <a:t> </a:t>
            </a:r>
            <a:r>
              <a:rPr lang="en-US" sz="500" dirty="0" err="1"/>
              <a:t>fehlt</a:t>
            </a:r>
            <a:r>
              <a:rPr lang="en-US" sz="500" dirty="0"/>
              <a:t> </a:t>
            </a:r>
            <a:r>
              <a:rPr lang="en-US" sz="500" dirty="0" err="1"/>
              <a:t>oder</a:t>
            </a:r>
            <a:r>
              <a:rPr lang="en-US" sz="500" dirty="0"/>
              <a:t> Kosten </a:t>
            </a:r>
            <a:r>
              <a:rPr lang="en-US" sz="500" dirty="0" err="1"/>
              <a:t>entstehen</a:t>
            </a:r>
            <a:r>
              <a:rPr lang="en-US" sz="500" dirty="0"/>
              <a:t>. </a:t>
            </a:r>
            <a:r>
              <a:rPr lang="en-US" sz="500" dirty="0">
                <a:hlinkClick r:id="rId3"/>
              </a:rPr>
              <a:t>landwirtschaft.de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Das </a:t>
            </a:r>
            <a:r>
              <a:rPr lang="en-US" sz="500" b="1" dirty="0" err="1"/>
              <a:t>ist</a:t>
            </a:r>
            <a:r>
              <a:rPr lang="en-US" sz="500" b="1" dirty="0"/>
              <a:t> </a:t>
            </a:r>
            <a:r>
              <a:rPr lang="en-US" sz="500" b="1" dirty="0" err="1"/>
              <a:t>perfekt</a:t>
            </a:r>
            <a:r>
              <a:rPr lang="en-US" sz="500" b="1" dirty="0"/>
              <a:t> für </a:t>
            </a:r>
            <a:r>
              <a:rPr lang="en-US" sz="500" b="1" dirty="0" err="1"/>
              <a:t>LocalBite</a:t>
            </a:r>
            <a:r>
              <a:rPr lang="en-US" sz="500" b="1" dirty="0"/>
              <a:t>:</a:t>
            </a:r>
            <a:endParaRPr lang="en-US" sz="500" dirty="0"/>
          </a:p>
          <a:p>
            <a:pPr>
              <a:buNone/>
            </a:pPr>
            <a:r>
              <a:rPr lang="en-US" sz="500" dirty="0"/>
              <a:t>Landwirt hat Ware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dirty="0" err="1"/>
              <a:t>klassischer</a:t>
            </a:r>
            <a:r>
              <a:rPr lang="en-US" sz="500" dirty="0"/>
              <a:t> Abnehmer </a:t>
            </a:r>
            <a:r>
              <a:rPr lang="en-US" sz="500" dirty="0" err="1"/>
              <a:t>nimmt</a:t>
            </a:r>
            <a:r>
              <a:rPr lang="en-US" sz="500" dirty="0"/>
              <a:t> </a:t>
            </a:r>
            <a:r>
              <a:rPr lang="en-US" sz="500" dirty="0" err="1"/>
              <a:t>sie</a:t>
            </a:r>
            <a:r>
              <a:rPr lang="en-US" sz="500" dirty="0"/>
              <a:t> nicht / </a:t>
            </a:r>
            <a:r>
              <a:rPr lang="en-US" sz="500" dirty="0" err="1"/>
              <a:t>Überschuss</a:t>
            </a:r>
            <a:r>
              <a:rPr lang="en-US" sz="500" dirty="0"/>
              <a:t> </a:t>
            </a:r>
            <a:r>
              <a:rPr lang="en-US" sz="500" dirty="0" err="1"/>
              <a:t>vorhanden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b="1" dirty="0" err="1"/>
              <a:t>LocalBite</a:t>
            </a:r>
            <a:r>
              <a:rPr lang="en-US" sz="500" b="1" dirty="0"/>
              <a:t> </a:t>
            </a:r>
            <a:r>
              <a:rPr lang="en-US" sz="500" b="1" dirty="0" err="1"/>
              <a:t>bietet</a:t>
            </a:r>
            <a:r>
              <a:rPr lang="en-US" sz="500" b="1" dirty="0"/>
              <a:t> </a:t>
            </a:r>
            <a:r>
              <a:rPr lang="en-US" sz="500" b="1" dirty="0" err="1"/>
              <a:t>zusätzlichen</a:t>
            </a:r>
            <a:r>
              <a:rPr lang="en-US" sz="500" b="1" dirty="0"/>
              <a:t> </a:t>
            </a:r>
            <a:r>
              <a:rPr lang="en-US" sz="500" b="1" dirty="0" err="1"/>
              <a:t>Absatzkanal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dirty="0"/>
              <a:t>Kunde </a:t>
            </a:r>
            <a:r>
              <a:rPr lang="en-US" sz="500" dirty="0" err="1"/>
              <a:t>bekommt</a:t>
            </a:r>
            <a:r>
              <a:rPr lang="en-US" sz="500" dirty="0"/>
              <a:t> </a:t>
            </a:r>
            <a:r>
              <a:rPr lang="en-US" sz="500" dirty="0" err="1"/>
              <a:t>trotzdem</a:t>
            </a:r>
            <a:r>
              <a:rPr lang="en-US" sz="500" dirty="0"/>
              <a:t> </a:t>
            </a:r>
            <a:r>
              <a:rPr lang="en-US" sz="500" dirty="0" err="1"/>
              <a:t>einwandfreie</a:t>
            </a:r>
            <a:r>
              <a:rPr lang="en-US" sz="500" dirty="0"/>
              <a:t> </a:t>
            </a:r>
            <a:r>
              <a:rPr lang="en-US" sz="500" dirty="0" err="1"/>
              <a:t>regionale</a:t>
            </a:r>
            <a:r>
              <a:rPr lang="en-US" sz="500" dirty="0"/>
              <a:t> </a:t>
            </a:r>
            <a:r>
              <a:rPr lang="en-US" sz="500" dirty="0" err="1"/>
              <a:t>Lebensmittel</a:t>
            </a:r>
            <a:r>
              <a:rPr lang="en-US" sz="500" dirty="0"/>
              <a:t>.</a:t>
            </a:r>
          </a:p>
          <a:p>
            <a:pPr>
              <a:buNone/>
            </a:pPr>
            <a:br>
              <a:rPr lang="en-US" sz="500" dirty="0"/>
            </a:br>
            <a:endParaRPr lang="en-US" sz="500" dirty="0"/>
          </a:p>
          <a:p>
            <a:pPr>
              <a:buNone/>
            </a:pPr>
            <a:r>
              <a:rPr lang="en-US" sz="500" b="1" dirty="0"/>
              <a:t>Dein Schlussbild </a:t>
            </a:r>
            <a:r>
              <a:rPr lang="en-US" sz="500" b="1" dirty="0" err="1"/>
              <a:t>könnte</a:t>
            </a:r>
            <a:r>
              <a:rPr lang="en-US" sz="500" b="1" dirty="0"/>
              <a:t> </a:t>
            </a:r>
            <a:r>
              <a:rPr lang="en-US" sz="500" b="1" dirty="0" err="1"/>
              <a:t>dann</a:t>
            </a:r>
            <a:r>
              <a:rPr lang="en-US" sz="500" b="1" dirty="0"/>
              <a:t> </a:t>
            </a:r>
            <a:r>
              <a:rPr lang="en-US" sz="500" b="1" dirty="0" err="1"/>
              <a:t>richtig</a:t>
            </a:r>
            <a:r>
              <a:rPr lang="en-US" sz="500" b="1" dirty="0"/>
              <a:t> gut sein</a:t>
            </a:r>
          </a:p>
          <a:p>
            <a:pPr>
              <a:buNone/>
            </a:pPr>
            <a:r>
              <a:rPr lang="en-US" sz="500" dirty="0"/>
              <a:t>In der Mitte:</a:t>
            </a:r>
          </a:p>
          <a:p>
            <a:pPr>
              <a:buNone/>
            </a:pPr>
            <a:r>
              <a:rPr lang="en-US" sz="500" b="1" dirty="0" err="1"/>
              <a:t>LocalBite</a:t>
            </a:r>
            <a:endParaRPr lang="en-US" sz="500" dirty="0"/>
          </a:p>
          <a:p>
            <a:pPr>
              <a:buNone/>
            </a:pPr>
            <a:r>
              <a:rPr lang="en-US" sz="500" dirty="0" err="1"/>
              <a:t>Drumherum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👨‍🌾 Landwirt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Absatz</a:t>
            </a:r>
            <a:r>
              <a:rPr lang="en-US" sz="500" dirty="0"/>
              <a:t>, </a:t>
            </a:r>
            <a:r>
              <a:rPr lang="en-US" sz="500" dirty="0" err="1"/>
              <a:t>Sichtbarkeit</a:t>
            </a:r>
            <a:r>
              <a:rPr lang="en-US" sz="500" dirty="0"/>
              <a:t>, </a:t>
            </a:r>
            <a:r>
              <a:rPr lang="en-US" sz="500" dirty="0" err="1"/>
              <a:t>Planung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👤 Kunde</a:t>
            </a:r>
            <a:br>
              <a:rPr lang="en-US" sz="500" dirty="0"/>
            </a:br>
            <a:r>
              <a:rPr lang="en-US" sz="500" dirty="0"/>
              <a:t>→ regional, </a:t>
            </a:r>
            <a:r>
              <a:rPr lang="en-US" sz="500" dirty="0" err="1"/>
              <a:t>bequem</a:t>
            </a:r>
            <a:r>
              <a:rPr lang="en-US" sz="500" dirty="0"/>
              <a:t>, transparent</a:t>
            </a:r>
          </a:p>
          <a:p>
            <a:pPr>
              <a:buNone/>
            </a:pPr>
            <a:r>
              <a:rPr lang="en-US" sz="500" b="1" dirty="0"/>
              <a:t>🚚 Logistik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gebündelte</a:t>
            </a:r>
            <a:r>
              <a:rPr lang="en-US" sz="500" dirty="0"/>
              <a:t> </a:t>
            </a:r>
            <a:r>
              <a:rPr lang="en-US" sz="500" dirty="0" err="1"/>
              <a:t>effiziente</a:t>
            </a:r>
            <a:r>
              <a:rPr lang="en-US" sz="500" dirty="0"/>
              <a:t> </a:t>
            </a:r>
            <a:r>
              <a:rPr lang="en-US" sz="500" dirty="0" err="1"/>
              <a:t>Touren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🏘 Region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regionale</a:t>
            </a:r>
            <a:r>
              <a:rPr lang="en-US" sz="500" dirty="0"/>
              <a:t> </a:t>
            </a:r>
            <a:r>
              <a:rPr lang="en-US" sz="500" dirty="0" err="1"/>
              <a:t>Wertschöpfung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🌱 Umwelt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weniger</a:t>
            </a:r>
            <a:r>
              <a:rPr lang="en-US" sz="500" dirty="0"/>
              <a:t> </a:t>
            </a:r>
            <a:r>
              <a:rPr lang="en-US" sz="500" dirty="0" err="1"/>
              <a:t>unnötige</a:t>
            </a:r>
            <a:r>
              <a:rPr lang="en-US" sz="500" dirty="0"/>
              <a:t> </a:t>
            </a:r>
            <a:r>
              <a:rPr lang="en-US" sz="500" dirty="0" err="1"/>
              <a:t>Lebensmittelverluste</a:t>
            </a:r>
            <a:r>
              <a:rPr lang="en-US" sz="500" dirty="0"/>
              <a:t> / </a:t>
            </a:r>
            <a:r>
              <a:rPr lang="en-US" sz="500" dirty="0" err="1"/>
              <a:t>kurze</a:t>
            </a:r>
            <a:r>
              <a:rPr lang="en-US" sz="500" dirty="0"/>
              <a:t> und </a:t>
            </a:r>
            <a:r>
              <a:rPr lang="en-US" sz="500" dirty="0" err="1"/>
              <a:t>gebündelte</a:t>
            </a:r>
            <a:r>
              <a:rPr lang="en-US" sz="500" dirty="0"/>
              <a:t> Wege</a:t>
            </a:r>
          </a:p>
          <a:p>
            <a:pPr>
              <a:buNone/>
            </a:pPr>
            <a:r>
              <a:rPr lang="en-US" sz="500" dirty="0"/>
              <a:t>Und </a:t>
            </a:r>
            <a:r>
              <a:rPr lang="en-US" sz="500" dirty="0" err="1"/>
              <a:t>dann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letzter</a:t>
            </a:r>
            <a:r>
              <a:rPr lang="en-US" sz="500" dirty="0"/>
              <a:t> Gedanke:</a:t>
            </a:r>
          </a:p>
          <a:p>
            <a:pPr>
              <a:buNone/>
            </a:pPr>
            <a:r>
              <a:rPr lang="en-US" sz="500" b="1" dirty="0" err="1"/>
              <a:t>Vom</a:t>
            </a:r>
            <a:r>
              <a:rPr lang="en-US" sz="500" b="1" dirty="0"/>
              <a:t> </a:t>
            </a:r>
            <a:r>
              <a:rPr lang="en-US" sz="500" b="1" dirty="0" err="1"/>
              <a:t>einzelnen</a:t>
            </a:r>
            <a:r>
              <a:rPr lang="en-US" sz="500" b="1" dirty="0"/>
              <a:t> </a:t>
            </a:r>
            <a:r>
              <a:rPr lang="en-US" sz="500" b="1" dirty="0" err="1"/>
              <a:t>Bauernhof</a:t>
            </a:r>
            <a:r>
              <a:rPr lang="en-US" sz="500" b="1" dirty="0"/>
              <a:t> </a:t>
            </a:r>
            <a:r>
              <a:rPr lang="en-US" sz="500" b="1" dirty="0" err="1"/>
              <a:t>zum</a:t>
            </a:r>
            <a:r>
              <a:rPr lang="en-US" sz="500" b="1" dirty="0"/>
              <a:t> </a:t>
            </a:r>
            <a:r>
              <a:rPr lang="en-US" sz="500" b="1" dirty="0" err="1"/>
              <a:t>regionalen</a:t>
            </a:r>
            <a:r>
              <a:rPr lang="en-US" sz="500" b="1" dirty="0"/>
              <a:t> </a:t>
            </a:r>
            <a:r>
              <a:rPr lang="en-US" sz="500" b="1" dirty="0" err="1"/>
              <a:t>Netzwerk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wäre</a:t>
            </a:r>
            <a:r>
              <a:rPr lang="en-US" sz="500" dirty="0"/>
              <a:t> für </a:t>
            </a:r>
            <a:r>
              <a:rPr lang="en-US" sz="500" dirty="0" err="1"/>
              <a:t>deine</a:t>
            </a:r>
            <a:r>
              <a:rPr lang="en-US" sz="500" dirty="0"/>
              <a:t> </a:t>
            </a:r>
            <a:r>
              <a:rPr lang="en-US" sz="500" dirty="0" err="1"/>
              <a:t>Präsentation</a:t>
            </a:r>
            <a:r>
              <a:rPr lang="en-US" sz="500" dirty="0"/>
              <a:t> </a:t>
            </a:r>
            <a:r>
              <a:rPr lang="en-US" sz="500" dirty="0" err="1"/>
              <a:t>wahrscheinlich</a:t>
            </a:r>
            <a:r>
              <a:rPr lang="en-US" sz="500" dirty="0"/>
              <a:t> </a:t>
            </a:r>
            <a:r>
              <a:rPr lang="en-US" sz="500" dirty="0" err="1"/>
              <a:t>sogar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sehr</a:t>
            </a:r>
            <a:r>
              <a:rPr lang="en-US" sz="500" dirty="0"/>
              <a:t> </a:t>
            </a:r>
            <a:r>
              <a:rPr lang="en-US" sz="500" dirty="0" err="1"/>
              <a:t>guter</a:t>
            </a:r>
            <a:r>
              <a:rPr lang="en-US" sz="500" dirty="0"/>
              <a:t> </a:t>
            </a:r>
            <a:r>
              <a:rPr lang="en-US" sz="500" dirty="0" err="1"/>
              <a:t>visueller</a:t>
            </a:r>
            <a:r>
              <a:rPr lang="en-US" sz="500" dirty="0"/>
              <a:t> </a:t>
            </a:r>
            <a:r>
              <a:rPr lang="en-US" sz="500" dirty="0" err="1"/>
              <a:t>Abschluss</a:t>
            </a:r>
            <a:r>
              <a:rPr lang="en-US" sz="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14809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32655-EC6F-A80D-BCCE-AFFC43968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7617AE-2D9B-4B24-678A-562711BB1492}"/>
              </a:ext>
            </a:extLst>
          </p:cNvPr>
          <p:cNvSpPr txBox="1"/>
          <p:nvPr/>
        </p:nvSpPr>
        <p:spPr>
          <a:xfrm>
            <a:off x="422644" y="518255"/>
            <a:ext cx="609777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Ja — und ich </a:t>
            </a:r>
            <a:r>
              <a:rPr lang="en-US" sz="800" dirty="0" err="1"/>
              <a:t>würde</a:t>
            </a:r>
            <a:r>
              <a:rPr lang="en-US" sz="800" dirty="0"/>
              <a:t> </a:t>
            </a:r>
            <a:r>
              <a:rPr lang="en-US" sz="800" b="1" dirty="0" err="1"/>
              <a:t>Nachhaltigkeit</a:t>
            </a:r>
            <a:r>
              <a:rPr lang="en-US" sz="800" b="1" dirty="0"/>
              <a:t> nicht </a:t>
            </a:r>
            <a:r>
              <a:rPr lang="en-US" sz="800" b="1" dirty="0" err="1"/>
              <a:t>einfach</a:t>
            </a:r>
            <a:r>
              <a:rPr lang="en-US" sz="800" b="1" dirty="0"/>
              <a:t> </a:t>
            </a:r>
            <a:r>
              <a:rPr lang="en-US" sz="800" b="1" dirty="0" err="1"/>
              <a:t>mit</a:t>
            </a:r>
            <a:r>
              <a:rPr lang="en-US" sz="800" b="1" dirty="0"/>
              <a:t> „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benutzen</a:t>
            </a:r>
            <a:r>
              <a:rPr lang="en-US" sz="800" b="1" dirty="0"/>
              <a:t> </a:t>
            </a:r>
            <a:r>
              <a:rPr lang="en-US" sz="800" b="1" dirty="0" err="1"/>
              <a:t>Elektroautos</a:t>
            </a:r>
            <a:r>
              <a:rPr lang="en-US" sz="800" b="1" dirty="0"/>
              <a:t>“ </a:t>
            </a:r>
            <a:r>
              <a:rPr lang="en-US" sz="800" b="1" dirty="0" err="1"/>
              <a:t>gleichsetzen</a:t>
            </a:r>
            <a:r>
              <a:rPr lang="en-US" sz="800" dirty="0"/>
              <a:t>. Das </a:t>
            </a:r>
            <a:r>
              <a:rPr lang="en-US" sz="800" dirty="0" err="1"/>
              <a:t>wäre</a:t>
            </a:r>
            <a:r>
              <a:rPr lang="en-US" sz="800" dirty="0"/>
              <a:t> </a:t>
            </a:r>
            <a:r>
              <a:rPr lang="en-US" sz="800" dirty="0" err="1"/>
              <a:t>zu</a:t>
            </a:r>
            <a:r>
              <a:rPr lang="en-US" sz="800" dirty="0"/>
              <a:t> </a:t>
            </a:r>
            <a:r>
              <a:rPr lang="en-US" sz="800" dirty="0" err="1"/>
              <a:t>oberflächlich</a:t>
            </a:r>
            <a:r>
              <a:rPr lang="en-US" sz="800" dirty="0"/>
              <a:t>.</a:t>
            </a:r>
          </a:p>
          <a:p>
            <a:r>
              <a:rPr lang="en-US" sz="800" dirty="0"/>
              <a:t>Für </a:t>
            </a:r>
            <a:r>
              <a:rPr lang="en-US" sz="800" dirty="0" err="1"/>
              <a:t>LocalBite</a:t>
            </a:r>
            <a:r>
              <a:rPr lang="en-US" sz="800" dirty="0"/>
              <a:t> </a:t>
            </a:r>
            <a:r>
              <a:rPr lang="en-US" sz="800" dirty="0" err="1"/>
              <a:t>könntest</a:t>
            </a:r>
            <a:r>
              <a:rPr lang="en-US" sz="800" dirty="0"/>
              <a:t> du </a:t>
            </a:r>
            <a:r>
              <a:rPr lang="en-US" sz="800" b="1" dirty="0" err="1"/>
              <a:t>Nachhaltigkeit</a:t>
            </a:r>
            <a:r>
              <a:rPr lang="en-US" sz="800" b="1" dirty="0"/>
              <a:t> + Innovation</a:t>
            </a:r>
            <a:r>
              <a:rPr lang="en-US" sz="800" dirty="0"/>
              <a:t> so </a:t>
            </a:r>
            <a:r>
              <a:rPr lang="en-US" sz="800" dirty="0" err="1"/>
              <a:t>zusammenfassen</a:t>
            </a:r>
            <a:r>
              <a:rPr lang="en-US" sz="800" dirty="0"/>
              <a:t>:</a:t>
            </a:r>
          </a:p>
          <a:p>
            <a:pPr lvl="0"/>
            <a:r>
              <a:rPr lang="en-US" sz="800" b="1" dirty="0" err="1"/>
              <a:t>Bestellungen</a:t>
            </a:r>
            <a:r>
              <a:rPr lang="en-US" sz="800" b="1" dirty="0"/>
              <a:t> </a:t>
            </a:r>
            <a:r>
              <a:rPr lang="en-US" sz="800" b="1" dirty="0" err="1"/>
              <a:t>bündeln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einzelne</a:t>
            </a:r>
            <a:r>
              <a:rPr lang="en-US" sz="800" dirty="0"/>
              <a:t> </a:t>
            </a:r>
            <a:r>
              <a:rPr lang="en-US" sz="800" dirty="0" err="1"/>
              <a:t>Fahrten</a:t>
            </a:r>
            <a:endParaRPr lang="en-US" sz="800" dirty="0"/>
          </a:p>
          <a:p>
            <a:pPr lvl="0"/>
            <a:r>
              <a:rPr lang="en-US" sz="800" b="1" dirty="0" err="1"/>
              <a:t>Touren</a:t>
            </a:r>
            <a:r>
              <a:rPr lang="en-US" sz="800" b="1" dirty="0"/>
              <a:t> intelligent </a:t>
            </a:r>
            <a:r>
              <a:rPr lang="en-US" sz="800" b="1" dirty="0" err="1"/>
              <a:t>planen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Kilometer und </a:t>
            </a:r>
            <a:r>
              <a:rPr lang="en-US" sz="800" dirty="0" err="1"/>
              <a:t>Leerfahrten</a:t>
            </a:r>
            <a:endParaRPr lang="en-US" sz="800" dirty="0"/>
          </a:p>
          <a:p>
            <a:pPr lvl="0"/>
            <a:r>
              <a:rPr lang="en-US" sz="800" b="1" dirty="0"/>
              <a:t>E-</a:t>
            </a:r>
            <a:r>
              <a:rPr lang="en-US" sz="800" b="1" dirty="0" err="1"/>
              <a:t>Lieferwagen</a:t>
            </a:r>
            <a:r>
              <a:rPr lang="en-US" sz="800" dirty="0"/>
              <a:t>, </a:t>
            </a:r>
            <a:r>
              <a:rPr lang="en-US" sz="800" dirty="0" err="1"/>
              <a:t>möglichst</a:t>
            </a:r>
            <a:r>
              <a:rPr lang="en-US" sz="800" dirty="0"/>
              <a:t> </a:t>
            </a:r>
            <a:r>
              <a:rPr lang="en-US" sz="800" dirty="0" err="1"/>
              <a:t>mit</a:t>
            </a:r>
            <a:r>
              <a:rPr lang="en-US" sz="800" dirty="0"/>
              <a:t> </a:t>
            </a:r>
            <a:r>
              <a:rPr lang="en-US" sz="800" dirty="0" err="1"/>
              <a:t>erneuerbarem</a:t>
            </a:r>
            <a:r>
              <a:rPr lang="en-US" sz="800" dirty="0"/>
              <a:t> Strom</a:t>
            </a:r>
          </a:p>
          <a:p>
            <a:pPr lvl="0"/>
            <a:r>
              <a:rPr lang="en-US" sz="800" dirty="0"/>
              <a:t>in </a:t>
            </a:r>
            <a:r>
              <a:rPr lang="en-US" sz="800" dirty="0" err="1"/>
              <a:t>Städten</a:t>
            </a:r>
            <a:r>
              <a:rPr lang="en-US" sz="800" dirty="0"/>
              <a:t> </a:t>
            </a:r>
            <a:r>
              <a:rPr lang="en-US" sz="800" dirty="0" err="1"/>
              <a:t>eventuell</a:t>
            </a:r>
            <a:r>
              <a:rPr lang="en-US" sz="800" dirty="0"/>
              <a:t> </a:t>
            </a:r>
            <a:r>
              <a:rPr lang="en-US" sz="800" b="1" dirty="0"/>
              <a:t>E-</a:t>
            </a:r>
            <a:r>
              <a:rPr lang="en-US" sz="800" b="1" dirty="0" err="1"/>
              <a:t>Lastenräder</a:t>
            </a:r>
            <a:r>
              <a:rPr lang="en-US" sz="800" b="1" dirty="0"/>
              <a:t> / </a:t>
            </a:r>
            <a:r>
              <a:rPr lang="en-US" sz="800" b="1" dirty="0" err="1"/>
              <a:t>kleine</a:t>
            </a:r>
            <a:r>
              <a:rPr lang="en-US" sz="800" b="1" dirty="0"/>
              <a:t> E-</a:t>
            </a:r>
            <a:r>
              <a:rPr lang="en-US" sz="800" b="1" dirty="0" err="1"/>
              <a:t>Fahrzeuge</a:t>
            </a:r>
            <a:r>
              <a:rPr lang="en-US" sz="800" dirty="0"/>
              <a:t> für die </a:t>
            </a:r>
            <a:r>
              <a:rPr lang="en-US" sz="800" dirty="0" err="1"/>
              <a:t>letzte</a:t>
            </a:r>
            <a:r>
              <a:rPr lang="en-US" sz="800" dirty="0"/>
              <a:t> Meile</a:t>
            </a:r>
          </a:p>
          <a:p>
            <a:pPr lvl="0"/>
            <a:r>
              <a:rPr lang="en-US" sz="800" b="1" dirty="0" err="1"/>
              <a:t>regionale</a:t>
            </a:r>
            <a:r>
              <a:rPr lang="en-US" sz="800" b="1" dirty="0"/>
              <a:t> Hubs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unnötig</a:t>
            </a:r>
            <a:r>
              <a:rPr lang="en-US" sz="800" dirty="0"/>
              <a:t> </a:t>
            </a:r>
            <a:r>
              <a:rPr lang="en-US" sz="800" dirty="0" err="1"/>
              <a:t>langer</a:t>
            </a:r>
            <a:r>
              <a:rPr lang="en-US" sz="800" dirty="0"/>
              <a:t> </a:t>
            </a:r>
            <a:r>
              <a:rPr lang="en-US" sz="800" dirty="0" err="1"/>
              <a:t>Einzelstrecken</a:t>
            </a:r>
            <a:endParaRPr lang="en-US" sz="800" dirty="0"/>
          </a:p>
          <a:p>
            <a:pPr lvl="0"/>
            <a:r>
              <a:rPr lang="en-US" sz="800" b="1" dirty="0" err="1"/>
              <a:t>Mehrwegboxen</a:t>
            </a:r>
            <a:r>
              <a:rPr lang="en-US" sz="800" b="1" dirty="0"/>
              <a:t> + </a:t>
            </a:r>
            <a:r>
              <a:rPr lang="en-US" sz="800" b="1" dirty="0" err="1"/>
              <a:t>Pfandsystem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Einwegverpackungen</a:t>
            </a:r>
            <a:endParaRPr lang="en-US" sz="800" dirty="0"/>
          </a:p>
          <a:p>
            <a:pPr lvl="0"/>
            <a:r>
              <a:rPr lang="en-US" sz="800" b="1" dirty="0" err="1"/>
              <a:t>Überschüsse</a:t>
            </a:r>
            <a:r>
              <a:rPr lang="en-US" sz="800" b="1" dirty="0"/>
              <a:t> </a:t>
            </a:r>
            <a:r>
              <a:rPr lang="en-US" sz="800" b="1" dirty="0" err="1"/>
              <a:t>zwischen</a:t>
            </a:r>
            <a:r>
              <a:rPr lang="en-US" sz="800" b="1" dirty="0"/>
              <a:t> </a:t>
            </a:r>
            <a:r>
              <a:rPr lang="en-US" sz="800" b="1" dirty="0" err="1"/>
              <a:t>Regionen</a:t>
            </a:r>
            <a:r>
              <a:rPr lang="en-US" sz="800" b="1" dirty="0"/>
              <a:t> </a:t>
            </a:r>
            <a:r>
              <a:rPr lang="en-US" sz="800" b="1" dirty="0" err="1"/>
              <a:t>vermitteln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Lebensmittelverluste</a:t>
            </a:r>
            <a:endParaRPr lang="en-US" sz="800" dirty="0"/>
          </a:p>
          <a:p>
            <a:pPr lvl="0"/>
            <a:r>
              <a:rPr lang="en-US" sz="800" b="1" dirty="0" err="1"/>
              <a:t>Nachfrage</a:t>
            </a:r>
            <a:r>
              <a:rPr lang="en-US" sz="800" b="1" dirty="0"/>
              <a:t> </a:t>
            </a:r>
            <a:r>
              <a:rPr lang="en-US" sz="800" b="1" dirty="0" err="1"/>
              <a:t>prognostizieren</a:t>
            </a:r>
            <a:r>
              <a:rPr lang="en-US" sz="800" dirty="0"/>
              <a:t> → </a:t>
            </a:r>
            <a:r>
              <a:rPr lang="en-US" sz="800" dirty="0" err="1"/>
              <a:t>Landwirte</a:t>
            </a:r>
            <a:r>
              <a:rPr lang="en-US" sz="800" dirty="0"/>
              <a:t> </a:t>
            </a:r>
            <a:r>
              <a:rPr lang="en-US" sz="800" dirty="0" err="1"/>
              <a:t>können</a:t>
            </a:r>
            <a:r>
              <a:rPr lang="en-US" sz="800" dirty="0"/>
              <a:t> Mengen </a:t>
            </a:r>
            <a:r>
              <a:rPr lang="en-US" sz="800" dirty="0" err="1"/>
              <a:t>besser</a:t>
            </a:r>
            <a:r>
              <a:rPr lang="en-US" sz="800" dirty="0"/>
              <a:t> </a:t>
            </a:r>
            <a:r>
              <a:rPr lang="en-US" sz="800" dirty="0" err="1"/>
              <a:t>planen</a:t>
            </a:r>
            <a:endParaRPr lang="en-US" sz="800" dirty="0"/>
          </a:p>
          <a:p>
            <a:pPr lvl="0"/>
            <a:r>
              <a:rPr lang="en-US" sz="800" dirty="0"/>
              <a:t>Waren </a:t>
            </a:r>
            <a:r>
              <a:rPr lang="en-US" sz="800" dirty="0" err="1"/>
              <a:t>nur</a:t>
            </a:r>
            <a:r>
              <a:rPr lang="en-US" sz="800" dirty="0"/>
              <a:t> </a:t>
            </a:r>
            <a:r>
              <a:rPr lang="en-US" sz="800" dirty="0" err="1"/>
              <a:t>zwischen</a:t>
            </a:r>
            <a:r>
              <a:rPr lang="en-US" sz="800" dirty="0"/>
              <a:t> </a:t>
            </a:r>
            <a:r>
              <a:rPr lang="en-US" sz="800" dirty="0" err="1"/>
              <a:t>Regionen</a:t>
            </a:r>
            <a:r>
              <a:rPr lang="en-US" sz="800" dirty="0"/>
              <a:t> </a:t>
            </a:r>
            <a:r>
              <a:rPr lang="en-US" sz="800" dirty="0" err="1"/>
              <a:t>verschieben</a:t>
            </a:r>
            <a:r>
              <a:rPr lang="en-US" sz="800" dirty="0"/>
              <a:t>, </a:t>
            </a:r>
            <a:r>
              <a:rPr lang="en-US" sz="800" b="1" dirty="0" err="1"/>
              <a:t>wenn</a:t>
            </a:r>
            <a:r>
              <a:rPr lang="en-US" sz="800" b="1" dirty="0"/>
              <a:t> es </a:t>
            </a:r>
            <a:r>
              <a:rPr lang="en-US" sz="800" b="1" dirty="0" err="1"/>
              <a:t>logistisch</a:t>
            </a:r>
            <a:r>
              <a:rPr lang="en-US" sz="800" b="1" dirty="0"/>
              <a:t> </a:t>
            </a:r>
            <a:r>
              <a:rPr lang="en-US" sz="800" b="1" dirty="0" err="1"/>
              <a:t>wirklich</a:t>
            </a:r>
            <a:r>
              <a:rPr lang="en-US" sz="800" b="1" dirty="0"/>
              <a:t> </a:t>
            </a:r>
            <a:r>
              <a:rPr lang="en-US" sz="800" b="1" dirty="0" err="1"/>
              <a:t>sinnvoll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endParaRPr lang="en-US" sz="800" dirty="0"/>
          </a:p>
          <a:p>
            <a:r>
              <a:rPr lang="en-US" sz="800" dirty="0"/>
              <a:t>Und </a:t>
            </a:r>
            <a:r>
              <a:rPr lang="en-US" sz="800" dirty="0" err="1"/>
              <a:t>zu</a:t>
            </a:r>
            <a:r>
              <a:rPr lang="en-US" sz="800" dirty="0"/>
              <a:t> E-Autos: Sie </a:t>
            </a:r>
            <a:r>
              <a:rPr lang="en-US" sz="800" dirty="0" err="1"/>
              <a:t>sind</a:t>
            </a:r>
            <a:r>
              <a:rPr lang="en-US" sz="800" dirty="0"/>
              <a:t> </a:t>
            </a:r>
            <a:r>
              <a:rPr lang="en-US" sz="800" dirty="0" err="1"/>
              <a:t>natürlich</a:t>
            </a:r>
            <a:r>
              <a:rPr lang="en-US" sz="800" dirty="0"/>
              <a:t> nicht </a:t>
            </a:r>
            <a:r>
              <a:rPr lang="en-US" sz="800" dirty="0" err="1"/>
              <a:t>emissionsfrei</a:t>
            </a:r>
            <a:r>
              <a:rPr lang="en-US" sz="800" dirty="0"/>
              <a:t> – </a:t>
            </a:r>
            <a:r>
              <a:rPr lang="en-US" sz="800" dirty="0" err="1"/>
              <a:t>Batterieproduktion</a:t>
            </a:r>
            <a:r>
              <a:rPr lang="en-US" sz="800" dirty="0"/>
              <a:t> und </a:t>
            </a:r>
            <a:r>
              <a:rPr lang="en-US" sz="800" dirty="0" err="1"/>
              <a:t>Rohstoffe</a:t>
            </a:r>
            <a:r>
              <a:rPr lang="en-US" sz="800" dirty="0"/>
              <a:t> </a:t>
            </a:r>
            <a:r>
              <a:rPr lang="en-US" sz="800" dirty="0" err="1"/>
              <a:t>belasten</a:t>
            </a:r>
            <a:r>
              <a:rPr lang="en-US" sz="800" dirty="0"/>
              <a:t> die Umwelt. </a:t>
            </a:r>
            <a:r>
              <a:rPr lang="en-US" sz="800" dirty="0" err="1"/>
              <a:t>Über</a:t>
            </a:r>
            <a:r>
              <a:rPr lang="en-US" sz="800" dirty="0"/>
              <a:t> den </a:t>
            </a:r>
            <a:r>
              <a:rPr lang="en-US" sz="800" dirty="0" err="1"/>
              <a:t>gesamten</a:t>
            </a:r>
            <a:r>
              <a:rPr lang="en-US" sz="800" dirty="0"/>
              <a:t> </a:t>
            </a:r>
            <a:r>
              <a:rPr lang="en-US" sz="800" dirty="0" err="1"/>
              <a:t>Lebenszyklus</a:t>
            </a:r>
            <a:r>
              <a:rPr lang="en-US" sz="800" dirty="0"/>
              <a:t> </a:t>
            </a:r>
            <a:r>
              <a:rPr lang="en-US" sz="800" dirty="0" err="1"/>
              <a:t>verursacht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typisches</a:t>
            </a:r>
            <a:r>
              <a:rPr lang="en-US" sz="800" dirty="0"/>
              <a:t> E-</a:t>
            </a:r>
            <a:r>
              <a:rPr lang="en-US" sz="800" dirty="0" err="1"/>
              <a:t>Fahrzeug</a:t>
            </a:r>
            <a:r>
              <a:rPr lang="en-US" sz="800" dirty="0"/>
              <a:t> in Europa </a:t>
            </a:r>
            <a:r>
              <a:rPr lang="en-US" sz="800" dirty="0" err="1"/>
              <a:t>aber</a:t>
            </a:r>
            <a:r>
              <a:rPr lang="en-US" sz="800" dirty="0"/>
              <a:t> </a:t>
            </a:r>
            <a:r>
              <a:rPr lang="en-US" sz="800" dirty="0" err="1"/>
              <a:t>trotzdem</a:t>
            </a:r>
            <a:r>
              <a:rPr lang="en-US" sz="800" dirty="0"/>
              <a:t>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Treibhausgasemissionen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vergleichbares</a:t>
            </a:r>
            <a:r>
              <a:rPr lang="en-US" sz="800" dirty="0"/>
              <a:t> Benzin- </a:t>
            </a:r>
            <a:r>
              <a:rPr lang="en-US" sz="800" dirty="0" err="1"/>
              <a:t>oder</a:t>
            </a:r>
            <a:r>
              <a:rPr lang="en-US" sz="800" dirty="0"/>
              <a:t> </a:t>
            </a:r>
            <a:r>
              <a:rPr lang="en-US" sz="800" dirty="0" err="1"/>
              <a:t>Dieselfahrzeug</a:t>
            </a:r>
            <a:r>
              <a:rPr lang="en-US" sz="800" dirty="0"/>
              <a:t>. Die EEA </a:t>
            </a:r>
            <a:r>
              <a:rPr lang="en-US" sz="800" dirty="0" err="1"/>
              <a:t>betont</a:t>
            </a:r>
            <a:r>
              <a:rPr lang="en-US" sz="800" dirty="0"/>
              <a:t> </a:t>
            </a:r>
            <a:r>
              <a:rPr lang="en-US" sz="800" dirty="0" err="1"/>
              <a:t>gleichzeitig</a:t>
            </a:r>
            <a:r>
              <a:rPr lang="en-US" sz="800" dirty="0"/>
              <a:t>, </a:t>
            </a:r>
            <a:r>
              <a:rPr lang="en-US" sz="800" dirty="0" err="1"/>
              <a:t>dass</a:t>
            </a:r>
            <a:r>
              <a:rPr lang="en-US" sz="800" dirty="0"/>
              <a:t> </a:t>
            </a:r>
            <a:r>
              <a:rPr lang="en-US" sz="800" b="1" dirty="0"/>
              <a:t>E-Autos </a:t>
            </a:r>
            <a:r>
              <a:rPr lang="en-US" sz="800" b="1" dirty="0" err="1"/>
              <a:t>allein</a:t>
            </a:r>
            <a:r>
              <a:rPr lang="en-US" sz="800" b="1" dirty="0"/>
              <a:t> Verkehr nicht </a:t>
            </a:r>
            <a:r>
              <a:rPr lang="en-US" sz="800" b="1" dirty="0" err="1"/>
              <a:t>nachhaltig</a:t>
            </a:r>
            <a:r>
              <a:rPr lang="en-US" sz="800" b="1" dirty="0"/>
              <a:t> </a:t>
            </a:r>
            <a:r>
              <a:rPr lang="en-US" sz="800" b="1" dirty="0" err="1"/>
              <a:t>machen</a:t>
            </a:r>
            <a:r>
              <a:rPr lang="en-US" sz="800" dirty="0"/>
              <a:t>. </a:t>
            </a:r>
            <a:r>
              <a:rPr lang="en-US" sz="800" dirty="0">
                <a:hlinkClick r:id="rId2"/>
              </a:rPr>
              <a:t>European Environment Agency</a:t>
            </a:r>
            <a:endParaRPr lang="en-US" sz="800" dirty="0"/>
          </a:p>
          <a:p>
            <a:r>
              <a:rPr lang="en-US" sz="800" dirty="0"/>
              <a:t>Das </a:t>
            </a:r>
            <a:r>
              <a:rPr lang="en-US" sz="800" dirty="0" err="1"/>
              <a:t>ist</a:t>
            </a:r>
            <a:r>
              <a:rPr lang="en-US" sz="800" dirty="0"/>
              <a:t> für </a:t>
            </a:r>
            <a:r>
              <a:rPr lang="en-US" sz="800" dirty="0" err="1"/>
              <a:t>eure</a:t>
            </a:r>
            <a:r>
              <a:rPr lang="en-US" sz="800" dirty="0"/>
              <a:t> </a:t>
            </a:r>
            <a:r>
              <a:rPr lang="en-US" sz="800" dirty="0" err="1"/>
              <a:t>Präsentation</a:t>
            </a:r>
            <a:r>
              <a:rPr lang="en-US" sz="800" dirty="0"/>
              <a:t> </a:t>
            </a:r>
            <a:r>
              <a:rPr lang="en-US" sz="800" dirty="0" err="1"/>
              <a:t>sogar</a:t>
            </a:r>
            <a:r>
              <a:rPr lang="en-US" sz="800" dirty="0"/>
              <a:t> </a:t>
            </a:r>
            <a:r>
              <a:rPr lang="en-US" sz="800" dirty="0" err="1"/>
              <a:t>besser</a:t>
            </a:r>
            <a:r>
              <a:rPr lang="en-US" sz="800" dirty="0"/>
              <a:t>:</a:t>
            </a:r>
          </a:p>
          <a:p>
            <a:r>
              <a:rPr lang="en-US" sz="800" b="1" dirty="0"/>
              <a:t>„Unser </a:t>
            </a:r>
            <a:r>
              <a:rPr lang="en-US" sz="800" b="1" dirty="0" err="1"/>
              <a:t>Nachhaltigkeitsansatz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r>
              <a:rPr lang="en-US" sz="800" b="1" dirty="0"/>
              <a:t> nicht </a:t>
            </a:r>
            <a:r>
              <a:rPr lang="en-US" sz="800" b="1" dirty="0" err="1"/>
              <a:t>einfach</a:t>
            </a:r>
            <a:r>
              <a:rPr lang="en-US" sz="800" b="1" dirty="0"/>
              <a:t>: Wir </a:t>
            </a:r>
            <a:r>
              <a:rPr lang="en-US" sz="800" b="1" dirty="0" err="1"/>
              <a:t>nehmen</a:t>
            </a:r>
            <a:r>
              <a:rPr lang="en-US" sz="800" b="1" dirty="0"/>
              <a:t> </a:t>
            </a:r>
            <a:r>
              <a:rPr lang="en-US" sz="800" b="1" dirty="0" err="1"/>
              <a:t>Elektrofahrzeuge</a:t>
            </a:r>
            <a:r>
              <a:rPr lang="en-US" sz="800" b="1" dirty="0"/>
              <a:t>. </a:t>
            </a:r>
            <a:r>
              <a:rPr lang="en-US" sz="800" b="1" dirty="0" err="1"/>
              <a:t>Entscheidend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r>
              <a:rPr lang="en-US" sz="800" b="1" dirty="0"/>
              <a:t>, </a:t>
            </a:r>
            <a:r>
              <a:rPr lang="en-US" sz="800" b="1" dirty="0" err="1"/>
              <a:t>möglichst</a:t>
            </a:r>
            <a:r>
              <a:rPr lang="en-US" sz="800" b="1" dirty="0"/>
              <a:t> </a:t>
            </a:r>
            <a:r>
              <a:rPr lang="en-US" sz="800" b="1" dirty="0" err="1"/>
              <a:t>wenige</a:t>
            </a:r>
            <a:r>
              <a:rPr lang="en-US" sz="800" b="1" dirty="0"/>
              <a:t> und </a:t>
            </a:r>
            <a:r>
              <a:rPr lang="en-US" sz="800" b="1" dirty="0" err="1"/>
              <a:t>möglichst</a:t>
            </a:r>
            <a:r>
              <a:rPr lang="en-US" sz="800" b="1" dirty="0"/>
              <a:t> gut </a:t>
            </a:r>
            <a:r>
              <a:rPr lang="en-US" sz="800" b="1" dirty="0" err="1"/>
              <a:t>ausgelastete</a:t>
            </a:r>
            <a:r>
              <a:rPr lang="en-US" sz="800" b="1" dirty="0"/>
              <a:t> </a:t>
            </a:r>
            <a:r>
              <a:rPr lang="en-US" sz="800" b="1" dirty="0" err="1"/>
              <a:t>Fahrten</a:t>
            </a:r>
            <a:r>
              <a:rPr lang="en-US" sz="800" b="1" dirty="0"/>
              <a:t> </a:t>
            </a:r>
            <a:r>
              <a:rPr lang="en-US" sz="800" b="1" dirty="0" err="1"/>
              <a:t>zu</a:t>
            </a:r>
            <a:r>
              <a:rPr lang="en-US" sz="800" b="1" dirty="0"/>
              <a:t> </a:t>
            </a:r>
            <a:r>
              <a:rPr lang="en-US" sz="800" b="1" dirty="0" err="1"/>
              <a:t>benötigen</a:t>
            </a:r>
            <a:r>
              <a:rPr lang="en-US" sz="800" b="1" dirty="0"/>
              <a:t>.“</a:t>
            </a:r>
            <a:endParaRPr lang="en-US" sz="800" dirty="0"/>
          </a:p>
          <a:p>
            <a:r>
              <a:rPr lang="en-US" sz="800" dirty="0"/>
              <a:t>Und </a:t>
            </a:r>
            <a:r>
              <a:rPr lang="en-US" sz="800" dirty="0" err="1"/>
              <a:t>euer</a:t>
            </a:r>
            <a:r>
              <a:rPr lang="en-US" sz="800" dirty="0"/>
              <a:t> </a:t>
            </a:r>
            <a:r>
              <a:rPr lang="en-US" sz="800" b="1" dirty="0" err="1"/>
              <a:t>Pfand</a:t>
            </a:r>
            <a:r>
              <a:rPr lang="en-US" sz="800" b="1" dirty="0"/>
              <a:t>-/</a:t>
            </a:r>
            <a:r>
              <a:rPr lang="en-US" sz="800" b="1" dirty="0" err="1"/>
              <a:t>Mehrwegsystem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</a:t>
            </a:r>
            <a:r>
              <a:rPr lang="en-US" sz="800" dirty="0" err="1"/>
              <a:t>aktuell</a:t>
            </a:r>
            <a:r>
              <a:rPr lang="en-US" sz="800" dirty="0"/>
              <a:t> </a:t>
            </a:r>
            <a:r>
              <a:rPr lang="en-US" sz="800" dirty="0" err="1"/>
              <a:t>ebenfalls</a:t>
            </a:r>
            <a:r>
              <a:rPr lang="en-US" sz="800" dirty="0"/>
              <a:t> </a:t>
            </a:r>
            <a:r>
              <a:rPr lang="en-US" sz="800" dirty="0" err="1"/>
              <a:t>passend</a:t>
            </a:r>
            <a:r>
              <a:rPr lang="en-US" sz="800" dirty="0"/>
              <a:t>: Seit August 2026 </a:t>
            </a:r>
            <a:r>
              <a:rPr lang="en-US" sz="800" dirty="0" err="1"/>
              <a:t>gelten</a:t>
            </a:r>
            <a:r>
              <a:rPr lang="en-US" sz="800" dirty="0"/>
              <a:t> </a:t>
            </a:r>
            <a:r>
              <a:rPr lang="en-US" sz="800" dirty="0" err="1"/>
              <a:t>neue</a:t>
            </a:r>
            <a:r>
              <a:rPr lang="en-US" sz="800" dirty="0"/>
              <a:t> EU-</a:t>
            </a:r>
            <a:r>
              <a:rPr lang="en-US" sz="800" dirty="0" err="1"/>
              <a:t>Verpackungsregeln</a:t>
            </a:r>
            <a:r>
              <a:rPr lang="en-US" sz="800" dirty="0"/>
              <a:t>, die </a:t>
            </a:r>
            <a:r>
              <a:rPr lang="en-US" sz="800" dirty="0" err="1"/>
              <a:t>Kreislaufwirtschaft</a:t>
            </a:r>
            <a:r>
              <a:rPr lang="en-US" sz="800" dirty="0"/>
              <a:t> und </a:t>
            </a:r>
            <a:r>
              <a:rPr lang="en-US" sz="800" dirty="0" err="1"/>
              <a:t>wiederverwendbare</a:t>
            </a:r>
            <a:r>
              <a:rPr lang="en-US" sz="800" dirty="0"/>
              <a:t> </a:t>
            </a:r>
            <a:r>
              <a:rPr lang="en-US" sz="800" dirty="0" err="1"/>
              <a:t>Verpackungen</a:t>
            </a:r>
            <a:r>
              <a:rPr lang="en-US" sz="800" dirty="0"/>
              <a:t> </a:t>
            </a:r>
            <a:r>
              <a:rPr lang="en-US" sz="800" dirty="0" err="1"/>
              <a:t>stärker</a:t>
            </a:r>
            <a:r>
              <a:rPr lang="en-US" sz="800" dirty="0"/>
              <a:t> </a:t>
            </a:r>
            <a:r>
              <a:rPr lang="en-US" sz="800" dirty="0" err="1"/>
              <a:t>fördern</a:t>
            </a:r>
            <a:r>
              <a:rPr lang="en-US" sz="800" dirty="0"/>
              <a:t>. </a:t>
            </a:r>
            <a:r>
              <a:rPr lang="en-US" sz="800" dirty="0">
                <a:hlinkClick r:id="rId3"/>
              </a:rPr>
              <a:t>Environment</a:t>
            </a:r>
            <a:endParaRPr lang="en-US" sz="800" dirty="0"/>
          </a:p>
          <a:p>
            <a:r>
              <a:rPr lang="en-US" sz="800" b="1" dirty="0"/>
              <a:t>Für </a:t>
            </a:r>
            <a:r>
              <a:rPr lang="en-US" sz="800" b="1" dirty="0" err="1"/>
              <a:t>deine</a:t>
            </a:r>
            <a:r>
              <a:rPr lang="en-US" sz="800" b="1" dirty="0"/>
              <a:t> Folie </a:t>
            </a:r>
            <a:r>
              <a:rPr lang="en-US" sz="800" b="1" dirty="0" err="1"/>
              <a:t>ganz</a:t>
            </a:r>
            <a:r>
              <a:rPr lang="en-US" sz="800" b="1" dirty="0"/>
              <a:t> </a:t>
            </a:r>
            <a:r>
              <a:rPr lang="en-US" sz="800" b="1" dirty="0" err="1"/>
              <a:t>kurz</a:t>
            </a:r>
            <a:endParaRPr lang="en-US" sz="800" b="1" dirty="0"/>
          </a:p>
          <a:p>
            <a:r>
              <a:rPr lang="en-US" sz="800" b="1" dirty="0" err="1"/>
              <a:t>Nachhaltig</a:t>
            </a:r>
            <a:br>
              <a:rPr lang="en-US" sz="800" dirty="0"/>
            </a:br>
            <a:r>
              <a:rPr lang="en-US" sz="800" dirty="0"/>
              <a:t>→ regional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gebündelte</a:t>
            </a:r>
            <a:r>
              <a:rPr lang="en-US" sz="800" dirty="0"/>
              <a:t> </a:t>
            </a:r>
            <a:r>
              <a:rPr lang="en-US" sz="800" dirty="0" err="1"/>
              <a:t>Lieferungen</a:t>
            </a:r>
            <a:br>
              <a:rPr lang="en-US" sz="800" dirty="0"/>
            </a:br>
            <a:r>
              <a:rPr lang="en-US" sz="800" dirty="0"/>
              <a:t>→ Mehrweg &amp; </a:t>
            </a:r>
            <a:r>
              <a:rPr lang="en-US" sz="800" dirty="0" err="1"/>
              <a:t>Pfand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Lebensmittelverluste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emissionsärmere</a:t>
            </a:r>
            <a:r>
              <a:rPr lang="en-US" sz="800" dirty="0"/>
              <a:t> </a:t>
            </a:r>
            <a:r>
              <a:rPr lang="en-US" sz="800" dirty="0" err="1"/>
              <a:t>Lieferung</a:t>
            </a:r>
            <a:r>
              <a:rPr lang="en-US" sz="800" dirty="0"/>
              <a:t> </a:t>
            </a:r>
          </a:p>
          <a:p>
            <a:r>
              <a:rPr lang="en-US" sz="800" b="1" dirty="0" err="1"/>
              <a:t>Innovativ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intelligente</a:t>
            </a:r>
            <a:r>
              <a:rPr lang="en-US" sz="800" dirty="0"/>
              <a:t> </a:t>
            </a:r>
            <a:r>
              <a:rPr lang="en-US" sz="800" dirty="0" err="1"/>
              <a:t>Tourenplanung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Nachfrage</a:t>
            </a:r>
            <a:r>
              <a:rPr lang="en-US" sz="800" dirty="0"/>
              <a:t> &amp; </a:t>
            </a:r>
            <a:r>
              <a:rPr lang="en-US" sz="800" dirty="0" err="1"/>
              <a:t>Bestände</a:t>
            </a:r>
            <a:r>
              <a:rPr lang="en-US" sz="800" dirty="0"/>
              <a:t> </a:t>
            </a:r>
            <a:r>
              <a:rPr lang="en-US" sz="800" dirty="0" err="1"/>
              <a:t>verbinden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Überschüsse</a:t>
            </a:r>
            <a:r>
              <a:rPr lang="en-US" sz="800" dirty="0"/>
              <a:t> regional </a:t>
            </a:r>
            <a:r>
              <a:rPr lang="en-US" sz="800" dirty="0" err="1"/>
              <a:t>verteilen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Tierpartnerschaften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skalierbares</a:t>
            </a:r>
            <a:r>
              <a:rPr lang="en-US" sz="800" dirty="0"/>
              <a:t> </a:t>
            </a:r>
            <a:r>
              <a:rPr lang="en-US" sz="800" dirty="0" err="1"/>
              <a:t>regionales</a:t>
            </a:r>
            <a:r>
              <a:rPr lang="en-US" sz="800" dirty="0"/>
              <a:t> </a:t>
            </a:r>
            <a:r>
              <a:rPr lang="en-US" sz="800" dirty="0" err="1"/>
              <a:t>Netzwerk</a:t>
            </a:r>
            <a:r>
              <a:rPr lang="en-US" sz="800" dirty="0"/>
              <a:t> </a:t>
            </a:r>
          </a:p>
          <a:p>
            <a:r>
              <a:rPr lang="en-US" sz="800" dirty="0"/>
              <a:t>Das </a:t>
            </a:r>
            <a:r>
              <a:rPr lang="en-US" sz="800" dirty="0" err="1"/>
              <a:t>wäre</a:t>
            </a:r>
            <a:r>
              <a:rPr lang="en-US" sz="800" dirty="0"/>
              <a:t> </a:t>
            </a:r>
            <a:r>
              <a:rPr lang="en-US" sz="800" dirty="0" err="1"/>
              <a:t>meiner</a:t>
            </a:r>
            <a:r>
              <a:rPr lang="en-US" sz="800" dirty="0"/>
              <a:t> Meinung </a:t>
            </a:r>
            <a:r>
              <a:rPr lang="en-US" sz="800" dirty="0" err="1"/>
              <a:t>nach</a:t>
            </a:r>
            <a:r>
              <a:rPr lang="en-US" sz="800" dirty="0"/>
              <a:t> </a:t>
            </a:r>
            <a:r>
              <a:rPr lang="en-US" sz="800" b="1" dirty="0" err="1"/>
              <a:t>deutlich</a:t>
            </a:r>
            <a:r>
              <a:rPr lang="en-US" sz="800" b="1" dirty="0"/>
              <a:t> </a:t>
            </a:r>
            <a:r>
              <a:rPr lang="en-US" sz="800" b="1" dirty="0" err="1"/>
              <a:t>stärker</a:t>
            </a:r>
            <a:r>
              <a:rPr lang="en-US" sz="800" b="1" dirty="0"/>
              <a:t> </a:t>
            </a:r>
            <a:r>
              <a:rPr lang="en-US" sz="800" b="1" dirty="0" err="1"/>
              <a:t>als</a:t>
            </a:r>
            <a:r>
              <a:rPr lang="en-US" sz="800" b="1" dirty="0"/>
              <a:t> </a:t>
            </a:r>
            <a:r>
              <a:rPr lang="en-US" sz="800" b="1" dirty="0" err="1"/>
              <a:t>nur</a:t>
            </a:r>
            <a:r>
              <a:rPr lang="en-US" sz="800" b="1" dirty="0"/>
              <a:t> </a:t>
            </a:r>
            <a:r>
              <a:rPr lang="en-US" sz="800" b="1" dirty="0" err="1"/>
              <a:t>ein</a:t>
            </a:r>
            <a:r>
              <a:rPr lang="en-US" sz="800" b="1" dirty="0"/>
              <a:t> </a:t>
            </a:r>
            <a:r>
              <a:rPr lang="en-US" sz="800" b="1" dirty="0" err="1"/>
              <a:t>grüner</a:t>
            </a:r>
            <a:r>
              <a:rPr lang="en-US" sz="800" b="1" dirty="0"/>
              <a:t> LKW auf der Folie</a:t>
            </a:r>
            <a:r>
              <a:rPr lang="en-US" sz="8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DE3F59-5071-970A-009F-3BAB4A013928}"/>
              </a:ext>
            </a:extLst>
          </p:cNvPr>
          <p:cNvSpPr txBox="1"/>
          <p:nvPr/>
        </p:nvSpPr>
        <p:spPr>
          <a:xfrm>
            <a:off x="7400259" y="830143"/>
            <a:ext cx="2791933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Ja — </a:t>
            </a:r>
            <a:r>
              <a:rPr lang="en-US" sz="800" b="1" dirty="0"/>
              <a:t>das </a:t>
            </a:r>
            <a:r>
              <a:rPr lang="en-US" sz="800" b="1" dirty="0" err="1"/>
              <a:t>ist</a:t>
            </a:r>
            <a:r>
              <a:rPr lang="en-US" sz="800" b="1" dirty="0"/>
              <a:t> </a:t>
            </a:r>
            <a:r>
              <a:rPr lang="en-US" sz="800" b="1" dirty="0" err="1"/>
              <a:t>tatsächlich</a:t>
            </a:r>
            <a:r>
              <a:rPr lang="en-US" sz="800" b="1" dirty="0"/>
              <a:t> </a:t>
            </a:r>
            <a:r>
              <a:rPr lang="en-US" sz="800" b="1" dirty="0" err="1"/>
              <a:t>ein</a:t>
            </a:r>
            <a:r>
              <a:rPr lang="en-US" sz="800" b="1" dirty="0"/>
              <a:t> </a:t>
            </a:r>
            <a:r>
              <a:rPr lang="en-US" sz="800" b="1" dirty="0" err="1"/>
              <a:t>deutlich</a:t>
            </a:r>
            <a:r>
              <a:rPr lang="en-US" sz="800" b="1" dirty="0"/>
              <a:t> </a:t>
            </a:r>
            <a:r>
              <a:rPr lang="en-US" sz="800" b="1" dirty="0" err="1"/>
              <a:t>besseres</a:t>
            </a:r>
            <a:r>
              <a:rPr lang="en-US" sz="800" b="1" dirty="0"/>
              <a:t> </a:t>
            </a:r>
            <a:r>
              <a:rPr lang="en-US" sz="800" b="1" dirty="0" err="1"/>
              <a:t>Nachhaltigkeitsargument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dirty="0" err="1"/>
              <a:t>einfach</a:t>
            </a:r>
            <a:r>
              <a:rPr lang="en-US" sz="800" dirty="0"/>
              <a:t> „</a:t>
            </a:r>
            <a:r>
              <a:rPr lang="en-US" sz="800" dirty="0" err="1"/>
              <a:t>wir</a:t>
            </a:r>
            <a:r>
              <a:rPr lang="en-US" sz="800" dirty="0"/>
              <a:t> </a:t>
            </a:r>
            <a:r>
              <a:rPr lang="en-US" sz="800" dirty="0" err="1"/>
              <a:t>kaufen</a:t>
            </a:r>
            <a:r>
              <a:rPr lang="en-US" sz="800" dirty="0"/>
              <a:t> </a:t>
            </a:r>
            <a:r>
              <a:rPr lang="en-US" sz="800" dirty="0" err="1"/>
              <a:t>neue</a:t>
            </a:r>
            <a:r>
              <a:rPr lang="en-US" sz="800" dirty="0"/>
              <a:t> E-</a:t>
            </a:r>
            <a:r>
              <a:rPr lang="en-US" sz="800" dirty="0" err="1"/>
              <a:t>Lieferwagen</a:t>
            </a:r>
            <a:r>
              <a:rPr lang="en-US" sz="800" dirty="0"/>
              <a:t>“.</a:t>
            </a:r>
          </a:p>
          <a:p>
            <a:r>
              <a:rPr lang="en-US" sz="800" dirty="0"/>
              <a:t>Für </a:t>
            </a:r>
            <a:r>
              <a:rPr lang="en-US" sz="800" dirty="0" err="1"/>
              <a:t>LocalBite</a:t>
            </a:r>
            <a:r>
              <a:rPr lang="en-US" sz="800" dirty="0"/>
              <a:t> </a:t>
            </a:r>
            <a:r>
              <a:rPr lang="en-US" sz="800" dirty="0" err="1"/>
              <a:t>könntet</a:t>
            </a:r>
            <a:r>
              <a:rPr lang="en-US" sz="800" dirty="0"/>
              <a:t> </a:t>
            </a:r>
            <a:r>
              <a:rPr lang="en-US" sz="800" dirty="0" err="1"/>
              <a:t>ihr</a:t>
            </a:r>
            <a:r>
              <a:rPr lang="en-US" sz="800" dirty="0"/>
              <a:t> </a:t>
            </a:r>
            <a:r>
              <a:rPr lang="en-US" sz="800" dirty="0" err="1"/>
              <a:t>sagen</a:t>
            </a:r>
            <a:r>
              <a:rPr lang="en-US" sz="800" dirty="0"/>
              <a:t>:</a:t>
            </a:r>
          </a:p>
          <a:p>
            <a:pPr lvl="0"/>
            <a:r>
              <a:rPr lang="en-US" sz="800" dirty="0" err="1"/>
              <a:t>möglichst</a:t>
            </a:r>
            <a:r>
              <a:rPr lang="en-US" sz="800" dirty="0"/>
              <a:t> </a:t>
            </a:r>
            <a:r>
              <a:rPr lang="en-US" sz="800" b="1" dirty="0" err="1"/>
              <a:t>gebrauchte</a:t>
            </a:r>
            <a:r>
              <a:rPr lang="en-US" sz="800" b="1" dirty="0"/>
              <a:t>/refurbished E-</a:t>
            </a:r>
            <a:r>
              <a:rPr lang="en-US" sz="800" b="1" dirty="0" err="1"/>
              <a:t>Fahrzeuge</a:t>
            </a:r>
            <a:r>
              <a:rPr lang="en-US" sz="800" dirty="0"/>
              <a:t> </a:t>
            </a:r>
            <a:r>
              <a:rPr lang="en-US" sz="800" dirty="0" err="1"/>
              <a:t>einsetzen</a:t>
            </a:r>
            <a:endParaRPr lang="en-US" sz="800" dirty="0"/>
          </a:p>
          <a:p>
            <a:pPr lvl="0"/>
            <a:r>
              <a:rPr lang="en-US" sz="800" dirty="0" err="1"/>
              <a:t>vorhandene</a:t>
            </a:r>
            <a:r>
              <a:rPr lang="en-US" sz="800" dirty="0"/>
              <a:t> Fahrzeuge </a:t>
            </a:r>
            <a:r>
              <a:rPr lang="en-US" sz="800" dirty="0" err="1"/>
              <a:t>länger</a:t>
            </a:r>
            <a:r>
              <a:rPr lang="en-US" sz="800" dirty="0"/>
              <a:t> </a:t>
            </a:r>
            <a:r>
              <a:rPr lang="en-US" sz="800" dirty="0" err="1"/>
              <a:t>nutzen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ständig</a:t>
            </a:r>
            <a:r>
              <a:rPr lang="en-US" sz="800" dirty="0"/>
              <a:t> neu </a:t>
            </a:r>
            <a:r>
              <a:rPr lang="en-US" sz="800" dirty="0" err="1"/>
              <a:t>produzieren</a:t>
            </a:r>
            <a:endParaRPr lang="en-US" sz="800" dirty="0"/>
          </a:p>
          <a:p>
            <a:pPr lvl="0"/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nach</a:t>
            </a:r>
            <a:r>
              <a:rPr lang="en-US" sz="800" dirty="0"/>
              <a:t> </a:t>
            </a:r>
            <a:r>
              <a:rPr lang="en-US" sz="800" dirty="0" err="1"/>
              <a:t>Möglichkeit</a:t>
            </a:r>
            <a:r>
              <a:rPr lang="en-US" sz="800" dirty="0"/>
              <a:t> </a:t>
            </a:r>
            <a:r>
              <a:rPr lang="en-US" sz="800" b="1" dirty="0" err="1"/>
              <a:t>weiterverwenden</a:t>
            </a:r>
            <a:r>
              <a:rPr lang="en-US" sz="800" b="1" dirty="0"/>
              <a:t> / </a:t>
            </a:r>
            <a:r>
              <a:rPr lang="en-US" sz="800" b="1" dirty="0" err="1"/>
              <a:t>aufbereiten</a:t>
            </a:r>
            <a:endParaRPr lang="en-US" sz="800" dirty="0"/>
          </a:p>
          <a:p>
            <a:pPr lvl="0"/>
            <a:r>
              <a:rPr lang="en-US" sz="800" dirty="0" err="1"/>
              <a:t>ausgediente</a:t>
            </a:r>
            <a:r>
              <a:rPr lang="en-US" sz="800" dirty="0"/>
              <a:t> </a:t>
            </a:r>
            <a:r>
              <a:rPr lang="en-US" sz="800" dirty="0" err="1"/>
              <a:t>Fahrzeugbatterien</a:t>
            </a:r>
            <a:r>
              <a:rPr lang="en-US" sz="800" dirty="0"/>
              <a:t> </a:t>
            </a:r>
            <a:r>
              <a:rPr lang="en-US" sz="800" dirty="0" err="1"/>
              <a:t>später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b="1" dirty="0" err="1"/>
              <a:t>stationäre</a:t>
            </a:r>
            <a:r>
              <a:rPr lang="en-US" sz="800" b="1" dirty="0"/>
              <a:t> Speicher</a:t>
            </a:r>
            <a:r>
              <a:rPr lang="en-US" sz="800" dirty="0"/>
              <a:t> </a:t>
            </a:r>
            <a:r>
              <a:rPr lang="en-US" sz="800" dirty="0" err="1"/>
              <a:t>nutzen</a:t>
            </a:r>
            <a:r>
              <a:rPr lang="en-US" sz="800" dirty="0"/>
              <a:t>, z. B. am Hub für </a:t>
            </a:r>
            <a:r>
              <a:rPr lang="en-US" sz="800" dirty="0" err="1"/>
              <a:t>Solarstrom</a:t>
            </a:r>
            <a:endParaRPr lang="en-US" sz="800" dirty="0"/>
          </a:p>
          <a:p>
            <a:pPr lvl="0"/>
            <a:r>
              <a:rPr lang="en-US" sz="800" dirty="0"/>
              <a:t>erst </a:t>
            </a:r>
            <a:r>
              <a:rPr lang="en-US" sz="800" dirty="0" err="1"/>
              <a:t>wenn</a:t>
            </a:r>
            <a:r>
              <a:rPr lang="en-US" sz="800" dirty="0"/>
              <a:t> </a:t>
            </a:r>
            <a:r>
              <a:rPr lang="en-US" sz="800" dirty="0" err="1"/>
              <a:t>Wiederverwendung</a:t>
            </a:r>
            <a:r>
              <a:rPr lang="en-US" sz="800" dirty="0"/>
              <a:t> nicht </a:t>
            </a:r>
            <a:r>
              <a:rPr lang="en-US" sz="800" dirty="0" err="1"/>
              <a:t>mehr</a:t>
            </a:r>
            <a:r>
              <a:rPr lang="en-US" sz="800" dirty="0"/>
              <a:t> </a:t>
            </a:r>
            <a:r>
              <a:rPr lang="en-US" sz="800" dirty="0" err="1"/>
              <a:t>sinnvoll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→ Recycling</a:t>
            </a:r>
          </a:p>
          <a:p>
            <a:r>
              <a:rPr lang="en-US" sz="800" dirty="0"/>
              <a:t>Das </a:t>
            </a:r>
            <a:r>
              <a:rPr lang="en-US" sz="800" dirty="0" err="1"/>
              <a:t>passt</a:t>
            </a:r>
            <a:r>
              <a:rPr lang="en-US" sz="800" dirty="0"/>
              <a:t> </a:t>
            </a:r>
            <a:r>
              <a:rPr lang="en-US" sz="800" dirty="0" err="1"/>
              <a:t>sehr</a:t>
            </a:r>
            <a:r>
              <a:rPr lang="en-US" sz="800" dirty="0"/>
              <a:t> gut </a:t>
            </a:r>
            <a:r>
              <a:rPr lang="en-US" sz="800" dirty="0" err="1"/>
              <a:t>zur</a:t>
            </a:r>
            <a:r>
              <a:rPr lang="en-US" sz="800" dirty="0"/>
              <a:t> </a:t>
            </a:r>
            <a:r>
              <a:rPr lang="en-US" sz="800" b="1" dirty="0" err="1"/>
              <a:t>Kreislaufwirtschaft</a:t>
            </a:r>
            <a:r>
              <a:rPr lang="en-US" sz="800" dirty="0"/>
              <a:t>. Second-Life-</a:t>
            </a:r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werden</a:t>
            </a:r>
            <a:r>
              <a:rPr lang="en-US" sz="800" dirty="0"/>
              <a:t> </a:t>
            </a:r>
            <a:r>
              <a:rPr lang="en-US" sz="800" dirty="0" err="1"/>
              <a:t>tatsächlich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Speicher </a:t>
            </a:r>
            <a:r>
              <a:rPr lang="en-US" sz="800" dirty="0" err="1"/>
              <a:t>weiterverwendet</a:t>
            </a:r>
            <a:r>
              <a:rPr lang="en-US" sz="800" dirty="0"/>
              <a:t>; </a:t>
            </a:r>
            <a:r>
              <a:rPr lang="en-US" sz="800" dirty="0" err="1"/>
              <a:t>gebrauchte</a:t>
            </a:r>
            <a:r>
              <a:rPr lang="en-US" sz="800" dirty="0"/>
              <a:t> EV-</a:t>
            </a:r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haben</a:t>
            </a:r>
            <a:r>
              <a:rPr lang="en-US" sz="800" dirty="0"/>
              <a:t> oft </a:t>
            </a:r>
            <a:r>
              <a:rPr lang="en-US" sz="800" dirty="0" err="1"/>
              <a:t>noch</a:t>
            </a:r>
            <a:r>
              <a:rPr lang="en-US" sz="800" dirty="0"/>
              <a:t> </a:t>
            </a:r>
            <a:r>
              <a:rPr lang="en-US" sz="800" dirty="0" err="1"/>
              <a:t>relevante</a:t>
            </a:r>
            <a:r>
              <a:rPr lang="en-US" sz="800" dirty="0"/>
              <a:t> </a:t>
            </a:r>
            <a:r>
              <a:rPr lang="en-US" sz="800" dirty="0" err="1"/>
              <a:t>Restkapazität</a:t>
            </a:r>
            <a:r>
              <a:rPr lang="en-US" sz="800" dirty="0"/>
              <a:t>. </a:t>
            </a:r>
            <a:r>
              <a:rPr lang="en-US" sz="800" dirty="0" err="1"/>
              <a:t>Gleichzeitig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das </a:t>
            </a:r>
            <a:r>
              <a:rPr lang="en-US" sz="800" dirty="0" err="1"/>
              <a:t>technisch</a:t>
            </a:r>
            <a:r>
              <a:rPr lang="en-US" sz="800" dirty="0"/>
              <a:t> nicht trivial und </a:t>
            </a:r>
            <a:r>
              <a:rPr lang="en-US" sz="800" dirty="0" err="1"/>
              <a:t>braucht</a:t>
            </a:r>
            <a:r>
              <a:rPr lang="en-US" sz="800" dirty="0"/>
              <a:t> </a:t>
            </a:r>
            <a:r>
              <a:rPr lang="en-US" sz="800" dirty="0" err="1"/>
              <a:t>Prüfung</a:t>
            </a:r>
            <a:r>
              <a:rPr lang="en-US" sz="800" dirty="0"/>
              <a:t>, Sicherheit und </a:t>
            </a:r>
            <a:r>
              <a:rPr lang="en-US" sz="800" dirty="0" err="1"/>
              <a:t>passende</a:t>
            </a:r>
            <a:r>
              <a:rPr lang="en-US" sz="800" dirty="0"/>
              <a:t> </a:t>
            </a:r>
            <a:r>
              <a:rPr lang="en-US" sz="800" dirty="0" err="1"/>
              <a:t>Aufbereitung</a:t>
            </a:r>
            <a:r>
              <a:rPr lang="en-US" sz="800" dirty="0"/>
              <a:t>. </a:t>
            </a:r>
            <a:r>
              <a:rPr lang="en-US" sz="800" dirty="0">
                <a:hlinkClick r:id="rId4"/>
              </a:rPr>
              <a:t>IEA</a:t>
            </a:r>
            <a:endParaRPr lang="en-US" sz="800" dirty="0"/>
          </a:p>
          <a:p>
            <a:r>
              <a:rPr lang="en-US" sz="800" dirty="0"/>
              <a:t>Für </a:t>
            </a:r>
            <a:r>
              <a:rPr lang="en-US" sz="800" dirty="0" err="1"/>
              <a:t>eure</a:t>
            </a:r>
            <a:r>
              <a:rPr lang="en-US" sz="800" dirty="0"/>
              <a:t> </a:t>
            </a:r>
            <a:r>
              <a:rPr lang="en-US" sz="800" dirty="0" err="1"/>
              <a:t>Präsentation</a:t>
            </a:r>
            <a:r>
              <a:rPr lang="en-US" sz="800" dirty="0"/>
              <a:t> </a:t>
            </a:r>
            <a:r>
              <a:rPr lang="en-US" sz="800" dirty="0" err="1"/>
              <a:t>würde</a:t>
            </a:r>
            <a:r>
              <a:rPr lang="en-US" sz="800" dirty="0"/>
              <a:t> ich es </a:t>
            </a:r>
            <a:r>
              <a:rPr lang="en-US" sz="800" dirty="0" err="1"/>
              <a:t>simpel</a:t>
            </a:r>
            <a:r>
              <a:rPr lang="en-US" sz="800" dirty="0"/>
              <a:t> </a:t>
            </a:r>
            <a:r>
              <a:rPr lang="en-US" sz="800" dirty="0" err="1"/>
              <a:t>formulieren</a:t>
            </a:r>
            <a:r>
              <a:rPr lang="en-US" sz="800" dirty="0"/>
              <a:t>:</a:t>
            </a:r>
          </a:p>
          <a:p>
            <a:r>
              <a:rPr lang="en-US" sz="800" b="1" dirty="0"/>
              <a:t>„Auch </a:t>
            </a:r>
            <a:r>
              <a:rPr lang="en-US" sz="800" b="1" dirty="0" err="1"/>
              <a:t>bei</a:t>
            </a:r>
            <a:r>
              <a:rPr lang="en-US" sz="800" b="1" dirty="0"/>
              <a:t> </a:t>
            </a:r>
            <a:r>
              <a:rPr lang="en-US" sz="800" b="1" dirty="0" err="1"/>
              <a:t>unserer</a:t>
            </a:r>
            <a:r>
              <a:rPr lang="en-US" sz="800" b="1" dirty="0"/>
              <a:t> </a:t>
            </a:r>
            <a:r>
              <a:rPr lang="en-US" sz="800" b="1" dirty="0" err="1"/>
              <a:t>Fahrzeugflotte</a:t>
            </a:r>
            <a:r>
              <a:rPr lang="en-US" sz="800" b="1" dirty="0"/>
              <a:t> </a:t>
            </a:r>
            <a:r>
              <a:rPr lang="en-US" sz="800" b="1" dirty="0" err="1"/>
              <a:t>denken</a:t>
            </a:r>
            <a:r>
              <a:rPr lang="en-US" sz="800" b="1" dirty="0"/>
              <a:t> 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Kreislaufwirtschaft</a:t>
            </a:r>
            <a:r>
              <a:rPr lang="en-US" sz="800" b="1" dirty="0"/>
              <a:t> </a:t>
            </a:r>
            <a:r>
              <a:rPr lang="en-US" sz="800" b="1" dirty="0" err="1"/>
              <a:t>mit</a:t>
            </a:r>
            <a:r>
              <a:rPr lang="en-US" sz="800" b="1" dirty="0"/>
              <a:t>: Statt </a:t>
            </a:r>
            <a:r>
              <a:rPr lang="en-US" sz="800" b="1" dirty="0" err="1"/>
              <a:t>ausschließlich</a:t>
            </a:r>
            <a:r>
              <a:rPr lang="en-US" sz="800" b="1" dirty="0"/>
              <a:t> </a:t>
            </a:r>
            <a:r>
              <a:rPr lang="en-US" sz="800" b="1" dirty="0" err="1"/>
              <a:t>neue</a:t>
            </a:r>
            <a:r>
              <a:rPr lang="en-US" sz="800" b="1" dirty="0"/>
              <a:t> </a:t>
            </a:r>
            <a:r>
              <a:rPr lang="en-US" sz="800" b="1" dirty="0" err="1"/>
              <a:t>Fahrzeuge</a:t>
            </a:r>
            <a:r>
              <a:rPr lang="en-US" sz="800" b="1" dirty="0"/>
              <a:t> und </a:t>
            </a:r>
            <a:r>
              <a:rPr lang="en-US" sz="800" b="1" dirty="0" err="1"/>
              <a:t>Batterien</a:t>
            </a:r>
            <a:r>
              <a:rPr lang="en-US" sz="800" b="1" dirty="0"/>
              <a:t> </a:t>
            </a:r>
            <a:r>
              <a:rPr lang="en-US" sz="800" b="1" dirty="0" err="1"/>
              <a:t>zu</a:t>
            </a:r>
            <a:r>
              <a:rPr lang="en-US" sz="800" b="1" dirty="0"/>
              <a:t> </a:t>
            </a:r>
            <a:r>
              <a:rPr lang="en-US" sz="800" b="1" dirty="0" err="1"/>
              <a:t>beschaffen</a:t>
            </a:r>
            <a:r>
              <a:rPr lang="en-US" sz="800" b="1" dirty="0"/>
              <a:t>, </a:t>
            </a:r>
            <a:r>
              <a:rPr lang="en-US" sz="800" b="1" dirty="0" err="1"/>
              <a:t>könnten</a:t>
            </a:r>
            <a:r>
              <a:rPr lang="en-US" sz="800" b="1" dirty="0"/>
              <a:t> 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gebrauchte</a:t>
            </a:r>
            <a:r>
              <a:rPr lang="en-US" sz="800" b="1" dirty="0"/>
              <a:t> E-</a:t>
            </a:r>
            <a:r>
              <a:rPr lang="en-US" sz="800" b="1" dirty="0" err="1"/>
              <a:t>Fahrzeuge</a:t>
            </a:r>
            <a:r>
              <a:rPr lang="en-US" sz="800" b="1" dirty="0"/>
              <a:t> </a:t>
            </a:r>
            <a:r>
              <a:rPr lang="en-US" sz="800" b="1" dirty="0" err="1"/>
              <a:t>weiterverwenden</a:t>
            </a:r>
            <a:r>
              <a:rPr lang="en-US" sz="800" b="1" dirty="0"/>
              <a:t> und </a:t>
            </a:r>
            <a:r>
              <a:rPr lang="en-US" sz="800" b="1" dirty="0" err="1"/>
              <a:t>geeignete</a:t>
            </a:r>
            <a:r>
              <a:rPr lang="en-US" sz="800" b="1" dirty="0"/>
              <a:t> </a:t>
            </a:r>
            <a:r>
              <a:rPr lang="en-US" sz="800" b="1" dirty="0" err="1"/>
              <a:t>Fahrzeugbatterien</a:t>
            </a:r>
            <a:r>
              <a:rPr lang="en-US" sz="800" b="1" dirty="0"/>
              <a:t> </a:t>
            </a:r>
            <a:r>
              <a:rPr lang="en-US" sz="800" b="1" dirty="0" err="1"/>
              <a:t>später</a:t>
            </a:r>
            <a:r>
              <a:rPr lang="en-US" sz="800" b="1" dirty="0"/>
              <a:t> </a:t>
            </a:r>
            <a:r>
              <a:rPr lang="en-US" sz="800" b="1" dirty="0" err="1"/>
              <a:t>als</a:t>
            </a:r>
            <a:r>
              <a:rPr lang="en-US" sz="800" b="1" dirty="0"/>
              <a:t> </a:t>
            </a:r>
            <a:r>
              <a:rPr lang="en-US" sz="800" b="1" dirty="0" err="1"/>
              <a:t>stationäre</a:t>
            </a:r>
            <a:r>
              <a:rPr lang="en-US" sz="800" b="1" dirty="0"/>
              <a:t> </a:t>
            </a:r>
            <a:r>
              <a:rPr lang="en-US" sz="800" b="1" dirty="0" err="1"/>
              <a:t>Energiespeicher</a:t>
            </a:r>
            <a:r>
              <a:rPr lang="en-US" sz="800" b="1" dirty="0"/>
              <a:t> an </a:t>
            </a:r>
            <a:r>
              <a:rPr lang="en-US" sz="800" b="1" dirty="0" err="1"/>
              <a:t>unseren</a:t>
            </a:r>
            <a:r>
              <a:rPr lang="en-US" sz="800" b="1" dirty="0"/>
              <a:t> Hubs </a:t>
            </a:r>
            <a:r>
              <a:rPr lang="en-US" sz="800" b="1" dirty="0" err="1"/>
              <a:t>einsetzen</a:t>
            </a:r>
            <a:r>
              <a:rPr lang="en-US" sz="800" b="1" dirty="0"/>
              <a:t>.“</a:t>
            </a:r>
            <a:endParaRPr lang="en-US" sz="800" dirty="0"/>
          </a:p>
          <a:p>
            <a:r>
              <a:rPr lang="en-US" sz="800" dirty="0"/>
              <a:t>Das </a:t>
            </a:r>
            <a:r>
              <a:rPr lang="en-US" sz="800" dirty="0" err="1"/>
              <a:t>ist</a:t>
            </a:r>
            <a:r>
              <a:rPr lang="en-US" sz="800" dirty="0"/>
              <a:t> </a:t>
            </a:r>
            <a:r>
              <a:rPr lang="en-US" sz="800" dirty="0" err="1"/>
              <a:t>sogar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ziemlich</a:t>
            </a:r>
            <a:r>
              <a:rPr lang="en-US" sz="800" dirty="0"/>
              <a:t> cooler </a:t>
            </a:r>
            <a:r>
              <a:rPr lang="en-US" sz="800" b="1" dirty="0" err="1"/>
              <a:t>Innovationspunkt</a:t>
            </a:r>
            <a:r>
              <a:rPr lang="en-US" sz="800" dirty="0"/>
              <a:t>:</a:t>
            </a:r>
            <a:br>
              <a:rPr lang="en-US" sz="800" dirty="0"/>
            </a:br>
            <a:r>
              <a:rPr lang="en-US" sz="800" b="1" dirty="0" err="1"/>
              <a:t>gebrauchter</a:t>
            </a:r>
            <a:r>
              <a:rPr lang="en-US" sz="800" b="1" dirty="0"/>
              <a:t> E-</a:t>
            </a:r>
            <a:r>
              <a:rPr lang="en-US" sz="800" b="1" dirty="0" err="1"/>
              <a:t>Lieferwagen</a:t>
            </a:r>
            <a:r>
              <a:rPr lang="en-US" sz="800" b="1" dirty="0"/>
              <a:t> → Batterie </a:t>
            </a:r>
            <a:r>
              <a:rPr lang="en-US" sz="800" b="1" dirty="0" err="1"/>
              <a:t>irgendwann</a:t>
            </a:r>
            <a:r>
              <a:rPr lang="en-US" sz="800" b="1" dirty="0"/>
              <a:t> nicht </a:t>
            </a:r>
            <a:r>
              <a:rPr lang="en-US" sz="800" b="1" dirty="0" err="1"/>
              <a:t>mehr</a:t>
            </a:r>
            <a:r>
              <a:rPr lang="en-US" sz="800" b="1" dirty="0"/>
              <a:t> gut </a:t>
            </a:r>
            <a:r>
              <a:rPr lang="en-US" sz="800" b="1" dirty="0" err="1"/>
              <a:t>genug</a:t>
            </a:r>
            <a:r>
              <a:rPr lang="en-US" sz="800" b="1" dirty="0"/>
              <a:t> </a:t>
            </a:r>
            <a:r>
              <a:rPr lang="en-US" sz="800" b="1" dirty="0" err="1"/>
              <a:t>fürs</a:t>
            </a:r>
            <a:r>
              <a:rPr lang="en-US" sz="800" b="1" dirty="0"/>
              <a:t> </a:t>
            </a:r>
            <a:r>
              <a:rPr lang="en-US" sz="800" b="1" dirty="0" err="1"/>
              <a:t>Fahrzeug</a:t>
            </a:r>
            <a:r>
              <a:rPr lang="en-US" sz="800" b="1" dirty="0"/>
              <a:t> → Second-Life-Speicher </a:t>
            </a:r>
            <a:r>
              <a:rPr lang="en-US" sz="800" b="1" dirty="0" err="1"/>
              <a:t>im</a:t>
            </a:r>
            <a:r>
              <a:rPr lang="en-US" sz="800" b="1" dirty="0"/>
              <a:t> </a:t>
            </a:r>
            <a:r>
              <a:rPr lang="en-US" sz="800" b="1" dirty="0" err="1"/>
              <a:t>LocalBite</a:t>
            </a:r>
            <a:r>
              <a:rPr lang="en-US" sz="800" b="1" dirty="0"/>
              <a:t>-Hub → </a:t>
            </a:r>
            <a:r>
              <a:rPr lang="en-US" sz="800" b="1" dirty="0" err="1"/>
              <a:t>Solarstrom</a:t>
            </a:r>
            <a:r>
              <a:rPr lang="en-US" sz="800" b="1" dirty="0"/>
              <a:t> </a:t>
            </a:r>
            <a:r>
              <a:rPr lang="en-US" sz="800" b="1" dirty="0" err="1"/>
              <a:t>speichern</a:t>
            </a:r>
            <a:r>
              <a:rPr lang="en-US" sz="800" b="1" dirty="0"/>
              <a:t>.</a:t>
            </a:r>
            <a:r>
              <a:rPr lang="en-US" sz="800" dirty="0"/>
              <a:t> </a:t>
            </a:r>
            <a:r>
              <a:rPr lang="en-US" sz="800" dirty="0">
                <a:hlinkClick r:id="rId5"/>
              </a:rPr>
              <a:t>Circular Economy Platform</a:t>
            </a:r>
            <a:endParaRPr lang="en-US" sz="800" dirty="0"/>
          </a:p>
          <a:p>
            <a:r>
              <a:rPr lang="en-US" sz="800" dirty="0"/>
              <a:t>Nur nicht </a:t>
            </a:r>
            <a:r>
              <a:rPr lang="en-US" sz="800" dirty="0" err="1"/>
              <a:t>behaupten</a:t>
            </a:r>
            <a:r>
              <a:rPr lang="en-US" sz="800" dirty="0"/>
              <a:t>, </a:t>
            </a:r>
            <a:r>
              <a:rPr lang="en-US" sz="800" dirty="0" err="1"/>
              <a:t>dass</a:t>
            </a:r>
            <a:r>
              <a:rPr lang="en-US" sz="800" dirty="0"/>
              <a:t> </a:t>
            </a:r>
            <a:r>
              <a:rPr lang="en-US" sz="800" dirty="0" err="1"/>
              <a:t>ihr</a:t>
            </a:r>
            <a:r>
              <a:rPr lang="en-US" sz="800" dirty="0"/>
              <a:t> das </a:t>
            </a:r>
            <a:r>
              <a:rPr lang="en-US" sz="800" dirty="0" err="1"/>
              <a:t>schon</a:t>
            </a:r>
            <a:r>
              <a:rPr lang="en-US" sz="800" dirty="0"/>
              <a:t> </a:t>
            </a:r>
            <a:r>
              <a:rPr lang="en-US" sz="800" dirty="0" err="1"/>
              <a:t>konkret</a:t>
            </a:r>
            <a:r>
              <a:rPr lang="en-US" sz="800" dirty="0"/>
              <a:t> </a:t>
            </a:r>
            <a:r>
              <a:rPr lang="en-US" sz="800" dirty="0" err="1"/>
              <a:t>technisch</a:t>
            </a:r>
            <a:r>
              <a:rPr lang="en-US" sz="800" dirty="0"/>
              <a:t> </a:t>
            </a:r>
            <a:r>
              <a:rPr lang="en-US" sz="800" dirty="0" err="1"/>
              <a:t>umgesetzt</a:t>
            </a:r>
            <a:r>
              <a:rPr lang="en-US" sz="800" dirty="0"/>
              <a:t> </a:t>
            </a:r>
            <a:r>
              <a:rPr lang="en-US" sz="800" dirty="0" err="1"/>
              <a:t>habt</a:t>
            </a:r>
            <a:r>
              <a:rPr lang="en-US" sz="800" dirty="0"/>
              <a:t> — </a:t>
            </a:r>
            <a:r>
              <a:rPr lang="en-US" sz="800" dirty="0" err="1"/>
              <a:t>eher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b="1" dirty="0" err="1"/>
              <a:t>Konzept</a:t>
            </a:r>
            <a:r>
              <a:rPr lang="en-US" sz="800" b="1" dirty="0"/>
              <a:t>/</a:t>
            </a:r>
            <a:r>
              <a:rPr lang="en-US" sz="800" b="1" dirty="0" err="1"/>
              <a:t>Weiterentwicklung</a:t>
            </a:r>
            <a:r>
              <a:rPr lang="en-US" sz="800" b="1" dirty="0"/>
              <a:t> von </a:t>
            </a:r>
            <a:r>
              <a:rPr lang="en-US" sz="800" b="1" dirty="0" err="1"/>
              <a:t>LocalBite</a:t>
            </a:r>
            <a:r>
              <a:rPr lang="en-US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6884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1842</Words>
  <Application>Microsoft Macintosh PowerPoint</Application>
  <PresentationFormat>Widescreen</PresentationFormat>
  <Paragraphs>201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9000</dc:creator>
  <cp:lastModifiedBy>LEON 9000</cp:lastModifiedBy>
  <cp:revision>15</cp:revision>
  <dcterms:created xsi:type="dcterms:W3CDTF">2026-10-22T08:02:03Z</dcterms:created>
  <dcterms:modified xsi:type="dcterms:W3CDTF">2026-10-23T23:29:06Z</dcterms:modified>
</cp:coreProperties>
</file>